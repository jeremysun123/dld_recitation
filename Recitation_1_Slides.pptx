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66340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2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17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Recitation 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103119"/>
            <a:ext cx="5391962" cy="8124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>
                <a:solidFill>
                  <a:srgbClr val="CC0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 </a:t>
            </a:r>
            <a:r>
              <a:rPr lang="en-US" altLang="zh-CN" sz="3000">
                <a:solidFill>
                  <a:srgbClr val="CC0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r>
              <a:rPr lang="en-US" sz="3000">
                <a:solidFill>
                  <a:srgbClr val="CC0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ircuits</a:t>
            </a:r>
            <a:endParaRPr lang="en-US" sz="3000" dirty="0">
              <a:solidFill>
                <a:srgbClr val="CC0033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731520" y="3012087"/>
            <a:ext cx="403040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A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</a:t>
            </a:r>
            <a:r>
              <a:rPr lang="en-US" altLang="zh-CN" sz="1400" dirty="0">
                <a:solidFill>
                  <a:srgbClr val="9AA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r>
              <a:rPr lang="zh-CN" altLang="en-US" sz="1400" dirty="0">
                <a:solidFill>
                  <a:srgbClr val="9AA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1400" dirty="0">
                <a:solidFill>
                  <a:srgbClr val="9AA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Yuchen</a:t>
            </a:r>
            <a:r>
              <a:rPr lang="zh-CN" altLang="en-US" sz="1400" dirty="0">
                <a:solidFill>
                  <a:srgbClr val="9AA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1400" dirty="0">
                <a:solidFill>
                  <a:srgbClr val="9AA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</a:t>
            </a:r>
            <a:r>
              <a:rPr lang="zh-CN" altLang="en-US" sz="1400" dirty="0">
                <a:solidFill>
                  <a:srgbClr val="9AA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altLang="zh-CN" sz="1400" dirty="0">
                <a:solidFill>
                  <a:srgbClr val="9AA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ys1338@scarletmail.rutgers.edu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977640"/>
            <a:ext cx="1051560" cy="35052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9968" y="3977640"/>
            <a:ext cx="1051560" cy="350520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28416" y="3977640"/>
            <a:ext cx="1051560" cy="525780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26864" y="3977640"/>
            <a:ext cx="1051560" cy="350520"/>
          </a:xfrm>
          <a:prstGeom prst="rect">
            <a:avLst/>
          </a:prstGeom>
        </p:spPr>
      </p:pic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25312" y="3977640"/>
            <a:ext cx="1051560" cy="350520"/>
          </a:xfrm>
          <a:prstGeom prst="rect">
            <a:avLst/>
          </a:prstGeom>
        </p:spPr>
      </p:pic>
      <p:pic>
        <p:nvPicPr>
          <p:cNvPr id="1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23760" y="3977640"/>
            <a:ext cx="1051560" cy="40309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Across, through</a:t>
            </a:r>
            <a:r>
              <a:rPr lang="zh-CN" altLang="en-US" sz="3000" b="1" dirty="0">
                <a:solidFill>
                  <a:srgbClr val="1F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altLang="zh-CN" sz="3000" b="1" dirty="0">
                <a:solidFill>
                  <a:srgbClr val="1F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</a:t>
            </a:r>
            <a:r>
              <a:rPr lang="zh-CN" altLang="en-US" sz="3000" b="1" dirty="0">
                <a:solidFill>
                  <a:srgbClr val="1F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altLang="zh-CN" sz="3000" b="1" dirty="0">
                <a:solidFill>
                  <a:srgbClr val="1F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</a:t>
            </a:r>
            <a:r>
              <a:rPr lang="en-US" sz="3000" b="1" dirty="0">
                <a:solidFill>
                  <a:srgbClr val="1F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5953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E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this straight and half the confusion disappears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514600" cy="2514600"/>
          </a:xfrm>
          <a:prstGeom prst="roundRect">
            <a:avLst>
              <a:gd name="adj" fmla="val 2909"/>
            </a:avLst>
          </a:prstGeom>
          <a:solidFill>
            <a:srgbClr val="F1F3F4"/>
          </a:solidFill>
          <a:ln w="12700">
            <a:solidFill>
              <a:srgbClr val="F1F3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749808" y="16002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CC0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Voltage  V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01168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F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difference across two points.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74320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E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Meter in parallel.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6E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 internal resistance.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291840" y="1417320"/>
            <a:ext cx="2514600" cy="2514600"/>
          </a:xfrm>
          <a:prstGeom prst="roundRect">
            <a:avLst>
              <a:gd name="adj" fmla="val 2909"/>
            </a:avLst>
          </a:prstGeom>
          <a:solidFill>
            <a:srgbClr val="F1F3F4"/>
          </a:solidFill>
          <a:ln w="12700">
            <a:solidFill>
              <a:srgbClr val="F1F3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3493008" y="16002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CC0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 I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3493008" y="201168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F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through one path.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3493008" y="274320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E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Meter in series.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6E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low internal resistance.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035040" y="1417320"/>
            <a:ext cx="2514600" cy="2514600"/>
          </a:xfrm>
          <a:prstGeom prst="roundRect">
            <a:avLst>
              <a:gd name="adj" fmla="val 2909"/>
            </a:avLst>
          </a:prstGeom>
          <a:solidFill>
            <a:srgbClr val="F1F3F4"/>
          </a:solidFill>
          <a:ln w="12700">
            <a:solidFill>
              <a:srgbClr val="F1F3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236208" y="16002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CC0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Resistance  R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6236208" y="201168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F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property of the component.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6236208" y="274320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E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the part on its own,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6E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power off.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160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E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 is always across something. Current is always through something.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Charge, current, voltage</a:t>
            </a:r>
            <a:endParaRPr lang="en-US" sz="3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554480"/>
            <a:ext cx="2011680" cy="6705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85800" y="2240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E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plate = +</a:t>
            </a:r>
            <a:endParaRPr lang="en-US" sz="1250" dirty="0"/>
          </a:p>
        </p:txBody>
      </p:sp>
      <p:sp>
        <p:nvSpPr>
          <p:cNvPr id="5" name="Text 2"/>
          <p:cNvSpPr txBox="1"/>
          <p:nvPr/>
        </p:nvSpPr>
        <p:spPr>
          <a:xfrm>
            <a:off x="3200400" y="141732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Charge  Q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3200400" y="17830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6E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coulombs (C).  1 C ≈ 6.24 × 10¹⁸ electrons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3200400" y="237744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 I = Q / t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3200400" y="27432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6E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 = 1 C/s — charge past a point, per second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3200400" y="333756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Voltage  V = E / Q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3200400" y="37033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6E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V = 1 J/C — energy carried, per coulomb</a:t>
            </a:r>
            <a:endParaRPr lang="en-US" sz="145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42976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C0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9 V battery hands 9 joules to every coulomb that passes through it.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directions, one convention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046720" cy="1143000"/>
          </a:xfrm>
          <a:prstGeom prst="roundRect">
            <a:avLst>
              <a:gd name="adj" fmla="val 6400"/>
            </a:avLst>
          </a:prstGeom>
          <a:solidFill>
            <a:srgbClr val="F1F3F4"/>
          </a:solidFill>
          <a:ln w="12700">
            <a:solidFill>
              <a:srgbClr val="F1F3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868680" y="160020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E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 flow:   − → +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1993392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F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electrons physically do inside the wire.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8046720" cy="1143000"/>
          </a:xfrm>
          <a:prstGeom prst="roundRect">
            <a:avLst>
              <a:gd name="adj" fmla="val 6400"/>
            </a:avLst>
          </a:prstGeom>
          <a:solidFill>
            <a:srgbClr val="F1F3F4"/>
          </a:solidFill>
          <a:ln w="12700">
            <a:solidFill>
              <a:srgbClr val="F1F3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868680" y="292608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C0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current:   + → −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319272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F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every formula, every schematic, and this whole course uses.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E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with conventional current. Electron direction only matters when you explain the physics.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Voltage can exist with no current</a:t>
            </a:r>
            <a:endParaRPr lang="en-US" sz="3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737360"/>
            <a:ext cx="2194560" cy="7315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2514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E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circuit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3657600" y="1600200"/>
            <a:ext cx="4937760" cy="914400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 w="12700">
            <a:solidFill>
              <a:srgbClr val="F1F3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3657600" y="16002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i="1" dirty="0">
                <a:solidFill>
                  <a:srgbClr val="1F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 =  0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3657600" y="274320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550" dirty="0">
                <a:solidFill>
                  <a:srgbClr val="1F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battery on the shelf still has its full voltage across the terminals.</a:t>
            </a:r>
            <a:endParaRPr lang="en-US" sz="155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550" dirty="0">
                <a:solidFill>
                  <a:srgbClr val="1F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needs a complete loop; voltage does not.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2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03504" cy="603504"/>
          </a:xfrm>
          <a:prstGeom prst="ellipse">
            <a:avLst/>
          </a:prstGeom>
          <a:solidFill>
            <a:srgbClr val="CC0033"/>
          </a:solidFill>
          <a:ln w="12700">
            <a:solidFill>
              <a:srgbClr val="CC0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47548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9844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9D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current of 1.5 A flows through a wire for 3.0 seconds.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874520"/>
            <a:ext cx="8046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3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 How much charge passes through?</a:t>
            </a:r>
            <a:endParaRPr lang="en-US" sz="1600" dirty="0"/>
          </a:p>
          <a:p>
            <a:pPr marL="0" indent="0">
              <a:lnSpc>
                <a:spcPts val="23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 How many electrons is that?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1 — answer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8046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spcAft>
                <a:spcPts val="900"/>
              </a:spcAft>
              <a:buNone/>
            </a:pPr>
            <a:r>
              <a:rPr lang="en-US" sz="1600" b="1" dirty="0">
                <a:solidFill>
                  <a:srgbClr val="CC0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  Q = I t = 1.5 × 3.0 = 4.5 C</a:t>
            </a:r>
            <a:endParaRPr lang="en-US" sz="1600" dirty="0"/>
          </a:p>
          <a:p>
            <a:pPr marL="0" indent="0">
              <a:lnSpc>
                <a:spcPts val="2400"/>
              </a:lnSpc>
              <a:spcAft>
                <a:spcPts val="900"/>
              </a:spcAft>
              <a:buNone/>
            </a:pPr>
            <a:r>
              <a:rPr lang="en-US" sz="1600" b="1" dirty="0">
                <a:solidFill>
                  <a:srgbClr val="CC0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  n = Q / qe = 4.5 / 1.602 × 10⁻¹⁹ ≈ 2.8 × 10¹⁹ electrons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E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coulomb is already ~6.24 × 10¹⁸ electrons — that is why we count in amps, not electrons.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Ohm's law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8046720" cy="1051560"/>
          </a:xfrm>
          <a:prstGeom prst="roundRect">
            <a:avLst>
              <a:gd name="adj" fmla="val 5217"/>
            </a:avLst>
          </a:prstGeom>
          <a:solidFill>
            <a:srgbClr val="F1F3F4"/>
          </a:solidFill>
          <a:ln w="12700">
            <a:solidFill>
              <a:srgbClr val="F1F3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8046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i="1" dirty="0">
                <a:solidFill>
                  <a:srgbClr val="1F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  =  I × R          I  =  V / R          R  =  V / I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38862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DD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04672" y="29260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00" b="1" dirty="0">
                <a:solidFill>
                  <a:srgbClr val="CC0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</a:t>
            </a:r>
            <a:r>
              <a:rPr lang="en-US" dirty="0"/>
              <a:t>∝</a:t>
            </a:r>
            <a:r>
              <a:rPr lang="zh-CN" altLang="en-US" dirty="0"/>
              <a:t> </a:t>
            </a:r>
            <a:r>
              <a:rPr lang="en-US" sz="1800" b="1" dirty="0">
                <a:solidFill>
                  <a:srgbClr val="CC0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voltage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33375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V → double I.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709160" y="2743200"/>
            <a:ext cx="38862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DD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4965192" y="29260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00" b="1" dirty="0">
                <a:solidFill>
                  <a:srgbClr val="CC0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</a:t>
            </a:r>
            <a:r>
              <a:rPr lang="en-US" dirty="0"/>
              <a:t>∝</a:t>
            </a:r>
            <a:r>
              <a:rPr lang="en-US" sz="1800" b="1" dirty="0">
                <a:solidFill>
                  <a:srgbClr val="CC0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1 / resistance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965192" y="33375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R → half I.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2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03504" cy="603504"/>
          </a:xfrm>
          <a:prstGeom prst="ellipse">
            <a:avLst/>
          </a:prstGeom>
          <a:solidFill>
            <a:srgbClr val="CC0033"/>
          </a:solidFill>
          <a:ln w="12700">
            <a:solidFill>
              <a:srgbClr val="CC0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47548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9844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9D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220 Ω resistor is connected across a 5.0 V supply.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874520"/>
            <a:ext cx="8046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3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 Find the current, in mA.</a:t>
            </a:r>
            <a:endParaRPr lang="en-US" sz="1600" dirty="0"/>
          </a:p>
          <a:p>
            <a:pPr marL="0" indent="0">
              <a:lnSpc>
                <a:spcPts val="23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 Find the power dissipated, in mW.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2 — answer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8046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spcAft>
                <a:spcPts val="900"/>
              </a:spcAft>
              <a:buNone/>
            </a:pPr>
            <a:r>
              <a:rPr lang="en-US" sz="1600" b="1" dirty="0">
                <a:solidFill>
                  <a:srgbClr val="CC0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  I = V / R = 5.0 / 220 = 0.0227 A = 22.7 mA</a:t>
            </a:r>
            <a:endParaRPr lang="en-US" sz="1600" dirty="0"/>
          </a:p>
          <a:p>
            <a:pPr marL="0" indent="0">
              <a:lnSpc>
                <a:spcPts val="2400"/>
              </a:lnSpc>
              <a:spcAft>
                <a:spcPts val="900"/>
              </a:spcAft>
              <a:buNone/>
            </a:pPr>
            <a:r>
              <a:rPr lang="en-US" sz="1600" b="1" dirty="0">
                <a:solidFill>
                  <a:srgbClr val="CC0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  P = V I = 5.0 × 0.0227 = 0.114 W = 114 mW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E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prefixes before you substitute, and convert back at the end.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2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03504" cy="603504"/>
          </a:xfrm>
          <a:prstGeom prst="ellipse">
            <a:avLst/>
          </a:prstGeom>
          <a:solidFill>
            <a:srgbClr val="CC0033"/>
          </a:solidFill>
          <a:ln w="12700">
            <a:solidFill>
              <a:srgbClr val="CC0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47548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9844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9D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lamp has a resistance of 240 Ω.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874520"/>
            <a:ext cx="8046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3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 Plugged into a US outlet at 120 V — current and power?</a:t>
            </a:r>
            <a:endParaRPr lang="en-US" sz="1600" dirty="0"/>
          </a:p>
          <a:p>
            <a:pPr marL="0" indent="0">
              <a:lnSpc>
                <a:spcPts val="23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 Plugged into a UK outlet at 230 V — current and power?</a:t>
            </a:r>
            <a:endParaRPr lang="en-US" sz="1600" dirty="0"/>
          </a:p>
          <a:p>
            <a:pPr marL="0" indent="0">
              <a:lnSpc>
                <a:spcPts val="23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  The voltage did not quite double. Why did the power nearly quadruple?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3 — answer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8046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spcAft>
                <a:spcPts val="900"/>
              </a:spcAft>
              <a:buNone/>
            </a:pPr>
            <a:r>
              <a:rPr lang="en-US" sz="1600" b="1" dirty="0">
                <a:solidFill>
                  <a:srgbClr val="CC0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  I = 120 / 240 = 0.50 A        P = 60 W</a:t>
            </a:r>
            <a:endParaRPr lang="en-US" sz="1600" dirty="0"/>
          </a:p>
          <a:p>
            <a:pPr marL="0" indent="0">
              <a:lnSpc>
                <a:spcPts val="2400"/>
              </a:lnSpc>
              <a:spcAft>
                <a:spcPts val="900"/>
              </a:spcAft>
              <a:buNone/>
            </a:pPr>
            <a:r>
              <a:rPr lang="en-US" sz="1600" b="1" dirty="0">
                <a:solidFill>
                  <a:srgbClr val="CC0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  I = 230 / 240 = 0.958 A       P ≈ 220 W</a:t>
            </a:r>
            <a:endParaRPr lang="en-US" sz="1600" dirty="0"/>
          </a:p>
          <a:p>
            <a:pPr marL="0" indent="0">
              <a:lnSpc>
                <a:spcPts val="24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rgbClr val="1F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   R is fixed, so P = V² / R — power follows the square of voltage:</a:t>
            </a:r>
            <a:endParaRPr lang="en-US" sz="1600" dirty="0"/>
          </a:p>
          <a:p>
            <a:pPr marL="0" indent="0">
              <a:lnSpc>
                <a:spcPts val="2400"/>
              </a:lnSpc>
              <a:spcAft>
                <a:spcPts val="900"/>
              </a:spcAft>
              <a:buNone/>
            </a:pPr>
            <a:r>
              <a:rPr lang="en-US" sz="1600" b="1" dirty="0">
                <a:solidFill>
                  <a:srgbClr val="CC0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(230 / 120)² ≈ 3.7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E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a 120 V appliance in a 230 V outlet does not run 'a bit hot' — it fails.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Resistance</a:t>
            </a:r>
            <a:endParaRPr lang="en-US" sz="3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63040"/>
            <a:ext cx="2194560" cy="7315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291840" y="1371600"/>
            <a:ext cx="5303520" cy="868680"/>
          </a:xfrm>
          <a:prstGeom prst="roundRect">
            <a:avLst>
              <a:gd name="adj" fmla="val 6316"/>
            </a:avLst>
          </a:prstGeom>
          <a:solidFill>
            <a:srgbClr val="F1F3F4"/>
          </a:solidFill>
          <a:ln w="12700">
            <a:solidFill>
              <a:srgbClr val="F1F3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3291840" y="1371600"/>
            <a:ext cx="530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i="1" dirty="0">
                <a:solidFill>
                  <a:srgbClr val="1F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 =  ρ L / A</a:t>
            </a:r>
          </a:p>
        </p:txBody>
      </p:sp>
      <p:sp>
        <p:nvSpPr>
          <p:cNvPr id="6" name="Text 3"/>
          <p:cNvSpPr txBox="1"/>
          <p:nvPr/>
        </p:nvSpPr>
        <p:spPr>
          <a:xfrm>
            <a:off x="640080" y="2514600"/>
            <a:ext cx="7955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0000"/>
              </a:lnSpc>
              <a:spcAft>
                <a:spcPts val="700"/>
              </a:spcAft>
              <a:buSzPct val="100000"/>
              <a:buFontTx/>
              <a:buChar char="•"/>
            </a:pPr>
            <a:r>
              <a:rPr lang="en-US" sz="1500" dirty="0"/>
              <a:t>where </a:t>
            </a:r>
            <a:r>
              <a:rPr lang="en-US" sz="1500" dirty="0" err="1"/>
              <a:t>ρ</a:t>
            </a:r>
            <a:r>
              <a:rPr lang="en-US" sz="1500" dirty="0"/>
              <a:t> is resistivity (</a:t>
            </a:r>
            <a:r>
              <a:rPr lang="en-US" sz="1500" dirty="0" err="1"/>
              <a:t>Ω·m</a:t>
            </a:r>
            <a:r>
              <a:rPr lang="en-US" sz="1500" dirty="0"/>
              <a:t>), an intrinsic property of the material, L is length (m), and A is cross-sectional area (m²).</a:t>
            </a:r>
            <a:endParaRPr lang="en-US" sz="1500" dirty="0">
              <a:solidFill>
                <a:srgbClr val="1F262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wire</a:t>
            </a:r>
            <a:r>
              <a:rPr lang="zh-CN" altLang="en-US" sz="1500" dirty="0">
                <a:solidFill>
                  <a:srgbClr val="1F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1500" dirty="0">
                <a:solidFill>
                  <a:srgbClr val="1F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(L)</a:t>
            </a:r>
            <a:r>
              <a:rPr lang="en-US" sz="1500" dirty="0">
                <a:solidFill>
                  <a:srgbClr val="1F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more resistance.</a:t>
            </a:r>
            <a:endParaRPr lang="en-US" sz="150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Thicker wire</a:t>
            </a:r>
            <a:r>
              <a:rPr lang="zh-CN" altLang="en-US" sz="1500" dirty="0">
                <a:solidFill>
                  <a:srgbClr val="1F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1500" dirty="0">
                <a:solidFill>
                  <a:srgbClr val="1F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</a:t>
            </a:r>
            <a:r>
              <a:rPr lang="en-US" sz="1500" dirty="0">
                <a:solidFill>
                  <a:srgbClr val="1F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less resistance. Double the diameter and R drops to one quarter, not one half.</a:t>
            </a:r>
            <a:endParaRPr lang="en-US" sz="150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 depends on the material; temperature changes it too.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5953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E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E / t, and E = VQ, and I = Q / 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8046720" cy="1097280"/>
          </a:xfrm>
          <a:prstGeom prst="roundRect">
            <a:avLst>
              <a:gd name="adj" fmla="val 5000"/>
            </a:avLst>
          </a:prstGeom>
          <a:solidFill>
            <a:srgbClr val="F1F3F4"/>
          </a:solidFill>
          <a:ln w="12700">
            <a:solidFill>
              <a:srgbClr val="F1F3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48640" y="146304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i="1" dirty="0">
                <a:solidFill>
                  <a:srgbClr val="1F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 =  V I  =  I² R  =  V² / R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2834640"/>
            <a:ext cx="8046720" cy="1371600"/>
          </a:xfrm>
          <a:prstGeom prst="roundRect">
            <a:avLst>
              <a:gd name="adj" fmla="val 5333"/>
            </a:avLst>
          </a:prstGeom>
          <a:solidFill>
            <a:srgbClr val="F1F3F4"/>
          </a:solidFill>
          <a:ln w="12700">
            <a:solidFill>
              <a:srgbClr val="F1F3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868680" y="301752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CC0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component has rated limits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42900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use a part, check the voltage across it, the current through it, and the power it dissipates against the rating.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2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03504" cy="603504"/>
          </a:xfrm>
          <a:prstGeom prst="ellipse">
            <a:avLst/>
          </a:prstGeom>
          <a:solidFill>
            <a:srgbClr val="CC0033"/>
          </a:solidFill>
          <a:ln w="12700">
            <a:solidFill>
              <a:srgbClr val="CC0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47548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9844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9D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a 100 Ω resistor rated at ¼ W.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874520"/>
            <a:ext cx="8046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3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 What is the maximum voltage you may apply? What current is that?</a:t>
            </a:r>
            <a:endParaRPr lang="en-US" sz="1600" dirty="0"/>
          </a:p>
          <a:p>
            <a:pPr marL="0" indent="0">
              <a:lnSpc>
                <a:spcPts val="23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 A classmate connects it straight across a 9 V battery. What power does it dissipate, and by what factor is the rating exceeded?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4 — answer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8046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spcAft>
                <a:spcPts val="900"/>
              </a:spcAft>
              <a:buNone/>
            </a:pPr>
            <a:r>
              <a:rPr lang="en-US" sz="1600" b="1" dirty="0">
                <a:solidFill>
                  <a:srgbClr val="CC0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  Vmax = √(P R) = √(0.25 × 100) = 5.0 V,   I = 50 mA</a:t>
            </a:r>
            <a:endParaRPr lang="en-US" sz="1600" dirty="0"/>
          </a:p>
          <a:p>
            <a:pPr marL="0" indent="0">
              <a:lnSpc>
                <a:spcPts val="2400"/>
              </a:lnSpc>
              <a:spcAft>
                <a:spcPts val="900"/>
              </a:spcAft>
              <a:buNone/>
            </a:pPr>
            <a:r>
              <a:rPr lang="en-US" sz="1600" b="1" dirty="0">
                <a:solidFill>
                  <a:srgbClr val="CC0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  P = V² / R = 81 / 100 = 0.81 W  →  3.2 × the ¼ W rating</a:t>
            </a:r>
            <a:endParaRPr lang="en-US" sz="1600" dirty="0"/>
          </a:p>
          <a:p>
            <a:pPr marL="0" indent="0">
              <a:lnSpc>
                <a:spcPts val="24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rgbClr val="1F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The resistor overheats, discolours, and fails.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E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in Ohm's law forbids this. Only the power rating does.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Voltmeter and ammeter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886200" cy="2651760"/>
          </a:xfrm>
          <a:prstGeom prst="roundRect">
            <a:avLst>
              <a:gd name="adj" fmla="val 2759"/>
            </a:avLst>
          </a:prstGeom>
          <a:solidFill>
            <a:srgbClr val="F1F3F4"/>
          </a:solidFill>
          <a:ln w="12700">
            <a:solidFill>
              <a:srgbClr val="F1F3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572768"/>
            <a:ext cx="1188720" cy="5943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22860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CC0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Voltmeter</a:t>
            </a:r>
            <a:endParaRPr lang="en-US" sz="19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67919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F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in parallel, across the two points.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2004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E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≈ 10 MΩ, so almost no current is diverted into the meter.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709160" y="1371600"/>
            <a:ext cx="3886200" cy="2651760"/>
          </a:xfrm>
          <a:prstGeom prst="roundRect">
            <a:avLst>
              <a:gd name="adj" fmla="val 2759"/>
            </a:avLst>
          </a:prstGeom>
          <a:solidFill>
            <a:srgbClr val="F1F3F4"/>
          </a:solidFill>
          <a:ln w="12700">
            <a:solidFill>
              <a:srgbClr val="F1F3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1572768"/>
            <a:ext cx="1188720" cy="5943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983480" y="22860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CC0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Ammeter</a:t>
            </a:r>
            <a:endParaRPr lang="en-US" sz="1900" dirty="0"/>
          </a:p>
        </p:txBody>
      </p:sp>
      <p:sp>
        <p:nvSpPr>
          <p:cNvPr id="11" name="Text 7"/>
          <p:cNvSpPr txBox="1"/>
          <p:nvPr/>
        </p:nvSpPr>
        <p:spPr>
          <a:xfrm>
            <a:off x="4983480" y="267919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F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in series, in the path you are measuring.</a:t>
            </a:r>
            <a:endParaRPr lang="en-US" sz="1450" dirty="0"/>
          </a:p>
        </p:txBody>
      </p:sp>
      <p:sp>
        <p:nvSpPr>
          <p:cNvPr id="12" name="Text 8"/>
          <p:cNvSpPr txBox="1"/>
          <p:nvPr/>
        </p:nvSpPr>
        <p:spPr>
          <a:xfrm>
            <a:off x="4983480" y="32004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E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≈ 0, so the meter barely reduces the current it reads.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E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built to be as invisible to the circuit as possible.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22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03504" cy="603504"/>
          </a:xfrm>
          <a:prstGeom prst="ellipse">
            <a:avLst/>
          </a:prstGeom>
          <a:solidFill>
            <a:srgbClr val="CC0033"/>
          </a:solidFill>
          <a:ln w="12700">
            <a:solidFill>
              <a:srgbClr val="CC0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47548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9844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9D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6.0 V battery drives one 100 Ω resistor. The battery's internal resistance is 0.5 Ω.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874520"/>
            <a:ext cx="8046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3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 Connected correctly — what do the two meters read?</a:t>
            </a:r>
            <a:endParaRPr lang="en-US" sz="1600" dirty="0"/>
          </a:p>
          <a:p>
            <a:pPr marL="0" indent="0">
              <a:lnSpc>
                <a:spcPts val="23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 The voltmeter (10 MΩ) is put in series by mistake. What is the current now, and what does it display?</a:t>
            </a:r>
            <a:endParaRPr lang="en-US" sz="1600" dirty="0"/>
          </a:p>
          <a:p>
            <a:pPr marL="0" indent="0">
              <a:lnSpc>
                <a:spcPts val="23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  The ammeter (R ≈ 0) is put in parallel across the battery. What current flows?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5 — answer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8046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spcAft>
                <a:spcPts val="900"/>
              </a:spcAft>
              <a:buNone/>
            </a:pPr>
            <a:r>
              <a:rPr lang="en-US" sz="1600" b="1" dirty="0">
                <a:solidFill>
                  <a:srgbClr val="CC0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  I ≈ 60 mA, voltmeter reads ≈ 6.0 V</a:t>
            </a:r>
            <a:endParaRPr lang="en-US" sz="1600" dirty="0"/>
          </a:p>
          <a:p>
            <a:pPr marL="0" indent="0">
              <a:lnSpc>
                <a:spcPts val="24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rgbClr val="1F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  I ≈ 0.6 µA — the resistor drops 60 µV, so the meter shows ≈ 6 V:</a:t>
            </a:r>
            <a:endParaRPr lang="en-US" sz="1600" dirty="0"/>
          </a:p>
          <a:p>
            <a:pPr marL="0" indent="0">
              <a:lnSpc>
                <a:spcPts val="24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rgbClr val="1F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the supply voltage, not the component's. The circuit has stopped working.</a:t>
            </a:r>
            <a:endParaRPr lang="en-US" sz="1600" dirty="0"/>
          </a:p>
          <a:p>
            <a:pPr marL="0" indent="0">
              <a:lnSpc>
                <a:spcPts val="2400"/>
              </a:lnSpc>
              <a:spcAft>
                <a:spcPts val="900"/>
              </a:spcAft>
              <a:buNone/>
            </a:pPr>
            <a:r>
              <a:rPr lang="en-US" sz="1600" b="1" dirty="0">
                <a:solidFill>
                  <a:srgbClr val="CC0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   I = 6.0 / 0.5 = 12 A — a short circuit. The meter's fuse blows.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E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circuit is not 'no current'. It is uncontrolled current, limited only by the source and wiring.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Batteries: series and parallel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886200" cy="2331720"/>
          </a:xfrm>
          <a:prstGeom prst="roundRect">
            <a:avLst>
              <a:gd name="adj" fmla="val 3137"/>
            </a:avLst>
          </a:prstGeom>
          <a:solidFill>
            <a:srgbClr val="F1F3F4"/>
          </a:solidFill>
          <a:ln w="12700">
            <a:solidFill>
              <a:srgbClr val="F1F3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822960" y="162763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C0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Series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0574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F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to end. Voltages add, respecting polarity.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0604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E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V + 1.5 V = 3 V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6E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(mAh) unchanged.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709160" y="1417320"/>
            <a:ext cx="3886200" cy="2331720"/>
          </a:xfrm>
          <a:prstGeom prst="roundRect">
            <a:avLst>
              <a:gd name="adj" fmla="val 3137"/>
            </a:avLst>
          </a:prstGeom>
          <a:solidFill>
            <a:srgbClr val="F1F3F4"/>
          </a:solidFill>
          <a:ln w="12700">
            <a:solidFill>
              <a:srgbClr val="F1F3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4983480" y="162763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C0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Parallel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4983480" y="20574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F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by side. Voltage stays the same.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4983480" y="260604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E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adds.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6E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voltage, chemistry, and charge state only.</a:t>
            </a:r>
            <a:endParaRPr lang="en-US" sz="135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977640"/>
            <a:ext cx="1325880" cy="441960"/>
          </a:xfrm>
          <a:prstGeom prst="rect">
            <a:avLst/>
          </a:prstGeom>
        </p:spPr>
      </p:pic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0280" y="3977640"/>
            <a:ext cx="1325880" cy="441960"/>
          </a:xfrm>
          <a:prstGeom prst="rect">
            <a:avLst/>
          </a:prstGeom>
        </p:spPr>
      </p:pic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3794760"/>
            <a:ext cx="1325880" cy="441960"/>
          </a:xfrm>
          <a:prstGeom prst="rect">
            <a:avLst/>
          </a:prstGeom>
        </p:spPr>
      </p:pic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4315968"/>
            <a:ext cx="1325880" cy="44196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parts you will meet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5953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E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the symbol, not just the name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481328" cy="1234440"/>
          </a:xfrm>
          <a:prstGeom prst="roundRect">
            <a:avLst>
              <a:gd name="adj" fmla="val 4444"/>
            </a:avLst>
          </a:prstGeom>
          <a:solidFill>
            <a:srgbClr val="F1F3F4"/>
          </a:solidFill>
          <a:ln w="12700">
            <a:solidFill>
              <a:srgbClr val="F1F3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1664208"/>
            <a:ext cx="1188720" cy="5943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304288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Capacitor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185416" y="1463040"/>
            <a:ext cx="1481328" cy="1234440"/>
          </a:xfrm>
          <a:prstGeom prst="roundRect">
            <a:avLst>
              <a:gd name="adj" fmla="val 4444"/>
            </a:avLst>
          </a:prstGeom>
          <a:solidFill>
            <a:srgbClr val="F1F3F4"/>
          </a:solidFill>
          <a:ln w="12700">
            <a:solidFill>
              <a:srgbClr val="F1F3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1720" y="1664208"/>
            <a:ext cx="1188720" cy="5943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185416" y="2304288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Polarized cap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3822192" y="1463040"/>
            <a:ext cx="1481328" cy="1234440"/>
          </a:xfrm>
          <a:prstGeom prst="roundRect">
            <a:avLst>
              <a:gd name="adj" fmla="val 4444"/>
            </a:avLst>
          </a:prstGeom>
          <a:solidFill>
            <a:srgbClr val="F1F3F4"/>
          </a:solidFill>
          <a:ln w="12700">
            <a:solidFill>
              <a:srgbClr val="F1F3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8496" y="1664208"/>
            <a:ext cx="1188720" cy="39624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822192" y="2304288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Inductor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5458968" y="1463040"/>
            <a:ext cx="1481328" cy="1234440"/>
          </a:xfrm>
          <a:prstGeom prst="roundRect">
            <a:avLst>
              <a:gd name="adj" fmla="val 4444"/>
            </a:avLst>
          </a:prstGeom>
          <a:solidFill>
            <a:srgbClr val="F1F3F4"/>
          </a:solidFill>
          <a:ln w="12700">
            <a:solidFill>
              <a:srgbClr val="F1F3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05272" y="1664208"/>
            <a:ext cx="1188720" cy="39624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5458968" y="2304288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SPST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7095744" y="1463040"/>
            <a:ext cx="1481328" cy="1234440"/>
          </a:xfrm>
          <a:prstGeom prst="roundRect">
            <a:avLst>
              <a:gd name="adj" fmla="val 4444"/>
            </a:avLst>
          </a:prstGeom>
          <a:solidFill>
            <a:srgbClr val="F1F3F4"/>
          </a:solidFill>
          <a:ln w="12700">
            <a:solidFill>
              <a:srgbClr val="F1F3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42048" y="1664208"/>
            <a:ext cx="1188720" cy="39624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7095744" y="2304288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SPDT</a:t>
            </a:r>
            <a:endParaRPr lang="en-US" sz="1200" dirty="0"/>
          </a:p>
        </p:txBody>
      </p:sp>
      <p:sp>
        <p:nvSpPr>
          <p:cNvPr id="19" name="Shape 12"/>
          <p:cNvSpPr/>
          <p:nvPr/>
        </p:nvSpPr>
        <p:spPr>
          <a:xfrm>
            <a:off x="548640" y="2926080"/>
            <a:ext cx="1481328" cy="1234440"/>
          </a:xfrm>
          <a:prstGeom prst="roundRect">
            <a:avLst>
              <a:gd name="adj" fmla="val 4444"/>
            </a:avLst>
          </a:prstGeom>
          <a:solidFill>
            <a:srgbClr val="F1F3F4"/>
          </a:solidFill>
          <a:ln w="12700">
            <a:solidFill>
              <a:srgbClr val="F1F3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4944" y="3127248"/>
            <a:ext cx="1188720" cy="396240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548640" y="3767328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Pushbutton</a:t>
            </a:r>
            <a:endParaRPr lang="en-US" sz="1200" dirty="0"/>
          </a:p>
        </p:txBody>
      </p:sp>
      <p:sp>
        <p:nvSpPr>
          <p:cNvPr id="22" name="Shape 14"/>
          <p:cNvSpPr/>
          <p:nvPr/>
        </p:nvSpPr>
        <p:spPr>
          <a:xfrm>
            <a:off x="2185416" y="2926080"/>
            <a:ext cx="1481328" cy="1234440"/>
          </a:xfrm>
          <a:prstGeom prst="roundRect">
            <a:avLst>
              <a:gd name="adj" fmla="val 4444"/>
            </a:avLst>
          </a:prstGeom>
          <a:solidFill>
            <a:srgbClr val="F1F3F4"/>
          </a:solidFill>
          <a:ln w="12700">
            <a:solidFill>
              <a:srgbClr val="F1F3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31720" y="3127248"/>
            <a:ext cx="1188720" cy="396240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2185416" y="3767328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</a:t>
            </a:r>
            <a:endParaRPr lang="en-US" sz="1200" dirty="0"/>
          </a:p>
        </p:txBody>
      </p:sp>
      <p:sp>
        <p:nvSpPr>
          <p:cNvPr id="25" name="Shape 16"/>
          <p:cNvSpPr/>
          <p:nvPr/>
        </p:nvSpPr>
        <p:spPr>
          <a:xfrm>
            <a:off x="3822192" y="2926080"/>
            <a:ext cx="1481328" cy="1234440"/>
          </a:xfrm>
          <a:prstGeom prst="roundRect">
            <a:avLst>
              <a:gd name="adj" fmla="val 4444"/>
            </a:avLst>
          </a:prstGeom>
          <a:solidFill>
            <a:srgbClr val="F1F3F4"/>
          </a:solidFill>
          <a:ln w="12700">
            <a:solidFill>
              <a:srgbClr val="F1F3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68496" y="3127248"/>
            <a:ext cx="1188720" cy="396240"/>
          </a:xfrm>
          <a:prstGeom prst="rect">
            <a:avLst/>
          </a:prstGeom>
        </p:spPr>
      </p:pic>
      <p:sp>
        <p:nvSpPr>
          <p:cNvPr id="27" name="Text 17"/>
          <p:cNvSpPr txBox="1"/>
          <p:nvPr/>
        </p:nvSpPr>
        <p:spPr>
          <a:xfrm>
            <a:off x="3822192" y="3767328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Diode</a:t>
            </a:r>
            <a:endParaRPr lang="en-US" sz="1200" dirty="0"/>
          </a:p>
        </p:txBody>
      </p:sp>
      <p:sp>
        <p:nvSpPr>
          <p:cNvPr id="28" name="Shape 18"/>
          <p:cNvSpPr/>
          <p:nvPr/>
        </p:nvSpPr>
        <p:spPr>
          <a:xfrm>
            <a:off x="5458968" y="2926080"/>
            <a:ext cx="1481328" cy="1234440"/>
          </a:xfrm>
          <a:prstGeom prst="roundRect">
            <a:avLst>
              <a:gd name="adj" fmla="val 4444"/>
            </a:avLst>
          </a:prstGeom>
          <a:solidFill>
            <a:srgbClr val="F1F3F4"/>
          </a:solidFill>
          <a:ln w="12700">
            <a:solidFill>
              <a:srgbClr val="F1F3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05272" y="3127248"/>
            <a:ext cx="1188720" cy="455676"/>
          </a:xfrm>
          <a:prstGeom prst="rect">
            <a:avLst/>
          </a:prstGeom>
        </p:spPr>
      </p:pic>
      <p:sp>
        <p:nvSpPr>
          <p:cNvPr id="30" name="Text 19"/>
          <p:cNvSpPr txBox="1"/>
          <p:nvPr/>
        </p:nvSpPr>
        <p:spPr>
          <a:xfrm>
            <a:off x="5458968" y="3767328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</a:t>
            </a:r>
            <a:endParaRPr lang="en-US" sz="1200" dirty="0"/>
          </a:p>
        </p:txBody>
      </p:sp>
      <p:sp>
        <p:nvSpPr>
          <p:cNvPr id="31" name="Shape 20"/>
          <p:cNvSpPr/>
          <p:nvPr/>
        </p:nvSpPr>
        <p:spPr>
          <a:xfrm>
            <a:off x="7095744" y="2926080"/>
            <a:ext cx="1481328" cy="1234440"/>
          </a:xfrm>
          <a:prstGeom prst="roundRect">
            <a:avLst>
              <a:gd name="adj" fmla="val 4444"/>
            </a:avLst>
          </a:prstGeom>
          <a:solidFill>
            <a:srgbClr val="F1F3F4"/>
          </a:solidFill>
          <a:ln w="12700">
            <a:solidFill>
              <a:srgbClr val="F1F3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42048" y="3127248"/>
            <a:ext cx="1188720" cy="396240"/>
          </a:xfrm>
          <a:prstGeom prst="rect">
            <a:avLst/>
          </a:prstGeom>
        </p:spPr>
      </p:pic>
      <p:sp>
        <p:nvSpPr>
          <p:cNvPr id="33" name="Text 21"/>
          <p:cNvSpPr txBox="1"/>
          <p:nvPr/>
        </p:nvSpPr>
        <p:spPr>
          <a:xfrm>
            <a:off x="7095744" y="3767328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Zener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Capacitor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5953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E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and opposite charge on two plates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00200"/>
            <a:ext cx="1371600" cy="6858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7440" y="1600200"/>
            <a:ext cx="1371600" cy="6858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731520" y="23774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E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non-polarized          polarized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4206240" y="1463040"/>
            <a:ext cx="4389120" cy="777240"/>
          </a:xfrm>
          <a:prstGeom prst="roundRect">
            <a:avLst>
              <a:gd name="adj" fmla="val 7059"/>
            </a:avLst>
          </a:prstGeom>
          <a:solidFill>
            <a:srgbClr val="F1F3F4"/>
          </a:solidFill>
          <a:ln w="12700">
            <a:solidFill>
              <a:srgbClr val="F1F3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 txBox="1"/>
          <p:nvPr/>
        </p:nvSpPr>
        <p:spPr>
          <a:xfrm>
            <a:off x="4206240" y="146304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1F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  =  C V</a:t>
            </a:r>
            <a:endParaRPr lang="en-US" sz="2400" dirty="0"/>
          </a:p>
        </p:txBody>
      </p:sp>
      <p:sp>
        <p:nvSpPr>
          <p:cNvPr id="9" name="Shape 5"/>
          <p:cNvSpPr/>
          <p:nvPr/>
        </p:nvSpPr>
        <p:spPr>
          <a:xfrm>
            <a:off x="4206240" y="2377440"/>
            <a:ext cx="4389120" cy="777240"/>
          </a:xfrm>
          <a:prstGeom prst="roundRect">
            <a:avLst>
              <a:gd name="adj" fmla="val 7059"/>
            </a:avLst>
          </a:prstGeom>
          <a:solidFill>
            <a:srgbClr val="F1F3F4"/>
          </a:solidFill>
          <a:ln w="12700">
            <a:solidFill>
              <a:srgbClr val="F1F3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 txBox="1"/>
          <p:nvPr/>
        </p:nvSpPr>
        <p:spPr>
          <a:xfrm>
            <a:off x="4206240" y="237744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1F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  =  ½ C V²</a:t>
            </a:r>
            <a:endParaRPr lang="en-US" sz="2400" dirty="0"/>
          </a:p>
        </p:txBody>
      </p:sp>
      <p:sp>
        <p:nvSpPr>
          <p:cNvPr id="11" name="Text 7"/>
          <p:cNvSpPr txBox="1"/>
          <p:nvPr/>
        </p:nvSpPr>
        <p:spPr>
          <a:xfrm>
            <a:off x="731520" y="33832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1F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Polarized (electrolytic): has a + and a − terminal, and fails if connected backward.</a:t>
            </a:r>
            <a:endParaRPr lang="en-US" sz="15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1F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Non-polarized (ceramic): goes in either way.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B22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03504" cy="603504"/>
          </a:xfrm>
          <a:prstGeom prst="ellipse">
            <a:avLst/>
          </a:prstGeom>
          <a:solidFill>
            <a:srgbClr val="CC0033"/>
          </a:solidFill>
          <a:ln w="12700">
            <a:solidFill>
              <a:srgbClr val="CC0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47548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9844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9D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100 µF capacitor is charged to 12 V.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874520"/>
            <a:ext cx="8046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3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 How much charge is stored?</a:t>
            </a:r>
            <a:endParaRPr lang="en-US" sz="1600" dirty="0"/>
          </a:p>
          <a:p>
            <a:pPr marL="0" indent="0">
              <a:lnSpc>
                <a:spcPts val="23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 How much energy is stored?</a:t>
            </a:r>
            <a:endParaRPr lang="en-US" sz="1600" dirty="0"/>
          </a:p>
          <a:p>
            <a:pPr marL="0" indent="0">
              <a:lnSpc>
                <a:spcPts val="23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  A power supply holds a 1000 µF capacitor at 400 V. How much energy is that?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6 — answer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8046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spcAft>
                <a:spcPts val="900"/>
              </a:spcAft>
              <a:buNone/>
            </a:pPr>
            <a:r>
              <a:rPr lang="en-US" sz="1600" b="1" dirty="0">
                <a:solidFill>
                  <a:srgbClr val="CC0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  Q = C V = 100 × 10⁻⁶ × 12 = 1.2 mC</a:t>
            </a:r>
            <a:endParaRPr lang="en-US" sz="1600" dirty="0"/>
          </a:p>
          <a:p>
            <a:pPr marL="0" indent="0">
              <a:lnSpc>
                <a:spcPts val="2400"/>
              </a:lnSpc>
              <a:spcAft>
                <a:spcPts val="900"/>
              </a:spcAft>
              <a:buNone/>
            </a:pPr>
            <a:r>
              <a:rPr lang="en-US" sz="1600" b="1" dirty="0">
                <a:solidFill>
                  <a:srgbClr val="CC0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  U = ½ C V² = 7.2 mJ</a:t>
            </a:r>
            <a:endParaRPr lang="en-US" sz="1600" dirty="0"/>
          </a:p>
          <a:p>
            <a:pPr marL="0" indent="0">
              <a:lnSpc>
                <a:spcPts val="2400"/>
              </a:lnSpc>
              <a:spcAft>
                <a:spcPts val="900"/>
              </a:spcAft>
              <a:buNone/>
            </a:pPr>
            <a:r>
              <a:rPr lang="en-US" sz="1600" b="1" dirty="0">
                <a:solidFill>
                  <a:srgbClr val="CC0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   U = ½ × 1000 × 10⁻⁶ × 400² = 80 J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E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J still sitting there long after the supply is unplugged — enough to injure or kill.</a:t>
            </a:r>
            <a:endParaRPr 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Inductor, switches, fuse</a:t>
            </a:r>
            <a:endParaRPr lang="en-US" sz="3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371600"/>
            <a:ext cx="1371600" cy="4572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240280" y="135331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C0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Inductor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2240280" y="1700784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F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energy in a magnetic field:  E = ½ L I².  Resists changes in current.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2423160"/>
            <a:ext cx="1371600" cy="4572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240280" y="240487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C0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SPST / SPDT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2240280" y="2752344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F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throw makes or breaks one path; double throw picks one of two.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474720"/>
            <a:ext cx="1371600" cy="45720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2240280" y="345643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C0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Fuse</a:t>
            </a:r>
            <a:endParaRPr lang="en-US" sz="1800" dirty="0"/>
          </a:p>
        </p:txBody>
      </p:sp>
      <p:sp>
        <p:nvSpPr>
          <p:cNvPr id="11" name="Text 6"/>
          <p:cNvSpPr txBox="1"/>
          <p:nvPr/>
        </p:nvSpPr>
        <p:spPr>
          <a:xfrm>
            <a:off x="2240280" y="3803904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F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deliberate weak link, always in series. Melts above its rated current.</a:t>
            </a:r>
            <a:endParaRPr lang="en-US" sz="1450" dirty="0"/>
          </a:p>
        </p:txBody>
      </p:sp>
      <p:sp>
        <p:nvSpPr>
          <p:cNvPr id="12" name="Text 7"/>
          <p:cNvSpPr txBox="1"/>
          <p:nvPr/>
        </p:nvSpPr>
        <p:spPr>
          <a:xfrm>
            <a:off x="594360" y="434340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E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capacitor resists changes in voltage; an inductor resists changes in current.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diode family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5953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E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triangle-and-bar; the differences are small and deliberate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417320"/>
            <a:ext cx="13716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240280" y="139903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C0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Diode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2240280" y="1746504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F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Conducts one way, blocks the other. Rectifies AC to DC, and protects against reverse current.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2468880"/>
            <a:ext cx="1371600" cy="5257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240280" y="245059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C0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LED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2240280" y="2798064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F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diode built to emit light. Two outward arrows are the only change to the symbol.</a:t>
            </a:r>
            <a:endParaRPr lang="en-US" sz="14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520440"/>
            <a:ext cx="1371600" cy="4572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2240280" y="350215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C0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Zener</a:t>
            </a:r>
            <a:endParaRPr lang="en-US" sz="1800" dirty="0"/>
          </a:p>
        </p:txBody>
      </p:sp>
      <p:sp>
        <p:nvSpPr>
          <p:cNvPr id="12" name="Text 7"/>
          <p:cNvSpPr txBox="1"/>
          <p:nvPr/>
        </p:nvSpPr>
        <p:spPr>
          <a:xfrm>
            <a:off x="2240280" y="3849624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F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Conducts in reverse above its breakdown voltage. Regulates voltage instead of rectifying.</a:t>
            </a:r>
            <a:endParaRPr lang="en-US" sz="14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B22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03504" cy="603504"/>
          </a:xfrm>
          <a:prstGeom prst="ellipse">
            <a:avLst/>
          </a:prstGeom>
          <a:solidFill>
            <a:srgbClr val="CC0033"/>
          </a:solidFill>
          <a:ln w="12700">
            <a:solidFill>
              <a:srgbClr val="CC0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47548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9844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9D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a red LED from a 5.0 V supply. Forward drop 2.0 V, target current 15 mA.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874520"/>
            <a:ext cx="8046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3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 How much voltage must the resistor drop?</a:t>
            </a:r>
            <a:endParaRPr lang="en-US" sz="1600" dirty="0"/>
          </a:p>
          <a:p>
            <a:pPr marL="0" indent="0">
              <a:lnSpc>
                <a:spcPts val="23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 What resistance do you need?</a:t>
            </a:r>
            <a:endParaRPr lang="en-US" sz="1600" dirty="0"/>
          </a:p>
          <a:p>
            <a:pPr marL="0" indent="0">
              <a:lnSpc>
                <a:spcPts val="23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  Nearest standard value is 220 Ω — what is the actual current?</a:t>
            </a:r>
            <a:endParaRPr lang="en-US" sz="1600" dirty="0"/>
          </a:p>
          <a:p>
            <a:pPr marL="0" indent="0">
              <a:lnSpc>
                <a:spcPts val="23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(d)  Resistor power? Is ¼ W enough?</a:t>
            </a:r>
            <a:endParaRPr lang="en-US" sz="1600" dirty="0"/>
          </a:p>
          <a:p>
            <a:pPr marL="0" indent="0">
              <a:lnSpc>
                <a:spcPts val="23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(e)  What happens with no resistor at all?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7 — answer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8046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spcAft>
                <a:spcPts val="900"/>
              </a:spcAft>
              <a:buNone/>
            </a:pPr>
            <a:r>
              <a:rPr lang="en-US" sz="1600" b="1" dirty="0">
                <a:solidFill>
                  <a:srgbClr val="CC0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  5.0 − 2.0 = 3.0 V</a:t>
            </a:r>
            <a:endParaRPr lang="en-US" sz="1600" dirty="0"/>
          </a:p>
          <a:p>
            <a:pPr marL="0" indent="0">
              <a:lnSpc>
                <a:spcPts val="2400"/>
              </a:lnSpc>
              <a:spcAft>
                <a:spcPts val="900"/>
              </a:spcAft>
              <a:buNone/>
            </a:pPr>
            <a:r>
              <a:rPr lang="en-US" sz="1600" b="1" dirty="0">
                <a:solidFill>
                  <a:srgbClr val="CC0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  R = 3.0 / 0.015 = 200 Ω</a:t>
            </a:r>
            <a:endParaRPr lang="en-US" sz="1600" dirty="0"/>
          </a:p>
          <a:p>
            <a:pPr marL="0" indent="0">
              <a:lnSpc>
                <a:spcPts val="2400"/>
              </a:lnSpc>
              <a:spcAft>
                <a:spcPts val="900"/>
              </a:spcAft>
              <a:buNone/>
            </a:pPr>
            <a:r>
              <a:rPr lang="en-US" sz="1600" b="1" dirty="0">
                <a:solidFill>
                  <a:srgbClr val="CC0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   I = 3.0 / 220 = 13.6 mA — close enough; LEDs are not fussy.</a:t>
            </a:r>
            <a:endParaRPr lang="en-US" sz="1600" dirty="0"/>
          </a:p>
          <a:p>
            <a:pPr marL="0" indent="0">
              <a:lnSpc>
                <a:spcPts val="2400"/>
              </a:lnSpc>
              <a:spcAft>
                <a:spcPts val="900"/>
              </a:spcAft>
              <a:buNone/>
            </a:pPr>
            <a:r>
              <a:rPr lang="en-US" sz="1600" b="1" dirty="0">
                <a:solidFill>
                  <a:srgbClr val="CC0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(d)   P = I² R = 41 mW — comfortably under ¼ W. Yes.</a:t>
            </a:r>
            <a:endParaRPr lang="en-US" sz="1600" dirty="0"/>
          </a:p>
          <a:p>
            <a:pPr marL="0" indent="0">
              <a:lnSpc>
                <a:spcPts val="24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rgbClr val="1F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(e)   The LED's forward resistance is tiny, so current is limited only by</a:t>
            </a:r>
            <a:endParaRPr lang="en-US" sz="1600" dirty="0"/>
          </a:p>
          <a:p>
            <a:pPr marL="0" indent="0">
              <a:lnSpc>
                <a:spcPts val="24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rgbClr val="1F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the supply and wiring. It burns out, usually instantly.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1722</Words>
  <Application>Microsoft Macintosh PowerPoint</Application>
  <PresentationFormat>On-screen Show (16:9)</PresentationFormat>
  <Paragraphs>213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Recitation 1 — Basic Circuits</dc:title>
  <dc:subject>PptxGenJS Presentation</dc:subject>
  <dc:creator>Basic Circuits</dc:creator>
  <cp:lastModifiedBy>cosmorangeyc@gmail.com</cp:lastModifiedBy>
  <cp:revision>10</cp:revision>
  <dcterms:created xsi:type="dcterms:W3CDTF">2026-09-05T19:12:35Z</dcterms:created>
  <dcterms:modified xsi:type="dcterms:W3CDTF">2026-09-08T17:49:24Z</dcterms:modified>
</cp:coreProperties>
</file>