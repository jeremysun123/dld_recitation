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9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2409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Today has two halves: finishing the circuit material, then starting Boolean algebra.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40 minutes of circuits, then 35 of Boolean algebra, 5 to wrap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finish the circuit half first, then switch to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Voltage is a difference. Ground is the node we declare to be zero. Choosing it changes labels, not physics.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Circuit ground is a bookkeeping choice. Earth ground is a physical safety connection. The symbol does not promise Earth.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on this. The point of (d) is that nothing physical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Answers. Emphasise that a negative node potential is ordinary.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Parallel: same two nodes, same voltage. Derive the reciprocal rule on the board with the figure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let them sanity-check an answer in one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do all four, then read the answers across.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KVL is conservation of energy around a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 rule, then the series result. Make them say the rule out loud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formula off the figure: R2's share of the total resistance.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(d) is a design question, not a plug-in. Ratio first, then the current budget.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KCL: charge does not pile up at a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divider — stress that the numerator is the other resistor.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one. The sign-convention mistake in (b) is the teaching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example. Collapse from the far end back to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expand outward: series drop first, then what is left across the pair.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checks, every time. Two of them are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method, new numbers. Give them five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Breadboard: nothing on the plastic tells you what is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to problem 6 — argue from nodes, not from the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slide: two switches make AND and 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Series switches = AND, parallel = OR. Then stop drawing lamps.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Axioms and single-variable theorems. On slides a prime means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named theorems, and duality — the list is half as long as it looks.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drills with the tables in front of them. Name the theorem each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Precedence. Get them to find the counterexample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DeMorgan by truth table, then the practical reading: pushing bubbles.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tactics. The third one is the one they never think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10. Expand, then kill the contradictory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11. Reduce both sides; call out the theorem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12 — the duplication trick. Nobody finds this without being told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NAND is universal — that is why it is the workhorse gate in CMOS.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13 — XOR from four NANDs. Let them try before showing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cs.rutgers.edu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52960" cy="6949440"/>
          </a:xfrm>
          <a:prstGeom prst="rect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Recitation 2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99F36F-5485-5A83-0647-6BBABA6BF1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07" b="17802"/>
          <a:stretch>
            <a:fillRect/>
          </a:stretch>
        </p:blipFill>
        <p:spPr>
          <a:xfrm>
            <a:off x="0" y="321275"/>
            <a:ext cx="5219022" cy="62154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DD958F-88F8-F02B-4D95-8CCF46764D7C}"/>
              </a:ext>
            </a:extLst>
          </p:cNvPr>
          <p:cNvSpPr txBox="1"/>
          <p:nvPr/>
        </p:nvSpPr>
        <p:spPr>
          <a:xfrm>
            <a:off x="5416062" y="2505670"/>
            <a:ext cx="661181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1F2328"/>
                </a:solidFill>
                <a:latin typeface="Cambria" pitchFamily="34" charset="0"/>
              </a:rPr>
              <a:t>We</a:t>
            </a:r>
            <a:r>
              <a:rPr lang="zh-CN" altLang="en-US" sz="2800" b="1" dirty="0">
                <a:solidFill>
                  <a:srgbClr val="1F2328"/>
                </a:solidFill>
                <a:latin typeface="Cambria" pitchFamily="34" charset="0"/>
              </a:rPr>
              <a:t> </a:t>
            </a:r>
            <a:r>
              <a:rPr lang="en-US" sz="2800" b="1" dirty="0">
                <a:solidFill>
                  <a:srgbClr val="1F2328"/>
                </a:solidFill>
                <a:latin typeface="Cambria" pitchFamily="34" charset="0"/>
              </a:rPr>
              <a:t>need to reset the </a:t>
            </a:r>
            <a:r>
              <a:rPr lang="en-US" sz="2800" b="1" dirty="0" err="1">
                <a:solidFill>
                  <a:srgbClr val="1F2328"/>
                </a:solidFill>
                <a:latin typeface="Cambria" pitchFamily="34" charset="0"/>
              </a:rPr>
              <a:t>VLab</a:t>
            </a:r>
            <a:r>
              <a:rPr lang="en-US" sz="2800" b="1" dirty="0">
                <a:solidFill>
                  <a:srgbClr val="1F2328"/>
                </a:solidFill>
                <a:latin typeface="Cambria" pitchFamily="34" charset="0"/>
              </a:rPr>
              <a:t> password to access </a:t>
            </a:r>
            <a:r>
              <a:rPr lang="en-US" sz="2800" b="1" dirty="0" err="1">
                <a:solidFill>
                  <a:srgbClr val="1F2328"/>
                </a:solidFill>
                <a:latin typeface="Cambria" pitchFamily="34" charset="0"/>
              </a:rPr>
              <a:t>VLab</a:t>
            </a:r>
            <a:r>
              <a:rPr lang="en-US" sz="2800" b="1" dirty="0">
                <a:solidFill>
                  <a:srgbClr val="1F2328"/>
                </a:solidFill>
                <a:latin typeface="Cambria" pitchFamily="34" charset="0"/>
              </a:rPr>
              <a:t> using these instructions</a:t>
            </a:r>
          </a:p>
          <a:p>
            <a:endParaRPr lang="en-US" sz="2800" b="1" dirty="0">
              <a:solidFill>
                <a:srgbClr val="1F2328"/>
              </a:solidFill>
              <a:latin typeface="Cambria" pitchFamily="34" charset="0"/>
            </a:endParaRPr>
          </a:p>
          <a:p>
            <a:r>
              <a:rPr lang="en-US" altLang="zh-CN" sz="2800" b="1" dirty="0">
                <a:solidFill>
                  <a:srgbClr val="1F2328"/>
                </a:solidFill>
                <a:latin typeface="Cambria" pitchFamily="34" charset="0"/>
                <a:hlinkClick r:id="rId3"/>
              </a:rPr>
              <a:t>https://ecs.rutgers.edu</a:t>
            </a:r>
            <a:r>
              <a:rPr lang="zh-CN" altLang="en-US" sz="2800" b="1" dirty="0">
                <a:solidFill>
                  <a:srgbClr val="1F2328"/>
                </a:solidFill>
                <a:latin typeface="Cambria" pitchFamily="34" charset="0"/>
              </a:rPr>
              <a:t> </a:t>
            </a:r>
            <a:endParaRPr lang="en-US" altLang="zh-CN" sz="2800" b="1" dirty="0">
              <a:solidFill>
                <a:srgbClr val="1F2328"/>
              </a:solidFill>
              <a:latin typeface="Cambri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974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329184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going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371600"/>
            <a:ext cx="5120640" cy="4023360"/>
          </a:xfrm>
          <a:prstGeom prst="roundRect">
            <a:avLst>
              <a:gd name="adj" fmla="val 1364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00584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Circuits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1005840" y="228600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and the 0 V reference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Resistors in parallel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Series, KVL, the voltage divider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KCL and the current divider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example, checked three ways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breadboard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120640" cy="4023360"/>
          </a:xfrm>
          <a:prstGeom prst="roundRect">
            <a:avLst>
              <a:gd name="adj" fmla="val 1364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658368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Boolean algebra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28600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switches to 0 and 1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Axioms, theorems, duality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Precedence: NOT, AND, OR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 and DeMorgan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Simplifying by algebra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NAND as a universal gate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52960" cy="6949440"/>
          </a:xfrm>
          <a:prstGeom prst="rect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2377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834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Circuits with more than one component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and the 0 V reference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is a difference. “The voltage at node A” means nothing until you say relative to what.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373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ground = the one node you declare to be 0 V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choice is free: currents and every voltage across a component are unchanged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ground symbol at several points = the same node, with no wire drawn</a:t>
            </a:r>
            <a:endParaRPr lang="en-US" sz="1600" dirty="0"/>
          </a:p>
        </p:txBody>
      </p:sp>
      <p:pic>
        <p:nvPicPr>
          <p:cNvPr id="8" name="Image 0" descr="/home/claude/figs/grou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776549"/>
            <a:ext cx="6217920" cy="266482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0" y="48006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circuit, two choices of reference — the 9 V difference never moves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0080" y="4206240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F4F1EC"/>
          </a:solidFill>
          <a:ln w="9525">
            <a:solidFill>
              <a:srgbClr val="F4F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777240" y="42062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V+ − V− = 9 V either way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ground is not Earth ground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5120640" cy="3108960"/>
          </a:xfrm>
          <a:prstGeom prst="roundRect">
            <a:avLst>
              <a:gd name="adj" fmla="val 1765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0584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ground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228600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chosen reference node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 only on paper and in your analysis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stop drawing long return wires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120640" cy="3108960"/>
          </a:xfrm>
          <a:prstGeom prst="roundRect">
            <a:avLst>
              <a:gd name="adj" fmla="val 1765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58368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Earth ground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28600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connection to the building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for safety, not for analysis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 symbol does not by itself mean this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the lab: is this symbol telling me where zero is, or where the safety path is?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1</a:t>
            </a:r>
            <a:endParaRPr lang="en-US" sz="2800" dirty="0"/>
          </a:p>
        </p:txBody>
      </p:sp>
      <p:pic>
        <p:nvPicPr>
          <p:cNvPr id="6" name="Image 0" descr="/home/claude/figs/series2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71048"/>
            <a:ext cx="4754880" cy="326454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577840" y="1280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 source, 4 Ω on top, 8 Ω below.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577840" y="1828800"/>
            <a:ext cx="5852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current and the voltage across each resistor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node = 0 V: what are the middle and top potentials?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node = 0 V instead: what are the top and bottom?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numbers changed — and which physical quantities did not?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1 — answers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371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= 12 Ω, I = 1 A; drops are 4 V and 8 V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1488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0 V → middle 8 V, top 12 V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926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(c)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2926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0 V → top +4 V, bottom −8 V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7033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(d)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labels moved: I is still 1 A, the drops are still 4 V and 8 V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40080" y="4892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node potential just means the node sits below the one you called zero.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Resistors in parallel</a:t>
            </a:r>
            <a:endParaRPr lang="en-US" sz="2800" dirty="0"/>
          </a:p>
        </p:txBody>
      </p:sp>
      <p:pic>
        <p:nvPicPr>
          <p:cNvPr id="6" name="Image 0" descr="/home/claude/figs/parall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6766560" cy="270662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15200" y="137160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ends on the same pair of nodes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both see the same V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takes V/R, and the currents add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22960" y="4206240"/>
            <a:ext cx="5669280" cy="777240"/>
          </a:xfrm>
          <a:prstGeom prst="roundRect">
            <a:avLst>
              <a:gd name="adj" fmla="val 7059"/>
            </a:avLst>
          </a:prstGeom>
          <a:solidFill>
            <a:srgbClr val="F4F1EC"/>
          </a:solidFill>
          <a:ln w="9525">
            <a:solidFill>
              <a:srgbClr val="F4F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960120" y="420624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V/R1 + V/R2 = V (1/R1 + 1/R2)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766560" y="4206240"/>
            <a:ext cx="4754880" cy="777240"/>
          </a:xfrm>
          <a:prstGeom prst="roundRect">
            <a:avLst>
              <a:gd name="adj" fmla="val 7059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6903720" y="42062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1/Req = 1/R1 + 1/R2 + ... + 1/Rn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822960" y="5166360"/>
            <a:ext cx="10698480" cy="731520"/>
          </a:xfrm>
          <a:prstGeom prst="roundRect">
            <a:avLst>
              <a:gd name="adj" fmla="val 7500"/>
            </a:avLst>
          </a:prstGeom>
          <a:solidFill>
            <a:srgbClr val="F4F1EC"/>
          </a:solidFill>
          <a:ln w="9525">
            <a:solidFill>
              <a:srgbClr val="F4F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960120" y="51663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resistors:  Req = R1R2 / (R1 + R2)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memorise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1618488"/>
            <a:ext cx="457200" cy="457200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1440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equal resistors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4389120" y="15087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in parallel give R / 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40080" y="25603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" y="2852928"/>
            <a:ext cx="457200" cy="457200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14400" y="2852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smaller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4389120" y="27432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is smaller than the smallest resistor in the group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40080" y="379476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14400" y="4087368"/>
            <a:ext cx="457200" cy="457200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91440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 one wins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389120" y="39776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R beside a much larger one ≈ the small one alone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960120" y="51206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Careful: the reciprocals add, not the resistances. Forgetting to invert at the end is the classic slip.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2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60120" y="13716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6 Ω ∥ 3 Ω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3716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Ω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42316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960120" y="24231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 three 3 Ω in parallel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24231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Ω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" y="347472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60120" y="347472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 100 Ω ∥ 1 Ω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347472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 Ω  — essentially the 1 Ω alone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40080" y="4526280"/>
            <a:ext cx="5120640" cy="868680"/>
          </a:xfrm>
          <a:prstGeom prst="roundRect">
            <a:avLst>
              <a:gd name="adj" fmla="val 6316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60120" y="452628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12 Ω ∥ ? = 4 Ω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45262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Ω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1/4 − 1/12 = 1/6.  Check (c) against rule 3: the answer had to be just under 1 Ω.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Kirchhoff’s voltage law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any closed loop, the algebraic sum of the voltages is zero.</a:t>
            </a:r>
            <a:endParaRPr lang="en-US" sz="1800" dirty="0"/>
          </a:p>
        </p:txBody>
      </p:sp>
      <p:pic>
        <p:nvPicPr>
          <p:cNvPr id="7" name="Image 0" descr="/home/claude/figs/kv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1663"/>
            <a:ext cx="6035040" cy="320611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949440" y="1828800"/>
            <a:ext cx="4480560" cy="822960"/>
          </a:xfrm>
          <a:prstGeom prst="roundRect">
            <a:avLst>
              <a:gd name="adj" fmla="val 6667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7086600" y="1828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∑ Vk = 0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949440" y="29260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one coulomb around the loop and back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gains it must give up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− V1 − V2 − V3 = 0 for the loop shown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5394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direction first — clockwise or counter-clockwise, both work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 rule, and resistors in series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60120" y="128016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into +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12801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rise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28016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+ V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40080" y="2423160"/>
            <a:ext cx="5486400" cy="960120"/>
          </a:xfrm>
          <a:prstGeom prst="roundRect">
            <a:avLst>
              <a:gd name="adj" fmla="val 5714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60120" y="242316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into −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2468880" y="24231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drop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663440" y="242316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− V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657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direction gives the same answer — what must not change is the rule you apply as you cross each part.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675120" y="1280160"/>
            <a:ext cx="4846320" cy="3291840"/>
          </a:xfrm>
          <a:prstGeom prst="roundRect">
            <a:avLst>
              <a:gd name="adj" fmla="val 1667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995160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series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6995160" y="214884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= IR1 + IR2 + IR3</a:t>
            </a:r>
            <a:endParaRPr lang="en-US" sz="2000" dirty="0"/>
          </a:p>
          <a:p>
            <a:pPr marL="0" indent="0" algn="l">
              <a:lnSpc>
                <a:spcPct val="118000"/>
              </a:lnSpc>
              <a:buNone/>
            </a:pPr>
            <a:endParaRPr lang="en-US" sz="20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 = R1 + R2 + R3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36576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CFC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current everywhere; the voltage is what divides.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voltage divider</a:t>
            </a:r>
            <a:endParaRPr lang="en-US" sz="2800" dirty="0"/>
          </a:p>
        </p:txBody>
      </p:sp>
      <p:pic>
        <p:nvPicPr>
          <p:cNvPr id="6" name="Image 0" descr="/home/claude/figs/vd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4572000" cy="30175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0" y="1371600"/>
            <a:ext cx="5852160" cy="868680"/>
          </a:xfrm>
          <a:prstGeom prst="roundRect">
            <a:avLst>
              <a:gd name="adj" fmla="val 6316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5806440" y="137160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Vout = Vs · R2 / (R1 + R2)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2468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 flows through both, so Vout = I·R2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fraction is just R2’s share of the total resistance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resistors must give half of Vs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Vout can never exceed Vs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669280" y="4754880"/>
            <a:ext cx="5852160" cy="1005840"/>
          </a:xfrm>
          <a:prstGeom prst="roundRect">
            <a:avLst>
              <a:gd name="adj" fmla="val 5455"/>
            </a:avLst>
          </a:prstGeom>
          <a:solidFill>
            <a:srgbClr val="F4F1EC"/>
          </a:solidFill>
          <a:ln w="9525">
            <a:solidFill>
              <a:srgbClr val="F4F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5943600" y="47548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Careful: this assumes nothing draws current from the middle node. Hang a load there and the ratio changes.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3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 across 1 kΩ + 2 kΩ + 3 kΩ: find I → 1.5 mA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Drops: 1.5 V, 3.0 V, 4.5 V — they sum to 9 V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Divider check on the 2 kΩ: 9 · 2k/6k = 3.0 V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9 V → 3 V with I ≤ 1 mA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3931920"/>
            <a:ext cx="6035040" cy="1828800"/>
          </a:xfrm>
          <a:prstGeom prst="roundRect">
            <a:avLst>
              <a:gd name="adj" fmla="val 3000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60120" y="393192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R2/(R1+R2) = 1/3, so R1 = 2R2.</a:t>
            </a:r>
            <a:endParaRPr lang="en-US" sz="1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total ≥ 9 kΩ.</a:t>
            </a:r>
            <a:endParaRPr lang="en-US" sz="1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6 kΩ and 3 kΩ (or any larger 2:1 pair).</a:t>
            </a:r>
            <a:endParaRPr lang="en-US" sz="1700" dirty="0"/>
          </a:p>
        </p:txBody>
      </p:sp>
      <p:pic>
        <p:nvPicPr>
          <p:cNvPr id="9" name="Image 0" descr="/home/claude/figs/series2_d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119497"/>
            <a:ext cx="4480560" cy="30762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Kirchhoff’s current law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43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is conserved and does not pile up at a junction, so at every node the currents entering equal the currents leaving.</a:t>
            </a:r>
            <a:endParaRPr lang="en-US" sz="1800" dirty="0"/>
          </a:p>
        </p:txBody>
      </p:sp>
      <p:pic>
        <p:nvPicPr>
          <p:cNvPr id="7" name="Image 0" descr="/home/claude/figs/kc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64080"/>
            <a:ext cx="6400800" cy="29870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98080" y="2194560"/>
            <a:ext cx="4023360" cy="868680"/>
          </a:xfrm>
          <a:prstGeom prst="roundRect">
            <a:avLst>
              <a:gd name="adj" fmla="val 6316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7635240" y="21945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∑ Iin = ∑ Iout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329184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with signs, the algebraic sum at a node is zero — but then you must commit to one direction as positive and keep it.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current divider</a:t>
            </a:r>
            <a:endParaRPr lang="en-US" sz="2800" dirty="0"/>
          </a:p>
        </p:txBody>
      </p:sp>
      <p:pic>
        <p:nvPicPr>
          <p:cNvPr id="6" name="Image 0" descr="/home/claude/figs/id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86154"/>
            <a:ext cx="5303520" cy="33942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17920" y="1463040"/>
            <a:ext cx="5303520" cy="868680"/>
          </a:xfrm>
          <a:prstGeom prst="roundRect">
            <a:avLst>
              <a:gd name="adj" fmla="val 6316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 txBox="1"/>
          <p:nvPr/>
        </p:nvSpPr>
        <p:spPr>
          <a:xfrm>
            <a:off x="6355080" y="1463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I1 = I · R2 / (R1 + R2)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217920" y="256032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branches see the same V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 = V/R1, I2 = V/R2, and they add to I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V and you get the formula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217920" y="4389120"/>
            <a:ext cx="5303520" cy="1188720"/>
          </a:xfrm>
          <a:prstGeom prst="roundRect">
            <a:avLst>
              <a:gd name="adj" fmla="val 4615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6492240" y="43891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numerator is the OTHER resistor. Current prefers the easier path, so the bigger resistance takes the smaller share.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4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 and 2 A flow in; 3 A flows out along a third wire.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5120640" cy="2926080"/>
          </a:xfrm>
          <a:prstGeom prst="roundRect">
            <a:avLst>
              <a:gd name="adj" fmla="val 1875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6012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74320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= 7 A, out so far = 3 A,</a:t>
            </a:r>
            <a:endParaRPr lang="en-US" sz="18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fourth wire carries</a:t>
            </a:r>
            <a:endParaRPr lang="en-US" sz="18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leaving the node.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400800" y="2011680"/>
            <a:ext cx="5120640" cy="2926080"/>
          </a:xfrm>
          <a:prstGeom prst="roundRect">
            <a:avLst>
              <a:gd name="adj" fmla="val 1875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72084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27432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+ 2 + 3 + I4 = 0 adds four currents as if they all flowed the same way.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“in” as positive: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+ 2 − 3 + I4 = 0 → I4 = −4 A, i.e. 4 A leaving.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collapse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V, a 4 Ω in series with 6 Ω ∥ 3 Ω.</a:t>
            </a:r>
            <a:endParaRPr lang="en-US" sz="1800" dirty="0"/>
          </a:p>
        </p:txBody>
      </p:sp>
      <p:pic>
        <p:nvPicPr>
          <p:cNvPr id="7" name="Image 0" descr="/home/claude/figs/reduc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07547"/>
            <a:ext cx="11247120" cy="23285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466344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822960" y="4663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∥ 3 = (6 · 3)/9 = 2 Ω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4297680" y="466344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 txBox="1"/>
          <p:nvPr/>
        </p:nvSpPr>
        <p:spPr>
          <a:xfrm>
            <a:off x="4480560" y="4663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 = 4 + 2 = 6 Ω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7955280" y="4663440"/>
            <a:ext cx="3383280" cy="914400"/>
          </a:xfrm>
          <a:prstGeom prst="roundRect">
            <a:avLst>
              <a:gd name="adj" fmla="val 6000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 txBox="1"/>
          <p:nvPr/>
        </p:nvSpPr>
        <p:spPr>
          <a:xfrm>
            <a:off x="8138160" y="4663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12 / 6 = 2 A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60120" y="13258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Ω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3108960" y="13258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 A flows through it → drops 2·4 = 8 V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4231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960120" y="2423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pair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108960" y="2423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12 − 8 = 4 V, across both branches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40080" y="35204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60120" y="35204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Ω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108960" y="3520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 = 0.667 A        (divider: 2·3/9 = 0.667 A)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40080" y="461772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60120" y="4617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Ω</a:t>
            </a:r>
            <a:endParaRPr lang="en-US" sz="1900" dirty="0"/>
          </a:p>
        </p:txBody>
      </p:sp>
      <p:sp>
        <p:nvSpPr>
          <p:cNvPr id="17" name="Text 14"/>
          <p:cNvSpPr txBox="1"/>
          <p:nvPr/>
        </p:nvSpPr>
        <p:spPr>
          <a:xfrm>
            <a:off x="3108960" y="46177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 = 1.333 A       smaller R, larger current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Power:  2² · 4 = 16 W     4²/6 = 2.67 W     4²/3 = 5.33 W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check three ways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05840" y="146304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KCL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2743200" y="14630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0.667 + 1.333 = 2 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146304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currents add to the total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88036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1005840" y="288036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KVL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288036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12 − 8 − 4 = 0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288036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cancel the source around the loop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40080" y="429768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1005840" y="4297680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2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2743200" y="429768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0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+ 2.67 + 5.33 = 24 W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0" y="429768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equals 12 V × 2 A from the source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three are nearly free once you have the numbers — and together they catch almost every arithmetic error.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5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1430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V, an 8 Ω in series with 6 Ω ∥ 12 Ω.</a:t>
            </a:r>
            <a:endParaRPr lang="en-US" sz="1800" dirty="0"/>
          </a:p>
        </p:txBody>
      </p:sp>
      <p:pic>
        <p:nvPicPr>
          <p:cNvPr id="7" name="Image 0" descr="/home/claude/figs/reduce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54" y="1645920"/>
            <a:ext cx="11041811" cy="2286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420624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 and the total current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across the 8 Ω and across the pair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currents — by Ohm’s law and by the divider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 each resistor, then all three checks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675120" y="4206240"/>
            <a:ext cx="4846320" cy="1828800"/>
          </a:xfrm>
          <a:prstGeom prst="roundRect">
            <a:avLst>
              <a:gd name="adj" fmla="val 3000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6949440" y="420624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 = 12 Ω, I = 2 A</a:t>
            </a:r>
            <a:endParaRPr lang="en-US" sz="1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V and 8 V</a:t>
            </a:r>
            <a:endParaRPr lang="en-US" sz="1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1.333 A and 0.667 A</a:t>
            </a:r>
            <a:endParaRPr lang="en-US" sz="1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+ 10.67 + 5.33 = 48 W ✓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breadboard</a:t>
            </a:r>
            <a:endParaRPr lang="en-US" sz="2800" dirty="0"/>
          </a:p>
        </p:txBody>
      </p:sp>
      <p:pic>
        <p:nvPicPr>
          <p:cNvPr id="6" name="Image 0" descr="/home/claude/figs/bread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91310"/>
            <a:ext cx="4663440" cy="38240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03520" y="1371600"/>
            <a:ext cx="6217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main area, each strip of five holes is one node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rails are one node each — but connected to nothing until you wire them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gutter separates the halves; holes facing each other are not connected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303520" y="3931920"/>
            <a:ext cx="6217920" cy="1828800"/>
          </a:xfrm>
          <a:prstGeom prst="roundRect">
            <a:avLst>
              <a:gd name="adj" fmla="val 3000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 txBox="1"/>
          <p:nvPr/>
        </p:nvSpPr>
        <p:spPr>
          <a:xfrm>
            <a:off x="5577840" y="393192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modes eat most of your debugging time:</a:t>
            </a:r>
            <a:endParaRPr lang="en-US" sz="15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both legs of one part in the same five-hole group — you shorted it out</a:t>
            </a:r>
            <a:endParaRPr lang="en-US" sz="15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assuming the rails are live when no wire runs to them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6 — answers</a:t>
            </a:r>
            <a:endParaRPr lang="en-US" sz="2800" dirty="0"/>
          </a:p>
        </p:txBody>
      </p:sp>
      <p:pic>
        <p:nvPicPr>
          <p:cNvPr id="6" name="Image 0" descr="/home/claude/figs/breadboard_w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91310"/>
            <a:ext cx="4663440" cy="382402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30352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13716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— both legs share the column-3 node and the column-8 node. Different rows are irrelevant.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303520" y="2514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25146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a8 and f8 are in opposite halves, split by the gutter.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30352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(c)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943600" y="36576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across that resistor: b6 and e6 are the same node.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303520" y="4800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(d)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4800600"/>
            <a:ext cx="5577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rail into column 3, column 8 out to the − rail — and wire the rails to the supply.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3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52960" cy="6949440"/>
          </a:xfrm>
          <a:prstGeom prst="rect">
            <a:avLst/>
          </a:prstGeom>
          <a:solidFill>
            <a:srgbClr val="1F2328"/>
          </a:solidFill>
          <a:ln w="12700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2377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834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switches to Boolean algebra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switches, two functions</a:t>
            </a:r>
            <a:endParaRPr lang="en-US" sz="2800" dirty="0"/>
          </a:p>
        </p:txBody>
      </p:sp>
      <p:pic>
        <p:nvPicPr>
          <p:cNvPr id="6" name="Image 0" descr="/home/claude/figs/switch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1308"/>
            <a:ext cx="6949440" cy="33009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98080" y="13716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1 for closed and 0 for open, 1 for lamp on and 0 for off — and the two circuits become two truth tables.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680960" y="2926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641080" y="2926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9601200" y="2926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0561320" y="2926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768096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864108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960120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0561320" y="3383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864108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960120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0561320" y="3840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6"/>
          <p:cNvSpPr txBox="1"/>
          <p:nvPr/>
        </p:nvSpPr>
        <p:spPr>
          <a:xfrm>
            <a:off x="7680960" y="4297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7"/>
          <p:cNvSpPr txBox="1"/>
          <p:nvPr/>
        </p:nvSpPr>
        <p:spPr>
          <a:xfrm>
            <a:off x="8641080" y="4297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9601200" y="4297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10561320" y="4297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680960" y="4754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8641080" y="4754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9601200" y="4754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3"/>
          <p:cNvSpPr txBox="1"/>
          <p:nvPr/>
        </p:nvSpPr>
        <p:spPr>
          <a:xfrm>
            <a:off x="10561320" y="47548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4"/>
          <p:cNvSpPr txBox="1"/>
          <p:nvPr/>
        </p:nvSpPr>
        <p:spPr>
          <a:xfrm>
            <a:off x="640080" y="5120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wires have not gone anywhere — we have simply stopped writing volts and amps, because only two states matter.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Axioms and single-variable theorems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97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these slides x′ means NOT x  (the handout uses an overbar).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600200"/>
            <a:ext cx="5212080" cy="4023360"/>
          </a:xfrm>
          <a:prstGeom prst="roundRect">
            <a:avLst>
              <a:gd name="adj" fmla="val 1364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6012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Axioms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1a  0 · 0 = 0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1b  1 + 1 = 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2a  1 · 1 = 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2b  0 + 0 = 0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3a  0 · 1 = 0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 1 + 0 = 1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96012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4a  x = 0 → x′ = 1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38328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4b  x = 1 → x′ = 0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09360" y="1600200"/>
            <a:ext cx="5212080" cy="4023360"/>
          </a:xfrm>
          <a:prstGeom prst="roundRect">
            <a:avLst>
              <a:gd name="adj" fmla="val 1364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6294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Single-variable theorems</a:t>
            </a:r>
            <a:endParaRPr lang="en-US" sz="1900" dirty="0"/>
          </a:p>
        </p:txBody>
      </p:sp>
      <p:sp>
        <p:nvSpPr>
          <p:cNvPr id="19" name="Text 16"/>
          <p:cNvSpPr txBox="1"/>
          <p:nvPr/>
        </p:nvSpPr>
        <p:spPr>
          <a:xfrm>
            <a:off x="662940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5a  x · 0 = 0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5b  x + 1 = 1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62940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6a  x · 1 = x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052560" y="2971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6b  x + 0 = x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62940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7a  x · x = x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9052560" y="3566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7b  x + x = x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62940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8a  x · x′ = 0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9052560" y="4160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8b  x + x′ = 1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629400" y="4754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  (x′)′ = x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named theorems, and duality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2344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2344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x·y = y·x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234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Commutative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80136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80136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x(yz) = (xy)z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18013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236829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236829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x(y+z) = xy + xz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236829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Distributive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935224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293522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+ xy = x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0" y="293522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50215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5021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 + xy′ = x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0" y="350215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0690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280160" y="4069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(x·y)′ = x′ + y′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4069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DeMorgan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463600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280160" y="46360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+ x′y = x + y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0" y="463600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5202936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520293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xy + yz + x′z = xy + x′z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0" y="52029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7680960" y="1234440"/>
            <a:ext cx="3840480" cy="3840480"/>
          </a:xfrm>
          <a:prstGeom prst="roundRect">
            <a:avLst>
              <a:gd name="adj" fmla="val 1429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 txBox="1"/>
          <p:nvPr/>
        </p:nvSpPr>
        <p:spPr>
          <a:xfrm>
            <a:off x="8001000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Duality</a:t>
            </a:r>
            <a:endParaRPr lang="en-US" sz="2100" dirty="0"/>
          </a:p>
        </p:txBody>
      </p:sp>
      <p:sp>
        <p:nvSpPr>
          <p:cNvPr id="32" name="Text 29"/>
          <p:cNvSpPr txBox="1"/>
          <p:nvPr/>
        </p:nvSpPr>
        <p:spPr>
          <a:xfrm>
            <a:off x="8001000" y="214884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every · with +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every 0 with 1,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true identity becomes another true identity.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why they come in a / b pairs — learn one of each.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58521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above has a dual (the b version) not shown — write two of them yourself.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7 — name the theorem you used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46304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14400" y="14630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 x(x + y)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4630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     (13b, absorption)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256032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914400" y="25603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  x + x′y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25603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 + y     (16a)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365760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14400" y="36576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(c)  dual of  x(y+z) = xy + xz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36576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yz = (x+y)(x+z)     (12b)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40080" y="475488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914400" y="4754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(d)  xy + xy′ + x′y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47548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x + y     (14a then 16a)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 has no counterpart in ordinary arithmetic — addition does not distribute over multiplication for numbers.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Precedence: NOT, AND, OR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1005840" y="128016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 ›  AND  ›  OR          — when in doubt, write the parentheses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74320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yz  means  x + (yz)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x′y  means  (x′)y, not (xy)′</a:t>
            </a:r>
            <a:endParaRPr lang="en-US" sz="17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bar is its own grouping symbol: everything under one bar is complemented together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675120" y="2743200"/>
            <a:ext cx="4846320" cy="2651760"/>
          </a:xfrm>
          <a:prstGeom prst="roundRect">
            <a:avLst>
              <a:gd name="adj" fmla="val 2069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995160" y="2971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8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352044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 x + yz  =  (x+y)z ?</a:t>
            </a:r>
            <a:endParaRPr lang="en-US" sz="1700" dirty="0"/>
          </a:p>
          <a:p>
            <a:pPr marL="0" indent="0" algn="l">
              <a:lnSpc>
                <a:spcPct val="118000"/>
              </a:lnSpc>
              <a:buNone/>
            </a:pPr>
            <a:endParaRPr lang="en-US" sz="1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Take x = 1, y = 0, z = 0:</a:t>
            </a:r>
            <a:endParaRPr lang="en-US" sz="17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= 1, right = 0.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tables and DeMorgan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325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325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2468880" y="1325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x·y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325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(x·y)′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297680" y="1325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x′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1325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y′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1325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x′+y′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18288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18288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2468880" y="18288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383280" y="18288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297680" y="18288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212080" y="18288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126480" y="18288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23317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1554480" y="23317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2468880" y="23317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383280" y="23317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297680" y="23317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5212080" y="23317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126480" y="23317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64008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55448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246888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338328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521208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6126480" y="283464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640080" y="3337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1554480" y="3337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2468880" y="3337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3383280" y="3337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4297680" y="3337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5212080" y="3337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6126480" y="3337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64008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two columns agree in every row — that is the proof.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7498080" y="1280160"/>
            <a:ext cx="4023360" cy="3108960"/>
          </a:xfrm>
          <a:prstGeom prst="roundRect">
            <a:avLst>
              <a:gd name="adj" fmla="val 1765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 txBox="1"/>
          <p:nvPr/>
        </p:nvSpPr>
        <p:spPr>
          <a:xfrm>
            <a:off x="7818120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words</a:t>
            </a:r>
            <a:endParaRPr lang="en-US" sz="1900" dirty="0"/>
          </a:p>
        </p:txBody>
      </p:sp>
      <p:sp>
        <p:nvSpPr>
          <p:cNvPr id="44" name="Text 41"/>
          <p:cNvSpPr txBox="1"/>
          <p:nvPr/>
        </p:nvSpPr>
        <p:spPr>
          <a:xfrm>
            <a:off x="7818120" y="21031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complement of a product is the sum of the complements — and vice versa.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AND with an inverted output is an OR with inverted inputs.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40080" y="46634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 txBox="1"/>
          <p:nvPr/>
        </p:nvSpPr>
        <p:spPr>
          <a:xfrm>
            <a:off x="960120" y="46634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Exhaustive but exponential: n variables need 2ⁿ rows — 8 rows at three variables, 64 at six. That is the motivation for the algebra.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simplify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914400" y="1664208"/>
            <a:ext cx="457200" cy="457200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914400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554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out first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15544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xx′ then vanishes (8a) and y + y′ collapses to 1 (8b)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26060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14400" y="2898648"/>
            <a:ext cx="457200" cy="457200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1440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663440" y="278892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distributive law to expose exactly those pairs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40080" y="384048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14400" y="4133088"/>
            <a:ext cx="457200" cy="457200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91440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023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 term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4663440" y="402336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x = x used backwards — one term can pair with two neighbours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40080" y="507492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914400" y="5367528"/>
            <a:ext cx="457200" cy="457200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914400" y="5367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5257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both sides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4663440" y="5257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an identity, meet in the middle rather than transform one side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10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2801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(x1 + x3)(x1′ + x3′)  =  x1·x3′ + x1′·x3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560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LHS = (x1+x3)x1′ + (x1+x3)x3′          (12a)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32186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x1x1′ + x3x1′ + x1x3′ + x3x3′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387705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0 + x3x1′ + x1x3′ + 0                  (8a)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453542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x1x3′ + x1′x3                            (6b)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40080" y="539496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60120" y="53949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XOR — true exactly when the two inputs differ.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11 — meet in the middle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280160"/>
            <a:ext cx="5303520" cy="4023360"/>
          </a:xfrm>
          <a:prstGeom prst="roundRect">
            <a:avLst>
              <a:gd name="adj" fmla="val 1364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6012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LHS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0116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x1x3′ + x2′x3′ + x1x3 + x2′x3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x1(x3′+x3) + x2′(x3′+x3)      (12a)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x1(1) + x2′(1)                        (8b)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x1 + x2′                                  (6a)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92240" y="1280160"/>
            <a:ext cx="5029200" cy="4023360"/>
          </a:xfrm>
          <a:prstGeom prst="roundRect">
            <a:avLst>
              <a:gd name="adj" fmla="val 1364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81228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A832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RHS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2011680"/>
            <a:ext cx="4389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x1′x2′ + x1x2 + x1x2′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x1′x2′ + x1(x2+x2′)            (12a)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x1′x2′ + x1                          (8b, 6a)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x1 + x2′                              (16a)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800" b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land on x1 + x2′, so the identity holds.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12 — the trick worth remembering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2344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f(x1, x2) = x1x2 + x1′x2′ + x1′x2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24688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960120" y="24688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the last term (7b):   f = x1x2 + x1′x2 + x1′x2′ + x1′x2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35661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960120" y="356616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each pair:   (x1 + x1′)x2 + x1′(x2′ + x2)          (12a)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0080" y="46634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4F1EC"/>
          </a:solidFill>
          <a:ln w="9525">
            <a:solidFill>
              <a:srgbClr val="D8D4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960120" y="46634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i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bracket is 1 (8b):   f = x2 + x1′                                  (6a)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 plus itself is itself — so you may copy a term as often as you like, and let each copy pair with a different neighbour.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NAND is a universal gate</a:t>
            </a:r>
            <a:endParaRPr lang="en-US" sz="2800" dirty="0"/>
          </a:p>
        </p:txBody>
      </p:sp>
      <p:pic>
        <p:nvPicPr>
          <p:cNvPr id="6" name="Image 0" descr="/home/claude/figs/n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4830"/>
            <a:ext cx="5760720" cy="399409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83680" y="13716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7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function can be written as a sum of products — which needs only NOT, AND and OR.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583680" y="237744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tie the two inputs together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AND: a NAND, then that inverter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invert both inputs, then NAND — DeMorgan read backwards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583680" y="429768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1F2328"/>
          </a:solidFill>
          <a:ln w="9525">
            <a:solidFill>
              <a:srgbClr val="1F23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 txBox="1"/>
          <p:nvPr/>
        </p:nvSpPr>
        <p:spPr>
          <a:xfrm>
            <a:off x="6858000" y="429768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CMOS the NAND is cheaper and faster than the AND — so “universal” is a manufacturing fact, not just a theorem.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40080" y="384048"/>
            <a:ext cx="420624" cy="420624"/>
          </a:xfrm>
          <a:prstGeom prst="ellipse">
            <a:avLst/>
          </a:prstGeom>
          <a:solidFill>
            <a:srgbClr val="A832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64008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07008" y="329184"/>
            <a:ext cx="10341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13 — XOR from four NANDs</a:t>
            </a:r>
            <a:endParaRPr lang="en-US" sz="2800" dirty="0"/>
          </a:p>
        </p:txBody>
      </p:sp>
      <p:pic>
        <p:nvPicPr>
          <p:cNvPr id="6" name="Image 0" descr="/home/claude/figs/xor_n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22476"/>
            <a:ext cx="7863840" cy="35387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0" y="164592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 a·b′ + a′·b  and apply DeMorgan.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5603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n = (a·b)′, the output is</a:t>
            </a: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endParaRPr lang="en-US" sz="16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600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[(a·n)′ · (b·n)′]′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914400" y="5029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600" i="1" dirty="0">
                <a:solidFill>
                  <a:srgbClr val="6B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 is universal too: NOT = NOR with tied inputs, OR = NOR then that inverter, AND = invert both inputs then NOR.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3412</Words>
  <Application>Microsoft Macintosh PowerPoint</Application>
  <PresentationFormat>Widescreen</PresentationFormat>
  <Paragraphs>489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cosmorangeyc@gmail.com</cp:lastModifiedBy>
  <cp:revision>6</cp:revision>
  <dcterms:created xsi:type="dcterms:W3CDTF">2026-09-13T21:17:43Z</dcterms:created>
  <dcterms:modified xsi:type="dcterms:W3CDTF">2026-09-14T15:30:56Z</dcterms:modified>
</cp:coreProperties>
</file>