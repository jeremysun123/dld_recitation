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200" y="17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4650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is all Boolean algebra, and we have eighty minutes. We start from two switch circuits, get to the six gates, go through the theorems, and finish by designing circuits from truth tables and converting them to NAND or NOR. The handout follows the same order. Each section ends with a problem, and we work through seven of them, with the answers on the slide right after each problem. Problem 8 stays in the handout for you to do on your own.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circuits built from the same two switches and one lamp. In the series circuit the current has only one path, so the lamp lights only when both A and B are closed. In the parallel circuit there are two paths, so the lamp lights when either switch is closed. Now write 1 for a closed switch and 0 for an open one, 1 for the lamp on and 0 for off, and list all four combinations. Take one row: A = 0, B = 1 means A is open and B is closed, so the series lamp is off and the parallel lamp is on. Now read whole columns. The series column is 1 only in the last row, where both inputs are 1: that is AND. The parallel column is 1 whenever at least one input is 1: that is OR. Nothing physical changed. We only stopped writing voltages and currents, because a digital circuit cares about just two states. Everything today is algebra on these two symbols.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gates from lecture. The fourth column says each gate in words, and the last column is its truth table written on one line: the output for A B equal to 0 0, then 0 1, then 1 0, then 1 1. Read the last column down the list. NOT only uses A, so it gives 1 1 0 0 and ignores B. AND is 0 0 0 1: only the last case, where both inputs are 1. OR is 0 1 1 1: everything except the first case. XOR is 0 1 1 0: the two middle cases, where the inputs differ. The last two are the first two inverted. NAND is 1 1 1 0, the AND row with every bit flipped, and NOR is 1 0 0 0, the OR row flipped. So four of the six gates come from AND and OR by inverting the output.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handout and the textbook write NOT as a bar over the letter. These slides use a prime, which is also what the LOGIC boxes on the course pages accept. Both mean the same thing. With the prime, complementing a group needs parentheses, (AB) prime; the bar groups by itself, and everything under one bar is complemented together. Here is the trap. Two short bars and one long bar are different functions. Take A = 1, B = 0. Two short bars give 0 times 1, which is 0. One long bar gives NOT of 0, which is 1. Where a bar breaks is part of the expression; copy one bar wrong and you have a different function. Without parentheses, NOT goes first, then AND, then OR, NAO for short. So x + yz means x + (yz), and in x′y the prime applies only to x. When in doubt, write the parentheses; an extra pair never costs a point.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1 is about the notation from this section. Part a switches from bars to primes, parts b and c are about the order of operations, and part d is the bar trap we just saw.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With primes this is A′B + AB′. It is 1 when A is 0 and B is 1, or when A is 1 and B is 0, so exactly when the inputs differ: that is XOR. (b) NOT first, then AND, then OR: ((x′)·y) + z. (c) They are not the same. Take x = 1, y = 0, z = 0: the first gives 1 and the second gives 0. To show that two functions differ, one row is enough; to show they are equal, every row has to agree. (d) Not the same either. At x = 1, y = 0, x′·y′ is 0 but (xy)′ is 1. The correct expansion is DeMorgan, which comes in section 4: (xy)′ = x′ + 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n inputs there are 2 to the n rows, because each input can be 0 or 1, and every extra input doubles the count. Always list the rows in binary counting order, so no row is skipped or repeated. For three inputs the columns follow a pattern: A is four 0s then four 1s, B alternates in pairs, and C alternates every row. To evaluate an expression, give each sub-expression its own column. Take A + BC + A′C′ from lecture. BC is 1 only when B and C are both 1: rows 011 and 111. A′C′ is 1 only when A and C are both 0: rows 000 and 010. Then OR the three columns: the output is 1 wherever A, BC or A′C′ is 1. Two shortcuts save time. In an OR, one term at 1 is enough, so every row with A = 1 is 1 without looking at B or C. In an AND, one factor at 0 is enough. Fill in what the shortcuts give you, then evaluate only the rows that are left. A truth table can prove any identity: compute both sides and compare the columns. It always works, but the rows double with every input, and six inputs already mean 64 rows. That is why we need the algebra in the next section.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2 practises truth tables: two expressions to fill in, and a question about how many rows an identity check needs.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Here are the two sub-expression columns. AB is 1 on rows 110 and 111. B′C′ is 1 where B and C are both 0, rows 000 and 100. OR them, and F reads 1 0 0 0 1 0 1 1 down the table. This is the in-class table from lecture. (b) A + B is 0 on rows 000 and 001, so G is 0 on those two rows whatever the second factor does. A′ + C is 0 when A is 1 and C is 0, rows 100 and 110. Multiply the two columns and G reads 0 0 1 1 0 1 0 1. (c) A three-variable identity needs 8 rows, and a six-variable one needs 64.</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Boolean algebra is built like Euclidean geometry: a few axioms, and everything else is derived from them. Boole published it as pure mathematics in the 1840s and 1850s, and it met switching circuits only in Claude Shannon’s 1938 master’s thesis. The axioms just restate the AND and OR truth tables. The single-variable theorems are easier to remember as wiring, which is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theorems 5 to 8 as wiring. An AND gate with one input tied to 1 passes the other input straight through; that is 6a. Tie that input to 0 and the output is stuck at 0; that is 5a. OR is the mirror image: a 1 sticks the output at 1, and a 0 passes the other input through. A signal together with its own complement always gives a constant. This is also the rule for the lab: tie a spare AND input to 1 and a spare OR input to 0. Never leave an input floating; a floating input has no defined level, and the circuit will work only some of the time. The textbook table has no XOR, but lecture gave these four identities, and each one follows from the definition A ⊕ B = A′B + AB′. The useful one is A ⊕ 1 = A′. Treat one input as a control: when it is 1, the gate inverts the other input; when it is 0, the input passes through. So an XOR is an inverter you can switch on and off.</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two- and three-variable theorems, for reference during the problems. The ones you will use most are 14a and 16a, and DeMorgan, number 15, gets its own section next. Every theorem comes in an a and a b version. Swap AND with OR, and 0 with 1, and a true identity becomes another true identity, called its dual. So you only need to learn half the table.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3 uses the theorem tables. The rule for this problem is that every step names the theorem it uses.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x(x + y) = x directly by absorption, 13b; or expand to xx + xy = x + xy by 7a, then use 13a. (b) x + x′y = x + y by 16a. (c) The dual of the distributive law is x + yz = (x + y)(x + z), which is 12b. (d) 14a merges xy + xy′ into x, leaving x + x′y, which is x + y by 16a. (e) Substitute into the XOR definition. A ⊕ 1 = A′·1 + A·1′; the prime of 1 is 0 by 4b, so this is A′·1 + A·0, which is A′ by 6a, 5a and 6b. For the second, A ⊕ A′ = A′·A′ + A·A using 9; that is A′ + A by 7a, and 1 by 8b.</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matters most today. Here is 15a proved with a truth table. Look at the last two columns, (xy)′ and x′ + y′: they agree on every row, so the identity holds. In one sentence: the complement of a product is the sum of the complements, and the complement of a sum is the product of the complements. It works for any number of variables, and with nested complements you start from the outermost one and work inward. This is the most common algebra mistake in this course. When you split a complement, the operator must swap at the same time. Check with A = 1, B = 0: (AB)′ is 1 and A′ + B′ is 1, but A′B′ is 0. Splitting the complement without swapping the operator gives a different function.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what a bubble is. It is the small circle drawn on a gate symbol, and it marks a complement at that terminal. NAND and NOR carry it on the output, which is why they are AND and OR with the output inverted. A bubble drawn on an input means that input is inverted before it enters the gate, so it does the same job as an inverter in front of the gate. In a circuit, DeMorgan means a bubble can move through a gate. Push the output bubble of a NAND back onto its two inputs, and the AND shape becomes an OR shape: a NAND is an OR with inverted inputs. The same move shows that a NOR is an AND with inverted inputs. The general rule: moving bubbles across a gate swaps AND and OR, and flips every terminal, so a bubble appears where there was none and disappears where there was one. Section 7 uses exactly this rule to convert whole circuits.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4 practises DeMorgan in algebra and in gates. Part a is the truth table proof of 15b. Part b asks you to keep splitting the complement until no bar covers more than one letter, naming the theorem at each step. Part c goes to the circuit: draw an AND gate with an inverter on each input, write down the expression it computes, and find the single gate with the same truth table. Then the same for an OR gate. Part d is one complement, done with DeMorgan twice, and the answer should be two sums multiplied together.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The table has one column for each side. (x + y)′ reads 1, 0, 0, 0, and so does x′y′, so the two sides agree on every row and 15b holds. (b) Start at the outermost complement, which covers a product, so 15a turns it into a sum: ((A + B′)C)′ = (A + B′)′ + C′. The first part still has a complement over a sum, so 15b turns it into a product: A′·(B′)′. Finally (B′)′ is B by theorem 9, and the answer is A′B + C′. (c) With an inverter on each input, the AND gate computes A′B′. By 15b that equals (A + B)′, which is the NOR truth table. The OR gate with inverted inputs computes A′ + B′, which by 15a equals (AB)′: the NAND truth table. These are the two equivalences in the bubble figure. (d) The complement covers a sum of two products, so 15b splits it into a product of two complements: (AB)′·(B′C′)′. Then 15a opens each one: (AB)′ = A′ + B′, and (B′C′)′ = (B′)′ + (C′)′ = B + C by theorem 9. So F′ = (A′ + B′)(B + C), a product of two sums, which is where section 6 begins.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Minimising means fewer terms and fewer literals, so fewer gates and fewer gate inputs. Simplifying by algebra is a search, not a recipe, but these four moves cover most cases. Multiply out, so that terms like xx′ vanish. Factor, to expose pairs like y + y′ that collapse to 1. The third move is the one people never think of: x + x = x read backwards. You can write a term twice so it can combine with two different neighbours; we use it in Problem 5d. And to prove an identity, reduce each side separately to the same expression. Learn to recognise these two by shape. 14a: two terms identical except for one variable, plain in one and primed in the other; merge them and that variable disappears. 16a: if x is already a term, the x′ condition in another term is redundant, because whenever it matters, x already covers the case.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5 uses the four moves: an identity proved by multiplying out, one proved by reducing both sides, and a minimisation.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Expand with 12a into four terms: x₁x₁′ + x₃x₁′ + x₁x₃′ + x₃x₃′. The first and last are 0 by 8a, leaving x₁x₃′ + x₁′x₃. (b) That is XOR: true exactly when the two inputs differ. (c) This one shows the reduce-both-sides move. On the left, pair the terms: x₁(x₃′ + x₃) + x₂′(x₃′ + x₃); each bracket is 1, so the left side is x₁ + x₂′. On the right, x₁x₂ + x₁x₂′ = x₁, and x₁ + x₁′x₂′ = x₁ + x₂′ by 16a. Both sides equal x₁ + x₂′. (d) Two routes give the same answer. With 14a, x₁x₂ + x₁′x₂ = x₂, and then 16a turns x₂ + x₂′x₁′ into x₂ + x₁′. Or duplicate x₁′x₂ by 7b and pair it with each neighbour. Either way, f is 0 only at x₁ = 1, x₂ = 0, which matches the truth table.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Until now we went from an expression to its truth table. Design runs the other way: we know what the output must be for every input, and we need an expression, and then a circuit. Every function can be written straight from its table in two standard forms. Sum of products: for each row where the output is 1, write the product that is 1 on that row and nowhere else, then OR the products. Each product switches on for exactly one row, so the sum is 1 on exactly the 1-rows. Product of sums is the mirror image: it is built from the 0-rows, with the literal rule reversed.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table from lecture. The 1-rows are 00 and 11, so the SOP is A′B′ + AB. The 0-rows are 01 and 10, so the POS is (A + B′)(A′ + B). Both describe XNOR, which is 1 when the inputs are equal. They are two different circuits for the same function: SOP is ANDs feeding an OR, POS is ORs feeding an AND. The literal rules for SOP and POS are opposite, and they are easy to mix up. The fix is a habit: plug each term back into its own row. A product term must come out 1 on its row: on row 00, A′B′ is 1 times 1. A sum term must come out 0 on its row: on row 01, A + B′ is 0 plus 0. A note on lecture slides 21 and 24: the formulas there do not match the schematics. The schematics are AB + B′C and (A + B)(B′ + C), and both printed formulas reduce to just B. Go by the schematics; section 7 uses AB + B′C. A note on lecture slide 34: it writes this SOP with one long bar over AB. It should be a separate complement on each letter. One bar over AB is NAND, which is 1 on three rows.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SOP needs one term per 1, and POS one term per 0, so write whichever list is shorter. This table from lecture has six 1s and only two 0s. The POS has two terms, (A + B + C′)(A′ + B + C′), and they differ only in A, so 14b collapses them to B + C′. Another way is through the complement: F′ is 1 on the two 0-rows, so F′ = A′B′C + AB′C = B′C, and DeMorgan gives F = B + C′. Check against the table: F is 0 only when B is 0 and C is 1, exactly rows 001 and 101. The LOGIC box on lecture slide 35 shows a formula that does not match this table; the correct answer is B + C′.</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6 practises SOP and POS: XOR in both forms, a full SOP simplified back, and one function where inverse logic is the quick route.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For XOR the 1-rows are 01 and 10, so the SOP is A′B + AB′. The 0-rows are 00 and 11, so the POS is (A + B)(A′ + B′). The SOP needs two inverters, two ANDs and one OR. These two expressions are exactly the two sides of Problem 5a. (b) The 1-rows are 000, 100, 110 and 111, giving four products. The first pair differs only in A, so 14a merges it into B′C′; the second pair differs only in C and merges into AB. We are back at AB + B′C′. The full SOP is easy to write but long; simplifying shrinks the circuit a lot. (c) There are only two 0s, so use the complement: F′ = A′BC + ABC = BC, and F = (BC)′ = B′ + C′. That is a single NAND of B and C; A does not matter.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pictures, three formulas, one gate type. Top row: take one NAND and tie its two inputs together, so both inputs see a. Since a·a = a by 7a, the gate computes (a·a)′, which is a′. That is an inverter. Middle row: the first NAND gives (ab)′, and the second NAND, with its inputs tied, inverts that again. By 9 the two complements cancel, so the output is ab: a plain AND. Bottom row: invert a and b first, each with a tied NAND, then NAND the two results. That is (a′·b′)′, and 15a with 9 turns it into a + b: an OR. This is DeMorgan read backwards. Why this matters: every function can be written as a sum of products, which needs only NOT, AND and OR. All three are on this slide, built from NANDs, so NANDs alone can build any circuit. And the chip you use in the lab, the 74LS00, holds four of them.</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conversion done on the formula instead of the picture. Start with F = AB + B′C. Step two: complement the whole thing twice. Theorem 9 says two complements cancel, so the function is untouched: F = ((AB + B′C)′)′. Step three: look at the inner complement. It sits over a sum, so 15b turns it into a product of complements: (AB + B′C)′ = (AB)′·(B′C)′. Putting that back gives F = ((AB)′·(B′C)′)′. Step five is the whole point: every complement in that formula is one NAND. (AB)′ is a NAND with inputs A and B. (B′C)′ is a NAND with inputs B′ and C. The outer complement of the product of those two is a third NAND fed by the first two. Three NANDs, plus one more with tied inputs to make B′, and the picture on the right is exactly that formula.</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Those two steps, complement twice and then split with DeMorgan, always end the same way, so you do not have to redo the algebra every time. The recipe is: in a two-level AND-OR circuit, replace every gate with a NAND and leave the wiring alone. A product of sums works the same way. Complement (A + B)(B′ + C) twice, and 15a splits the inner complement of a product into a sum of complements: ((A + B)′ + (B′ + C)′)′. Now every complement is over a sum, and a complemented sum is a NOR, so an OR-AND circuit becomes all NORs. Counting gates for AB + B′C: two NANDs for the two products, one NAND for the sum, and one more with its inputs tied to make B′. Four 2-input NANDs, so the whole circuit fits in one 74LS00. One thing to watch. The recipe assumes every input of the OR comes from an AND. If a single letter goes straight into the OR, like C in AB + C, there is no first-level gate to invert it. Run the same two steps and you get AB + C = ((AB)′·C′)′: C has to enter the last NAND already inverted.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7 builds on this section: XOR from NAND gates, NOR as a universal gate, and a POS circuit converted to NOR-NOR. Part a is the hardest problem today; the key is the output of the first gate, which I will call 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it gate by gate. Call the first gate’s output n, so n = (ab)′. The second gate takes a and n, the third takes b and n, and the fourth combines those two, which gives F = ((an)′·(bn)′)′. Open the outer complement with 15a and 9: the complement of a product is the sum of the complements, and the double complements cancel, so F = an + bn. Now substitute n. By 15a, n = a′ + b′. Then an = a(a′ + b′), which multiplies out to aa′ + ab′; the first term is 0 by 8a, so an = ab′. In the same way bn = a′b. Adding them gives F = ab′ + a′b, which is 1 when a is 1 and b is 0, or a is 0 and b is 1: exactly when the inputs differ. That is XOR, built from four NANDs.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mirrors what we did with NAND. Tie the inputs of a NOR and you get (a + a)′, which is a′ by 7b: an inverter. A NOR followed by that inverter is an OR, because the second complement cancels the first. And inverting both inputs before a NOR gives (a′ + b′)′, which is ab by 15b and 9: an AND. Part c is the POS version of the trick from this section. Complement F twice, which changes nothing by 9. The inner complement sits over a product, so 15a splits it into a sum: F = ((A + B)′ + (B′ + C)′)′. Now read the complements as gates. Each complement of a sum is a NOR, so (A + B)′ is one NOR, (B′ + C)′ is another, and the outer complement of their sum is a third NOR fed by the first two. Add a fourth NOR with its inputs tied to make B′, and the whole circuit is four 2-input NORs: one 74LS02 chip.</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idea here: start from the formula. A 3-input OR is A + B + C, and 11b says that is (A + B) + C. The grouping does not change the function, so you can wire two 2-input ORs in a chain. For four inputs, 11a gives ABCD = ((AB)C)D, and also (AB)(CD). Those two groupings are the two pictures. ((AB)C)D is the chain and (AB)(CD) is the tree. Both use three gates, which is n − 1, but in the tree every input is two gates away from the output, while in the chain A and B are three gates away. Same cost, less delay. NAND is the exception, and the formula shows why. Chain two NANDs and you get ((AB)′·C)′. Apply 15a and 9: it is AB + C′. A real 3-input NAND is (ABC)′, which by 15a is A′ + B′ + C′. Those are different functions. The fix is in the formula too: write (ABC)′ as ((AB)C)′. The bracket is an ordinary AND of the first two inputs, and the outer complement is one NAND with that result and C. So it is an AND followed by a NAND, not two NANDs.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to take away from today. Splitting a complement swaps the operator. SOP takes one product per 1 and POS one sum per 0, so write the shorter list. Check every term on its own row. A two-level SOP becomes NAND-NAND by replacing every gate. And NAND and NOR do not chain the way AND and OR do. All eight problems and their full solutions are in the handout, Problem 8 included, so you have the worked steps to go back to.</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320"/>
        </a:solidFill>
        <a:effectLst/>
      </p:bgPr>
    </p:bg>
    <p:spTree>
      <p:nvGrpSpPr>
        <p:cNvPr id="1" name=""/>
        <p:cNvGrpSpPr/>
        <p:nvPr/>
      </p:nvGrpSpPr>
      <p:grpSpPr>
        <a:xfrm>
          <a:off x="0" y="0"/>
          <a:ext cx="0" cy="0"/>
          <a:chOff x="0" y="0"/>
          <a:chExt cx="0" cy="0"/>
        </a:xfrm>
      </p:grpSpPr>
      <p:sp>
        <p:nvSpPr>
          <p:cNvPr id="2" name="Text 0"/>
          <p:cNvSpPr/>
          <p:nvPr/>
        </p:nvSpPr>
        <p:spPr>
          <a:xfrm>
            <a:off x="812800" y="2280989"/>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0A49A"/>
                </a:solidFill>
                <a:latin typeface="Arial" pitchFamily="34" charset="0"/>
                <a:ea typeface="Arial" pitchFamily="34" charset="-122"/>
                <a:cs typeface="Arial" pitchFamily="34" charset="-120"/>
              </a:rPr>
              <a:t>RECITATION</a:t>
            </a:r>
            <a:r>
              <a:rPr lang="zh-CN" altLang="en-US" sz="1200" b="1" kern="0" spc="150" dirty="0">
                <a:solidFill>
                  <a:srgbClr val="E0A49A"/>
                </a:solidFill>
                <a:latin typeface="Arial" pitchFamily="34" charset="0"/>
                <a:ea typeface="Arial" pitchFamily="34" charset="-122"/>
                <a:cs typeface="Arial" pitchFamily="34" charset="-120"/>
              </a:rPr>
              <a:t> </a:t>
            </a:r>
            <a:r>
              <a:rPr lang="en-US" altLang="zh-CN" sz="1200" b="1" kern="0" spc="150">
                <a:solidFill>
                  <a:srgbClr val="E0A49A"/>
                </a:solidFill>
                <a:latin typeface="Arial" pitchFamily="34" charset="0"/>
                <a:ea typeface="Arial" pitchFamily="34" charset="-122"/>
                <a:cs typeface="Arial" pitchFamily="34" charset="-120"/>
              </a:rPr>
              <a:t>3</a:t>
            </a:r>
            <a:endParaRPr lang="en-US" sz="1200" dirty="0"/>
          </a:p>
        </p:txBody>
      </p:sp>
      <p:sp>
        <p:nvSpPr>
          <p:cNvPr id="3" name="Text 1"/>
          <p:cNvSpPr/>
          <p:nvPr/>
        </p:nvSpPr>
        <p:spPr>
          <a:xfrm>
            <a:off x="812800" y="2722910"/>
            <a:ext cx="10883392" cy="1366441"/>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F5EFE6"/>
                </a:solidFill>
                <a:latin typeface="Georgia" pitchFamily="34" charset="0"/>
                <a:ea typeface="Georgia" pitchFamily="34" charset="-122"/>
                <a:cs typeface="Georgia" pitchFamily="34" charset="-120"/>
              </a:rPr>
              <a:t>Boolean algebra</a:t>
            </a:r>
            <a:endParaRPr lang="en-US" sz="4800" dirty="0"/>
          </a:p>
          <a:p>
            <a:pPr marL="0" indent="0" algn="l">
              <a:lnSpc>
                <a:spcPts val="5280"/>
              </a:lnSpc>
              <a:buNone/>
            </a:pPr>
            <a:r>
              <a:rPr lang="en-US" sz="4800" b="1" dirty="0">
                <a:solidFill>
                  <a:srgbClr val="F5EFE6"/>
                </a:solidFill>
                <a:latin typeface="Georgia" pitchFamily="34" charset="0"/>
                <a:ea typeface="Georgia" pitchFamily="34" charset="-122"/>
                <a:cs typeface="Georgia" pitchFamily="34" charset="-120"/>
              </a:rPr>
              <a:t>and logic gates</a:t>
            </a:r>
            <a:endParaRPr lang="en-US"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1 · FROM SWITCHES TO GATES</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Two switches, one lamp, and the table they give</a:t>
            </a:r>
            <a:endParaRPr lang="en-US" sz="3200" dirty="0"/>
          </a:p>
        </p:txBody>
      </p:sp>
      <p:pic>
        <p:nvPicPr>
          <p:cNvPr id="4" name="Image 0" descr="Two switches A and B in series with a battery and a lamp"/>
          <p:cNvPicPr>
            <a:picLocks noChangeAspect="1"/>
          </p:cNvPicPr>
          <p:nvPr/>
        </p:nvPicPr>
        <p:blipFill>
          <a:blip r:embed="rId3"/>
          <a:srcRect/>
          <a:stretch/>
        </p:blipFill>
        <p:spPr>
          <a:xfrm>
            <a:off x="812800" y="1930350"/>
            <a:ext cx="3048000" cy="2133600"/>
          </a:xfrm>
          <a:prstGeom prst="rect">
            <a:avLst/>
          </a:prstGeom>
        </p:spPr>
      </p:pic>
      <p:sp>
        <p:nvSpPr>
          <p:cNvPr id="5" name="Text 2"/>
          <p:cNvSpPr/>
          <p:nvPr/>
        </p:nvSpPr>
        <p:spPr>
          <a:xfrm>
            <a:off x="1746250" y="2222450"/>
            <a:ext cx="355600" cy="298152"/>
          </a:xfrm>
          <a:prstGeom prst="rect">
            <a:avLst/>
          </a:prstGeom>
          <a:noFill/>
          <a:ln/>
        </p:spPr>
        <p:txBody>
          <a:bodyPr wrap="none" lIns="0" tIns="0" rIns="0" bIns="0" rtlCol="0" anchor="t">
            <a:normAutofit/>
          </a:bodyPr>
          <a:lstStyle/>
          <a:p>
            <a:pPr marL="0" indent="0" algn="ctr">
              <a:lnSpc>
                <a:spcPts val="2148"/>
              </a:lnSpc>
              <a:buNone/>
            </a:pPr>
            <a:r>
              <a:rPr lang="en-US" sz="1200" i="1" dirty="0">
                <a:solidFill>
                  <a:srgbClr val="1F1B18"/>
                </a:solidFill>
                <a:latin typeface="Georgia" pitchFamily="34" charset="0"/>
                <a:ea typeface="Georgia" pitchFamily="34" charset="-122"/>
                <a:cs typeface="Georgia" pitchFamily="34" charset="-120"/>
              </a:rPr>
              <a:t>A</a:t>
            </a:r>
            <a:endParaRPr lang="en-US" sz="1200" dirty="0"/>
          </a:p>
        </p:txBody>
      </p:sp>
      <p:sp>
        <p:nvSpPr>
          <p:cNvPr id="6" name="Text 3"/>
          <p:cNvSpPr/>
          <p:nvPr/>
        </p:nvSpPr>
        <p:spPr>
          <a:xfrm>
            <a:off x="2508250" y="2222450"/>
            <a:ext cx="355600" cy="298152"/>
          </a:xfrm>
          <a:prstGeom prst="rect">
            <a:avLst/>
          </a:prstGeom>
          <a:noFill/>
          <a:ln/>
        </p:spPr>
        <p:txBody>
          <a:bodyPr wrap="none" lIns="0" tIns="0" rIns="0" bIns="0" rtlCol="0" anchor="t">
            <a:normAutofit/>
          </a:bodyPr>
          <a:lstStyle/>
          <a:p>
            <a:pPr marL="0" indent="0" algn="ctr">
              <a:lnSpc>
                <a:spcPts val="2148"/>
              </a:lnSpc>
              <a:buNone/>
            </a:pPr>
            <a:r>
              <a:rPr lang="en-US" sz="1200" i="1" dirty="0">
                <a:solidFill>
                  <a:srgbClr val="1F1B18"/>
                </a:solidFill>
                <a:latin typeface="Georgia" pitchFamily="34" charset="0"/>
                <a:ea typeface="Georgia" pitchFamily="34" charset="-122"/>
                <a:cs typeface="Georgia" pitchFamily="34" charset="-120"/>
              </a:rPr>
              <a:t>B</a:t>
            </a:r>
            <a:endParaRPr lang="en-US" sz="1200" dirty="0"/>
          </a:p>
        </p:txBody>
      </p:sp>
      <p:sp>
        <p:nvSpPr>
          <p:cNvPr id="7" name="Text 4"/>
          <p:cNvSpPr/>
          <p:nvPr/>
        </p:nvSpPr>
        <p:spPr>
          <a:xfrm>
            <a:off x="1687661" y="4140150"/>
            <a:ext cx="1298228" cy="238720"/>
          </a:xfrm>
          <a:prstGeom prst="rect">
            <a:avLst/>
          </a:prstGeom>
          <a:noFill/>
          <a:ln/>
        </p:spPr>
        <p:txBody>
          <a:bodyPr wrap="square" lIns="0" tIns="0" rIns="0" bIns="0" rtlCol="0" anchor="t">
            <a:normAutofit/>
          </a:bodyPr>
          <a:lstStyle/>
          <a:p>
            <a:pPr marL="0" indent="0" algn="ctr">
              <a:lnSpc>
                <a:spcPts val="1680"/>
              </a:lnSpc>
              <a:buNone/>
            </a:pPr>
            <a:r>
              <a:rPr lang="en-US" sz="1200" i="1" dirty="0">
                <a:solidFill>
                  <a:srgbClr val="6F665D"/>
                </a:solidFill>
                <a:latin typeface="Georgia" pitchFamily="34" charset="0"/>
                <a:ea typeface="Georgia" pitchFamily="34" charset="-122"/>
                <a:cs typeface="Georgia" pitchFamily="34" charset="-120"/>
              </a:rPr>
              <a:t>series: both closed</a:t>
            </a:r>
            <a:endParaRPr lang="en-US" sz="1200" dirty="0"/>
          </a:p>
        </p:txBody>
      </p:sp>
      <p:pic>
        <p:nvPicPr>
          <p:cNvPr id="8" name="Image 1" descr="Two switches A and B in parallel, in series with a battery and a lamp"/>
          <p:cNvPicPr>
            <a:picLocks noChangeAspect="1"/>
          </p:cNvPicPr>
          <p:nvPr/>
        </p:nvPicPr>
        <p:blipFill>
          <a:blip r:embed="rId4"/>
          <a:srcRect/>
          <a:stretch/>
        </p:blipFill>
        <p:spPr>
          <a:xfrm>
            <a:off x="4089400" y="1930350"/>
            <a:ext cx="3048000" cy="2133600"/>
          </a:xfrm>
          <a:prstGeom prst="rect">
            <a:avLst/>
          </a:prstGeom>
        </p:spPr>
      </p:pic>
      <p:sp>
        <p:nvSpPr>
          <p:cNvPr id="9" name="Text 5"/>
          <p:cNvSpPr/>
          <p:nvPr/>
        </p:nvSpPr>
        <p:spPr>
          <a:xfrm>
            <a:off x="5435600" y="1930350"/>
            <a:ext cx="355600" cy="298152"/>
          </a:xfrm>
          <a:prstGeom prst="rect">
            <a:avLst/>
          </a:prstGeom>
          <a:noFill/>
          <a:ln/>
        </p:spPr>
        <p:txBody>
          <a:bodyPr wrap="none" lIns="0" tIns="0" rIns="0" bIns="0" rtlCol="0" anchor="t">
            <a:normAutofit/>
          </a:bodyPr>
          <a:lstStyle/>
          <a:p>
            <a:pPr marL="0" indent="0" algn="ctr">
              <a:lnSpc>
                <a:spcPts val="2148"/>
              </a:lnSpc>
              <a:buNone/>
            </a:pPr>
            <a:r>
              <a:rPr lang="en-US" sz="1200" i="1" dirty="0">
                <a:solidFill>
                  <a:srgbClr val="1F1B18"/>
                </a:solidFill>
                <a:latin typeface="Georgia" pitchFamily="34" charset="0"/>
                <a:ea typeface="Georgia" pitchFamily="34" charset="-122"/>
                <a:cs typeface="Georgia" pitchFamily="34" charset="-120"/>
              </a:rPr>
              <a:t>B</a:t>
            </a:r>
            <a:endParaRPr lang="en-US" sz="1200" dirty="0"/>
          </a:p>
        </p:txBody>
      </p:sp>
      <p:sp>
        <p:nvSpPr>
          <p:cNvPr id="10" name="Text 6"/>
          <p:cNvSpPr/>
          <p:nvPr/>
        </p:nvSpPr>
        <p:spPr>
          <a:xfrm>
            <a:off x="5435600" y="2857450"/>
            <a:ext cx="355600" cy="298152"/>
          </a:xfrm>
          <a:prstGeom prst="rect">
            <a:avLst/>
          </a:prstGeom>
          <a:noFill/>
          <a:ln/>
        </p:spPr>
        <p:txBody>
          <a:bodyPr wrap="none" lIns="0" tIns="0" rIns="0" bIns="0" rtlCol="0" anchor="t">
            <a:normAutofit/>
          </a:bodyPr>
          <a:lstStyle/>
          <a:p>
            <a:pPr marL="0" indent="0" algn="ctr">
              <a:lnSpc>
                <a:spcPts val="2148"/>
              </a:lnSpc>
              <a:buNone/>
            </a:pPr>
            <a:r>
              <a:rPr lang="en-US" sz="1200" i="1" dirty="0">
                <a:solidFill>
                  <a:srgbClr val="1F1B18"/>
                </a:solidFill>
                <a:latin typeface="Georgia" pitchFamily="34" charset="0"/>
                <a:ea typeface="Georgia" pitchFamily="34" charset="-122"/>
                <a:cs typeface="Georgia" pitchFamily="34" charset="-120"/>
              </a:rPr>
              <a:t>A</a:t>
            </a:r>
            <a:endParaRPr lang="en-US" sz="1200" dirty="0"/>
          </a:p>
        </p:txBody>
      </p:sp>
      <p:sp>
        <p:nvSpPr>
          <p:cNvPr id="11" name="Text 7"/>
          <p:cNvSpPr/>
          <p:nvPr/>
        </p:nvSpPr>
        <p:spPr>
          <a:xfrm>
            <a:off x="4845496" y="4140150"/>
            <a:ext cx="1535807" cy="238720"/>
          </a:xfrm>
          <a:prstGeom prst="rect">
            <a:avLst/>
          </a:prstGeom>
          <a:noFill/>
          <a:ln/>
        </p:spPr>
        <p:txBody>
          <a:bodyPr wrap="square" lIns="0" tIns="0" rIns="0" bIns="0" rtlCol="0" anchor="t">
            <a:normAutofit/>
          </a:bodyPr>
          <a:lstStyle/>
          <a:p>
            <a:pPr marL="0" indent="0" algn="ctr">
              <a:lnSpc>
                <a:spcPts val="1680"/>
              </a:lnSpc>
              <a:buNone/>
            </a:pPr>
            <a:r>
              <a:rPr lang="en-US" sz="1200" i="1" dirty="0">
                <a:solidFill>
                  <a:srgbClr val="6F665D"/>
                </a:solidFill>
                <a:latin typeface="Georgia" pitchFamily="34" charset="0"/>
                <a:ea typeface="Georgia" pitchFamily="34" charset="-122"/>
                <a:cs typeface="Georgia" pitchFamily="34" charset="-120"/>
              </a:rPr>
              <a:t>parallel: either closed</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366000" y="2159248"/>
          <a:ext cx="3556000" cy="1952625"/>
        </p:xfrm>
        <a:graphic>
          <a:graphicData uri="http://schemas.openxmlformats.org/drawingml/2006/table">
            <a:tbl>
              <a:tblPr/>
              <a:tblGrid>
                <a:gridCol w="889000">
                  <a:extLst>
                    <a:ext uri="{9D8B030D-6E8A-4147-A177-3AD203B41FA5}">
                      <a16:colId xmlns:a16="http://schemas.microsoft.com/office/drawing/2014/main" val="20000"/>
                    </a:ext>
                  </a:extLst>
                </a:gridCol>
                <a:gridCol w="889000">
                  <a:extLst>
                    <a:ext uri="{9D8B030D-6E8A-4147-A177-3AD203B41FA5}">
                      <a16:colId xmlns:a16="http://schemas.microsoft.com/office/drawing/2014/main" val="20001"/>
                    </a:ext>
                  </a:extLst>
                </a:gridCol>
                <a:gridCol w="889000">
                  <a:extLst>
                    <a:ext uri="{9D8B030D-6E8A-4147-A177-3AD203B41FA5}">
                      <a16:colId xmlns:a16="http://schemas.microsoft.com/office/drawing/2014/main" val="20002"/>
                    </a:ext>
                  </a:extLst>
                </a:gridCol>
                <a:gridCol w="889000">
                  <a:extLst>
                    <a:ext uri="{9D8B030D-6E8A-4147-A177-3AD203B41FA5}">
                      <a16:colId xmlns:a16="http://schemas.microsoft.com/office/drawing/2014/main" val="20003"/>
                    </a:ext>
                  </a:extLst>
                </a:gridCol>
              </a:tblGrid>
              <a:tr h="568325">
                <a:tc>
                  <a:txBody>
                    <a:bodyPr/>
                    <a:lstStyle/>
                    <a:p>
                      <a:pPr marL="0" indent="0" algn="ctr">
                        <a:lnSpc>
                          <a:spcPts val="1750"/>
                        </a:lnSpc>
                        <a:buNone/>
                      </a:pPr>
                      <a:r>
                        <a:rPr lang="en-US" sz="1250" b="1" dirty="0">
                          <a:solidFill>
                            <a:srgbClr val="3B3631"/>
                          </a:solidFill>
                          <a:latin typeface="Georgia" pitchFamily="34" charset="0"/>
                          <a:ea typeface="Georgia" pitchFamily="34" charset="-122"/>
                          <a:cs typeface="Georgia" pitchFamily="34" charset="-120"/>
                        </a:rPr>
                        <a:t>A</a:t>
                      </a:r>
                      <a:endParaRPr lang="en-US" sz="1250" dirty="0">
                        <a:latin typeface="Georgia" charset="0"/>
                        <a:ea typeface="Georgia" charset="0"/>
                        <a:cs typeface="Georgia" charset="0"/>
                      </a:endParaRPr>
                    </a:p>
                  </a:txBody>
                  <a:tcPr marL="55563" marR="55563" marT="55563" marB="55563">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1750"/>
                        </a:lnSpc>
                        <a:buNone/>
                      </a:pPr>
                      <a:r>
                        <a:rPr lang="en-US" sz="1250" b="1" dirty="0">
                          <a:solidFill>
                            <a:srgbClr val="3B3631"/>
                          </a:solidFill>
                          <a:latin typeface="Georgia" pitchFamily="34" charset="0"/>
                          <a:ea typeface="Georgia" pitchFamily="34" charset="-122"/>
                          <a:cs typeface="Georgia" pitchFamily="34" charset="-120"/>
                        </a:rPr>
                        <a:t>B</a:t>
                      </a:r>
                      <a:endParaRPr lang="en-US" sz="1250" dirty="0">
                        <a:latin typeface="Georgia" charset="0"/>
                        <a:ea typeface="Georgia" charset="0"/>
                        <a:cs typeface="Georgia" charset="0"/>
                      </a:endParaRPr>
                    </a:p>
                  </a:txBody>
                  <a:tcPr marL="55563" marR="55563" marT="55563" marB="55563">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1750"/>
                        </a:lnSpc>
                        <a:buNone/>
                      </a:pPr>
                      <a:r>
                        <a:rPr lang="en-US" sz="1250" b="1" dirty="0">
                          <a:solidFill>
                            <a:srgbClr val="3B3631"/>
                          </a:solidFill>
                          <a:latin typeface="Georgia" pitchFamily="34" charset="0"/>
                          <a:ea typeface="Georgia" pitchFamily="34" charset="-122"/>
                          <a:cs typeface="Georgia" pitchFamily="34" charset="-120"/>
                        </a:rPr>
                        <a:t>series lamp</a:t>
                      </a:r>
                      <a:endParaRPr lang="en-US" sz="1250" dirty="0">
                        <a:latin typeface="Georgia" charset="0"/>
                        <a:ea typeface="Georgia" charset="0"/>
                        <a:cs typeface="Georgia" charset="0"/>
                      </a:endParaRPr>
                    </a:p>
                  </a:txBody>
                  <a:tcPr marL="55563" marR="55563" marT="55563" marB="55563">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1750"/>
                        </a:lnSpc>
                        <a:buNone/>
                      </a:pPr>
                      <a:r>
                        <a:rPr lang="en-US" sz="1250" b="1" dirty="0">
                          <a:solidFill>
                            <a:srgbClr val="3B3631"/>
                          </a:solidFill>
                          <a:latin typeface="Georgia" pitchFamily="34" charset="0"/>
                          <a:ea typeface="Georgia" pitchFamily="34" charset="-122"/>
                          <a:cs typeface="Georgia" pitchFamily="34" charset="-120"/>
                        </a:rPr>
                        <a:t>parallel lamp</a:t>
                      </a:r>
                      <a:endParaRPr lang="en-US" sz="1250" dirty="0">
                        <a:latin typeface="Georgia" charset="0"/>
                        <a:ea typeface="Georgia" charset="0"/>
                        <a:cs typeface="Georgia" charset="0"/>
                      </a:endParaRPr>
                    </a:p>
                  </a:txBody>
                  <a:tcPr marL="55563" marR="55563" marT="55563" marB="55563">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extLst>
                  <a:ext uri="{0D108BD9-81ED-4DB2-BD59-A6C34878D82A}">
                    <a16:rowId xmlns:a16="http://schemas.microsoft.com/office/drawing/2014/main" val="10000"/>
                  </a:ext>
                </a:extLst>
              </a:tr>
              <a:tr h="346075">
                <a:tc>
                  <a:txBody>
                    <a:bodyPr/>
                    <a:lstStyle/>
                    <a:p>
                      <a:pPr marL="0" indent="0" algn="ctr">
                        <a:lnSpc>
                          <a:spcPts val="1750"/>
                        </a:lnSpc>
                        <a:buNone/>
                      </a:pPr>
                      <a:r>
                        <a:rPr lang="en-US" sz="1250" dirty="0">
                          <a:solidFill>
                            <a:srgbClr val="3B3631"/>
                          </a:solidFill>
                          <a:latin typeface="Georgia" pitchFamily="34" charset="0"/>
                          <a:ea typeface="Georgia" pitchFamily="34" charset="-122"/>
                          <a:cs typeface="Georgia" pitchFamily="34" charset="-120"/>
                        </a:rPr>
                        <a:t>0</a:t>
                      </a:r>
                      <a:endParaRPr lang="en-US" sz="1250" dirty="0">
                        <a:latin typeface="Georgia" charset="0"/>
                        <a:ea typeface="Georgia" charset="0"/>
                        <a:cs typeface="Georgia" charset="0"/>
                      </a:endParaRPr>
                    </a:p>
                  </a:txBody>
                  <a:tcPr marL="55563" marR="55563" marT="55563" marB="55563">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750"/>
                        </a:lnSpc>
                        <a:buNone/>
                      </a:pPr>
                      <a:r>
                        <a:rPr lang="en-US" sz="1250" dirty="0">
                          <a:solidFill>
                            <a:srgbClr val="3B3631"/>
                          </a:solidFill>
                          <a:latin typeface="Georgia" pitchFamily="34" charset="0"/>
                          <a:ea typeface="Georgia" pitchFamily="34" charset="-122"/>
                          <a:cs typeface="Georgia" pitchFamily="34" charset="-120"/>
                        </a:rPr>
                        <a:t>0</a:t>
                      </a:r>
                      <a:endParaRPr lang="en-US" sz="1250" dirty="0">
                        <a:latin typeface="Georgia" charset="0"/>
                        <a:ea typeface="Georgia" charset="0"/>
                        <a:cs typeface="Georgia" charset="0"/>
                      </a:endParaRPr>
                    </a:p>
                  </a:txBody>
                  <a:tcPr marL="55563" marR="55563" marT="55563" marB="55563">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750"/>
                        </a:lnSpc>
                        <a:buNone/>
                      </a:pPr>
                      <a:r>
                        <a:rPr lang="en-US" sz="1250" dirty="0">
                          <a:solidFill>
                            <a:srgbClr val="3B3631"/>
                          </a:solidFill>
                          <a:latin typeface="Georgia" pitchFamily="34" charset="0"/>
                          <a:ea typeface="Georgia" pitchFamily="34" charset="-122"/>
                          <a:cs typeface="Georgia" pitchFamily="34" charset="-120"/>
                        </a:rPr>
                        <a:t>0</a:t>
                      </a:r>
                      <a:endParaRPr lang="en-US" sz="1250" dirty="0">
                        <a:latin typeface="Georgia" charset="0"/>
                        <a:ea typeface="Georgia" charset="0"/>
                        <a:cs typeface="Georgia" charset="0"/>
                      </a:endParaRPr>
                    </a:p>
                  </a:txBody>
                  <a:tcPr marL="55563" marR="55563" marT="55563" marB="55563">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750"/>
                        </a:lnSpc>
                        <a:buNone/>
                      </a:pPr>
                      <a:r>
                        <a:rPr lang="en-US" sz="1250" dirty="0">
                          <a:solidFill>
                            <a:srgbClr val="3B3631"/>
                          </a:solidFill>
                          <a:latin typeface="Georgia" pitchFamily="34" charset="0"/>
                          <a:ea typeface="Georgia" pitchFamily="34" charset="-122"/>
                          <a:cs typeface="Georgia" pitchFamily="34" charset="-120"/>
                        </a:rPr>
                        <a:t>0</a:t>
                      </a:r>
                      <a:endParaRPr lang="en-US" sz="1250" dirty="0">
                        <a:latin typeface="Georgia" charset="0"/>
                        <a:ea typeface="Georgia" charset="0"/>
                        <a:cs typeface="Georgia" charset="0"/>
                      </a:endParaRPr>
                    </a:p>
                  </a:txBody>
                  <a:tcPr marL="55563" marR="55563" marT="55563" marB="55563">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1"/>
                  </a:ext>
                </a:extLst>
              </a:tr>
              <a:tr h="346075">
                <a:tc>
                  <a:txBody>
                    <a:bodyPr/>
                    <a:lstStyle/>
                    <a:p>
                      <a:pPr marL="0" indent="0" algn="ctr">
                        <a:lnSpc>
                          <a:spcPts val="1750"/>
                        </a:lnSpc>
                        <a:buNone/>
                      </a:pPr>
                      <a:r>
                        <a:rPr lang="en-US" sz="1250" dirty="0">
                          <a:solidFill>
                            <a:srgbClr val="3B3631"/>
                          </a:solidFill>
                          <a:latin typeface="Georgia" pitchFamily="34" charset="0"/>
                          <a:ea typeface="Georgia" pitchFamily="34" charset="-122"/>
                          <a:cs typeface="Georgia" pitchFamily="34" charset="-120"/>
                        </a:rPr>
                        <a:t>0</a:t>
                      </a:r>
                      <a:endParaRPr lang="en-US" sz="1250" dirty="0">
                        <a:latin typeface="Georgia" charset="0"/>
                        <a:ea typeface="Georgia" charset="0"/>
                        <a:cs typeface="Georgia" charset="0"/>
                      </a:endParaRPr>
                    </a:p>
                  </a:txBody>
                  <a:tcPr marL="55563" marR="55563" marT="55563" marB="55563">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750"/>
                        </a:lnSpc>
                        <a:buNone/>
                      </a:pPr>
                      <a:r>
                        <a:rPr lang="en-US" sz="1250" dirty="0">
                          <a:solidFill>
                            <a:srgbClr val="3B3631"/>
                          </a:solidFill>
                          <a:latin typeface="Georgia" pitchFamily="34" charset="0"/>
                          <a:ea typeface="Georgia" pitchFamily="34" charset="-122"/>
                          <a:cs typeface="Georgia" pitchFamily="34" charset="-120"/>
                        </a:rPr>
                        <a:t>1</a:t>
                      </a:r>
                      <a:endParaRPr lang="en-US" sz="1250" dirty="0">
                        <a:latin typeface="Georgia" charset="0"/>
                        <a:ea typeface="Georgia" charset="0"/>
                        <a:cs typeface="Georgia" charset="0"/>
                      </a:endParaRPr>
                    </a:p>
                  </a:txBody>
                  <a:tcPr marL="55563" marR="55563" marT="55563" marB="55563">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750"/>
                        </a:lnSpc>
                        <a:buNone/>
                      </a:pPr>
                      <a:r>
                        <a:rPr lang="en-US" sz="1250" dirty="0">
                          <a:solidFill>
                            <a:srgbClr val="3B3631"/>
                          </a:solidFill>
                          <a:latin typeface="Georgia" pitchFamily="34" charset="0"/>
                          <a:ea typeface="Georgia" pitchFamily="34" charset="-122"/>
                          <a:cs typeface="Georgia" pitchFamily="34" charset="-120"/>
                        </a:rPr>
                        <a:t>0</a:t>
                      </a:r>
                      <a:endParaRPr lang="en-US" sz="1250" dirty="0">
                        <a:latin typeface="Georgia" charset="0"/>
                        <a:ea typeface="Georgia" charset="0"/>
                        <a:cs typeface="Georgia" charset="0"/>
                      </a:endParaRPr>
                    </a:p>
                  </a:txBody>
                  <a:tcPr marL="55563" marR="55563" marT="55563" marB="55563">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750"/>
                        </a:lnSpc>
                        <a:buNone/>
                      </a:pPr>
                      <a:r>
                        <a:rPr lang="en-US" sz="1250" dirty="0">
                          <a:solidFill>
                            <a:srgbClr val="3B3631"/>
                          </a:solidFill>
                          <a:latin typeface="Georgia" pitchFamily="34" charset="0"/>
                          <a:ea typeface="Georgia" pitchFamily="34" charset="-122"/>
                          <a:cs typeface="Georgia" pitchFamily="34" charset="-120"/>
                        </a:rPr>
                        <a:t>1</a:t>
                      </a:r>
                      <a:endParaRPr lang="en-US" sz="1250" dirty="0">
                        <a:latin typeface="Georgia" charset="0"/>
                        <a:ea typeface="Georgia" charset="0"/>
                        <a:cs typeface="Georgia" charset="0"/>
                      </a:endParaRPr>
                    </a:p>
                  </a:txBody>
                  <a:tcPr marL="55563" marR="55563" marT="55563" marB="55563">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2"/>
                  </a:ext>
                </a:extLst>
              </a:tr>
              <a:tr h="346075">
                <a:tc>
                  <a:txBody>
                    <a:bodyPr/>
                    <a:lstStyle/>
                    <a:p>
                      <a:pPr marL="0" indent="0" algn="ctr">
                        <a:lnSpc>
                          <a:spcPts val="1750"/>
                        </a:lnSpc>
                        <a:buNone/>
                      </a:pPr>
                      <a:r>
                        <a:rPr lang="en-US" sz="1250" dirty="0">
                          <a:solidFill>
                            <a:srgbClr val="3B3631"/>
                          </a:solidFill>
                          <a:latin typeface="Georgia" pitchFamily="34" charset="0"/>
                          <a:ea typeface="Georgia" pitchFamily="34" charset="-122"/>
                          <a:cs typeface="Georgia" pitchFamily="34" charset="-120"/>
                        </a:rPr>
                        <a:t>1</a:t>
                      </a:r>
                      <a:endParaRPr lang="en-US" sz="1250" dirty="0">
                        <a:latin typeface="Georgia" charset="0"/>
                        <a:ea typeface="Georgia" charset="0"/>
                        <a:cs typeface="Georgia" charset="0"/>
                      </a:endParaRPr>
                    </a:p>
                  </a:txBody>
                  <a:tcPr marL="55563" marR="55563" marT="55563" marB="55563">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750"/>
                        </a:lnSpc>
                        <a:buNone/>
                      </a:pPr>
                      <a:r>
                        <a:rPr lang="en-US" sz="1250" dirty="0">
                          <a:solidFill>
                            <a:srgbClr val="3B3631"/>
                          </a:solidFill>
                          <a:latin typeface="Georgia" pitchFamily="34" charset="0"/>
                          <a:ea typeface="Georgia" pitchFamily="34" charset="-122"/>
                          <a:cs typeface="Georgia" pitchFamily="34" charset="-120"/>
                        </a:rPr>
                        <a:t>0</a:t>
                      </a:r>
                      <a:endParaRPr lang="en-US" sz="1250" dirty="0">
                        <a:latin typeface="Georgia" charset="0"/>
                        <a:ea typeface="Georgia" charset="0"/>
                        <a:cs typeface="Georgia" charset="0"/>
                      </a:endParaRPr>
                    </a:p>
                  </a:txBody>
                  <a:tcPr marL="55563" marR="55563" marT="55563" marB="55563">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750"/>
                        </a:lnSpc>
                        <a:buNone/>
                      </a:pPr>
                      <a:r>
                        <a:rPr lang="en-US" sz="1250" dirty="0">
                          <a:solidFill>
                            <a:srgbClr val="3B3631"/>
                          </a:solidFill>
                          <a:latin typeface="Georgia" pitchFamily="34" charset="0"/>
                          <a:ea typeface="Georgia" pitchFamily="34" charset="-122"/>
                          <a:cs typeface="Georgia" pitchFamily="34" charset="-120"/>
                        </a:rPr>
                        <a:t>0</a:t>
                      </a:r>
                      <a:endParaRPr lang="en-US" sz="1250" dirty="0">
                        <a:latin typeface="Georgia" charset="0"/>
                        <a:ea typeface="Georgia" charset="0"/>
                        <a:cs typeface="Georgia" charset="0"/>
                      </a:endParaRPr>
                    </a:p>
                  </a:txBody>
                  <a:tcPr marL="55563" marR="55563" marT="55563" marB="55563">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750"/>
                        </a:lnSpc>
                        <a:buNone/>
                      </a:pPr>
                      <a:r>
                        <a:rPr lang="en-US" sz="1250" dirty="0">
                          <a:solidFill>
                            <a:srgbClr val="3B3631"/>
                          </a:solidFill>
                          <a:latin typeface="Georgia" pitchFamily="34" charset="0"/>
                          <a:ea typeface="Georgia" pitchFamily="34" charset="-122"/>
                          <a:cs typeface="Georgia" pitchFamily="34" charset="-120"/>
                        </a:rPr>
                        <a:t>1</a:t>
                      </a:r>
                      <a:endParaRPr lang="en-US" sz="1250" dirty="0">
                        <a:latin typeface="Georgia" charset="0"/>
                        <a:ea typeface="Georgia" charset="0"/>
                        <a:cs typeface="Georgia" charset="0"/>
                      </a:endParaRPr>
                    </a:p>
                  </a:txBody>
                  <a:tcPr marL="55563" marR="55563" marT="55563" marB="55563">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3"/>
                  </a:ext>
                </a:extLst>
              </a:tr>
              <a:tr h="346075">
                <a:tc>
                  <a:txBody>
                    <a:bodyPr/>
                    <a:lstStyle/>
                    <a:p>
                      <a:pPr marL="0" indent="0" algn="ctr">
                        <a:lnSpc>
                          <a:spcPts val="1750"/>
                        </a:lnSpc>
                        <a:buNone/>
                      </a:pPr>
                      <a:r>
                        <a:rPr lang="en-US" sz="1250" dirty="0">
                          <a:solidFill>
                            <a:srgbClr val="3B3631"/>
                          </a:solidFill>
                          <a:latin typeface="Georgia" pitchFamily="34" charset="0"/>
                          <a:ea typeface="Georgia" pitchFamily="34" charset="-122"/>
                          <a:cs typeface="Georgia" pitchFamily="34" charset="-120"/>
                        </a:rPr>
                        <a:t>1</a:t>
                      </a:r>
                      <a:endParaRPr lang="en-US" sz="1250" dirty="0">
                        <a:latin typeface="Georgia" charset="0"/>
                        <a:ea typeface="Georgia" charset="0"/>
                        <a:cs typeface="Georgia" charset="0"/>
                      </a:endParaRPr>
                    </a:p>
                  </a:txBody>
                  <a:tcPr marL="55563" marR="55563" marT="55563" marB="55563">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750"/>
                        </a:lnSpc>
                        <a:buNone/>
                      </a:pPr>
                      <a:r>
                        <a:rPr lang="en-US" sz="1250" dirty="0">
                          <a:solidFill>
                            <a:srgbClr val="3B3631"/>
                          </a:solidFill>
                          <a:latin typeface="Georgia" pitchFamily="34" charset="0"/>
                          <a:ea typeface="Georgia" pitchFamily="34" charset="-122"/>
                          <a:cs typeface="Georgia" pitchFamily="34" charset="-120"/>
                        </a:rPr>
                        <a:t>1</a:t>
                      </a:r>
                      <a:endParaRPr lang="en-US" sz="1250" dirty="0">
                        <a:latin typeface="Georgia" charset="0"/>
                        <a:ea typeface="Georgia" charset="0"/>
                        <a:cs typeface="Georgia" charset="0"/>
                      </a:endParaRPr>
                    </a:p>
                  </a:txBody>
                  <a:tcPr marL="55563" marR="55563" marT="55563" marB="55563">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750"/>
                        </a:lnSpc>
                        <a:buNone/>
                      </a:pPr>
                      <a:r>
                        <a:rPr lang="en-US" sz="1250" dirty="0">
                          <a:solidFill>
                            <a:srgbClr val="3B3631"/>
                          </a:solidFill>
                          <a:latin typeface="Georgia" pitchFamily="34" charset="0"/>
                          <a:ea typeface="Georgia" pitchFamily="34" charset="-122"/>
                          <a:cs typeface="Georgia" pitchFamily="34" charset="-120"/>
                        </a:rPr>
                        <a:t>1</a:t>
                      </a:r>
                      <a:endParaRPr lang="en-US" sz="1250" dirty="0">
                        <a:latin typeface="Georgia" charset="0"/>
                        <a:ea typeface="Georgia" charset="0"/>
                        <a:cs typeface="Georgia" charset="0"/>
                      </a:endParaRPr>
                    </a:p>
                  </a:txBody>
                  <a:tcPr marL="55563" marR="55563" marT="55563" marB="55563">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750"/>
                        </a:lnSpc>
                        <a:buNone/>
                      </a:pPr>
                      <a:r>
                        <a:rPr lang="en-US" sz="1250" dirty="0">
                          <a:solidFill>
                            <a:srgbClr val="3B3631"/>
                          </a:solidFill>
                          <a:latin typeface="Georgia" pitchFamily="34" charset="0"/>
                          <a:ea typeface="Georgia" pitchFamily="34" charset="-122"/>
                          <a:cs typeface="Georgia" pitchFamily="34" charset="-120"/>
                        </a:rPr>
                        <a:t>1</a:t>
                      </a:r>
                      <a:endParaRPr lang="en-US" sz="1250" dirty="0">
                        <a:latin typeface="Georgia" charset="0"/>
                        <a:ea typeface="Georgia" charset="0"/>
                        <a:cs typeface="Georgia" charset="0"/>
                      </a:endParaRPr>
                    </a:p>
                  </a:txBody>
                  <a:tcPr marL="55563" marR="55563" marT="55563" marB="55563">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3" name="Text 8"/>
          <p:cNvSpPr/>
          <p:nvPr/>
        </p:nvSpPr>
        <p:spPr>
          <a:xfrm>
            <a:off x="812800" y="448047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F1B18"/>
                </a:solidFill>
                <a:latin typeface="Georgia" pitchFamily="34" charset="0"/>
                <a:ea typeface="Georgia" pitchFamily="34" charset="-122"/>
                <a:cs typeface="Georgia" pitchFamily="34" charset="-120"/>
              </a:rPr>
              <a:t>Closed switch = 1, open = 0. Lamp on = 1, off = 0.</a:t>
            </a:r>
            <a:endParaRPr lang="en-US" sz="1500" dirty="0"/>
          </a:p>
        </p:txBody>
      </p:sp>
      <p:sp>
        <p:nvSpPr>
          <p:cNvPr id="14" name="Text 9"/>
          <p:cNvSpPr/>
          <p:nvPr/>
        </p:nvSpPr>
        <p:spPr>
          <a:xfrm>
            <a:off x="812800" y="4874171"/>
            <a:ext cx="1088339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B3631"/>
                </a:solidFill>
                <a:latin typeface="Georgia" pitchFamily="34" charset="0"/>
                <a:ea typeface="Georgia" pitchFamily="34" charset="-122"/>
                <a:cs typeface="Georgia" pitchFamily="34" charset="-120"/>
              </a:rPr>
              <a:t>The series column is 1 only when both inputs are 1, which is AND. The parallel column is 1 when at least one input is 1, which is OR.</a:t>
            </a:r>
            <a:endParaRPr lang="en-US" sz="1500" dirty="0"/>
          </a:p>
        </p:txBody>
      </p:sp>
      <p:sp>
        <p:nvSpPr>
          <p:cNvPr id="15" name="Text 10"/>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16" name="Text 11"/>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1 · FROM SWITCHES TO GATES</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The six gates, and their truth tables</a:t>
            </a:r>
            <a:endParaRPr lang="en-US" sz="3200" dirty="0"/>
          </a:p>
        </p:txBody>
      </p:sp>
      <p:sp>
        <p:nvSpPr>
          <p:cNvPr id="4" name="Text 2"/>
          <p:cNvSpPr/>
          <p:nvPr/>
        </p:nvSpPr>
        <p:spPr>
          <a:xfrm>
            <a:off x="812800" y="1930350"/>
            <a:ext cx="1003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F665D"/>
                </a:solidFill>
                <a:latin typeface="Arial" pitchFamily="34" charset="0"/>
                <a:ea typeface="Arial" pitchFamily="34" charset="-122"/>
                <a:cs typeface="Arial" pitchFamily="34" charset="-120"/>
              </a:rPr>
              <a:t>GATE</a:t>
            </a:r>
            <a:endParaRPr lang="en-US" sz="1200" dirty="0"/>
          </a:p>
        </p:txBody>
      </p:sp>
      <p:sp>
        <p:nvSpPr>
          <p:cNvPr id="5" name="Text 3"/>
          <p:cNvSpPr/>
          <p:nvPr/>
        </p:nvSpPr>
        <p:spPr>
          <a:xfrm>
            <a:off x="1765300" y="1930350"/>
            <a:ext cx="1384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F665D"/>
                </a:solidFill>
                <a:latin typeface="Arial" pitchFamily="34" charset="0"/>
                <a:ea typeface="Arial" pitchFamily="34" charset="-122"/>
                <a:cs typeface="Arial" pitchFamily="34" charset="-120"/>
              </a:rPr>
              <a:t>SYMBOL</a:t>
            </a:r>
            <a:endParaRPr lang="en-US" sz="1200" dirty="0"/>
          </a:p>
        </p:txBody>
      </p:sp>
      <p:sp>
        <p:nvSpPr>
          <p:cNvPr id="6" name="Text 4"/>
          <p:cNvSpPr/>
          <p:nvPr/>
        </p:nvSpPr>
        <p:spPr>
          <a:xfrm>
            <a:off x="3098800" y="1930350"/>
            <a:ext cx="1511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F665D"/>
                </a:solidFill>
                <a:latin typeface="Arial" pitchFamily="34" charset="0"/>
                <a:ea typeface="Arial" pitchFamily="34" charset="-122"/>
                <a:cs typeface="Arial" pitchFamily="34" charset="-120"/>
              </a:rPr>
              <a:t>ALGEBRA</a:t>
            </a:r>
            <a:endParaRPr lang="en-US" sz="1200" dirty="0"/>
          </a:p>
        </p:txBody>
      </p:sp>
      <p:sp>
        <p:nvSpPr>
          <p:cNvPr id="7" name="Text 5"/>
          <p:cNvSpPr/>
          <p:nvPr/>
        </p:nvSpPr>
        <p:spPr>
          <a:xfrm>
            <a:off x="4559300" y="1930350"/>
            <a:ext cx="538937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F665D"/>
                </a:solidFill>
                <a:latin typeface="Arial" pitchFamily="34" charset="0"/>
                <a:ea typeface="Arial" pitchFamily="34" charset="-122"/>
                <a:cs typeface="Arial" pitchFamily="34" charset="-120"/>
              </a:rPr>
              <a:t>OUTPUT IS 1 WHEN</a:t>
            </a:r>
            <a:endParaRPr lang="en-US" sz="1200" dirty="0"/>
          </a:p>
        </p:txBody>
      </p:sp>
      <p:sp>
        <p:nvSpPr>
          <p:cNvPr id="8" name="Text 6"/>
          <p:cNvSpPr/>
          <p:nvPr/>
        </p:nvSpPr>
        <p:spPr>
          <a:xfrm>
            <a:off x="9791700" y="1930350"/>
            <a:ext cx="1638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F665D"/>
                </a:solidFill>
                <a:latin typeface="Arial" pitchFamily="34" charset="0"/>
                <a:ea typeface="Arial" pitchFamily="34" charset="-122"/>
                <a:cs typeface="Arial" pitchFamily="34" charset="-120"/>
              </a:rPr>
              <a:t>ROWS 00 01 10 11</a:t>
            </a:r>
            <a:endParaRPr lang="en-US" sz="1200" dirty="0"/>
          </a:p>
        </p:txBody>
      </p:sp>
      <p:sp>
        <p:nvSpPr>
          <p:cNvPr id="9" name="Text 7"/>
          <p:cNvSpPr/>
          <p:nvPr/>
        </p:nvSpPr>
        <p:spPr>
          <a:xfrm>
            <a:off x="812800" y="2546896"/>
            <a:ext cx="10033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B18"/>
                </a:solidFill>
                <a:latin typeface="Georgia" pitchFamily="34" charset="0"/>
                <a:ea typeface="Georgia" pitchFamily="34" charset="-122"/>
                <a:cs typeface="Georgia" pitchFamily="34" charset="-120"/>
              </a:rPr>
              <a:t>NOT</a:t>
            </a:r>
            <a:endParaRPr lang="en-US" sz="1500" dirty="0"/>
          </a:p>
        </p:txBody>
      </p:sp>
      <p:pic>
        <p:nvPicPr>
          <p:cNvPr id="10" name="Image 0" descr="NOT gate symbol"/>
          <p:cNvPicPr>
            <a:picLocks noChangeAspect="1"/>
          </p:cNvPicPr>
          <p:nvPr/>
        </p:nvPicPr>
        <p:blipFill>
          <a:blip r:embed="rId3"/>
          <a:srcRect/>
          <a:stretch/>
        </p:blipFill>
        <p:spPr>
          <a:xfrm>
            <a:off x="1765300" y="2435771"/>
            <a:ext cx="1003300" cy="488950"/>
          </a:xfrm>
          <a:prstGeom prst="rect">
            <a:avLst/>
          </a:prstGeom>
        </p:spPr>
      </p:pic>
      <p:sp>
        <p:nvSpPr>
          <p:cNvPr id="11" name="Text 8"/>
          <p:cNvSpPr/>
          <p:nvPr/>
        </p:nvSpPr>
        <p:spPr>
          <a:xfrm>
            <a:off x="3098800" y="2546896"/>
            <a:ext cx="1511300" cy="292100"/>
          </a:xfrm>
          <a:prstGeom prst="rect">
            <a:avLst/>
          </a:prstGeom>
          <a:noFill/>
          <a:ln/>
        </p:spPr>
        <p:txBody>
          <a:bodyPr wrap="square" lIns="0" tIns="0" rIns="0" bIns="0" rtlCol="0" anchor="t">
            <a:normAutofit/>
          </a:bodyPr>
          <a:lstStyle/>
          <a:p>
            <a:pPr marL="0" indent="0" algn="l">
              <a:lnSpc>
                <a:spcPts val="2100"/>
              </a:lnSpc>
              <a:buNone/>
            </a:pPr>
            <a:r>
              <a:rPr lang="en-US" sz="1500" i="1" dirty="0">
                <a:solidFill>
                  <a:srgbClr val="1F1B18"/>
                </a:solidFill>
                <a:latin typeface="Georgia" pitchFamily="34" charset="0"/>
                <a:ea typeface="Georgia" pitchFamily="34" charset="-122"/>
                <a:cs typeface="Georgia" pitchFamily="34" charset="-120"/>
              </a:rPr>
              <a:t>A′</a:t>
            </a:r>
            <a:endParaRPr lang="en-US" sz="1500" dirty="0"/>
          </a:p>
        </p:txBody>
      </p:sp>
      <p:sp>
        <p:nvSpPr>
          <p:cNvPr id="12" name="Text 9"/>
          <p:cNvSpPr/>
          <p:nvPr/>
        </p:nvSpPr>
        <p:spPr>
          <a:xfrm>
            <a:off x="4559300" y="2564656"/>
            <a:ext cx="538937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B3631"/>
                </a:solidFill>
                <a:latin typeface="Georgia" pitchFamily="34" charset="0"/>
                <a:ea typeface="Georgia" pitchFamily="34" charset="-122"/>
                <a:cs typeface="Georgia" pitchFamily="34" charset="-120"/>
              </a:rPr>
              <a:t>the input is 0</a:t>
            </a:r>
            <a:endParaRPr lang="en-US" sz="1300" dirty="0"/>
          </a:p>
        </p:txBody>
      </p:sp>
      <p:sp>
        <p:nvSpPr>
          <p:cNvPr id="13" name="Text 10"/>
          <p:cNvSpPr/>
          <p:nvPr/>
        </p:nvSpPr>
        <p:spPr>
          <a:xfrm>
            <a:off x="9791700" y="2546896"/>
            <a:ext cx="16383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F1B18"/>
                </a:solidFill>
                <a:latin typeface="Georgia" pitchFamily="34" charset="0"/>
                <a:ea typeface="Georgia" pitchFamily="34" charset="-122"/>
                <a:cs typeface="Georgia" pitchFamily="34" charset="-120"/>
              </a:rPr>
              <a:t>1 1 0 0</a:t>
            </a:r>
            <a:endParaRPr lang="en-US" sz="1500" dirty="0"/>
          </a:p>
        </p:txBody>
      </p:sp>
      <p:sp>
        <p:nvSpPr>
          <p:cNvPr id="14" name="Shape 11"/>
          <p:cNvSpPr/>
          <p:nvPr/>
        </p:nvSpPr>
        <p:spPr>
          <a:xfrm>
            <a:off x="812800" y="2953296"/>
            <a:ext cx="10566400" cy="0"/>
          </a:xfrm>
          <a:prstGeom prst="line">
            <a:avLst/>
          </a:prstGeom>
          <a:noFill/>
          <a:ln w="6350">
            <a:solidFill>
              <a:srgbClr val="D9D0C4"/>
            </a:solidFill>
            <a:prstDash val="solid"/>
          </a:ln>
        </p:spPr>
        <p:txBody>
          <a:bodyPr/>
          <a:lstStyle/>
          <a:p>
            <a:endParaRPr lang="en-US"/>
          </a:p>
        </p:txBody>
      </p:sp>
      <p:sp>
        <p:nvSpPr>
          <p:cNvPr id="15" name="Text 12"/>
          <p:cNvSpPr/>
          <p:nvPr/>
        </p:nvSpPr>
        <p:spPr>
          <a:xfrm>
            <a:off x="812800" y="3092996"/>
            <a:ext cx="10033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B18"/>
                </a:solidFill>
                <a:latin typeface="Georgia" pitchFamily="34" charset="0"/>
                <a:ea typeface="Georgia" pitchFamily="34" charset="-122"/>
                <a:cs typeface="Georgia" pitchFamily="34" charset="-120"/>
              </a:rPr>
              <a:t>AND</a:t>
            </a:r>
            <a:endParaRPr lang="en-US" sz="1500" dirty="0"/>
          </a:p>
        </p:txBody>
      </p:sp>
      <p:pic>
        <p:nvPicPr>
          <p:cNvPr id="16" name="Image 1" descr="AND gate symbol"/>
          <p:cNvPicPr>
            <a:picLocks noChangeAspect="1"/>
          </p:cNvPicPr>
          <p:nvPr/>
        </p:nvPicPr>
        <p:blipFill>
          <a:blip r:embed="rId4"/>
          <a:srcRect/>
          <a:stretch/>
        </p:blipFill>
        <p:spPr>
          <a:xfrm>
            <a:off x="1765300" y="2981871"/>
            <a:ext cx="1003300" cy="488950"/>
          </a:xfrm>
          <a:prstGeom prst="rect">
            <a:avLst/>
          </a:prstGeom>
        </p:spPr>
      </p:pic>
      <p:sp>
        <p:nvSpPr>
          <p:cNvPr id="17" name="Text 13"/>
          <p:cNvSpPr/>
          <p:nvPr/>
        </p:nvSpPr>
        <p:spPr>
          <a:xfrm>
            <a:off x="3098800" y="3092996"/>
            <a:ext cx="1511300" cy="292100"/>
          </a:xfrm>
          <a:prstGeom prst="rect">
            <a:avLst/>
          </a:prstGeom>
          <a:noFill/>
          <a:ln/>
        </p:spPr>
        <p:txBody>
          <a:bodyPr wrap="square" lIns="0" tIns="0" rIns="0" bIns="0" rtlCol="0" anchor="t">
            <a:normAutofit/>
          </a:bodyPr>
          <a:lstStyle/>
          <a:p>
            <a:pPr marL="0" indent="0" algn="l">
              <a:lnSpc>
                <a:spcPts val="2100"/>
              </a:lnSpc>
              <a:buNone/>
            </a:pPr>
            <a:r>
              <a:rPr lang="en-US" sz="1500" i="1" dirty="0">
                <a:solidFill>
                  <a:srgbClr val="1F1B18"/>
                </a:solidFill>
                <a:latin typeface="Georgia" pitchFamily="34" charset="0"/>
                <a:ea typeface="Georgia" pitchFamily="34" charset="-122"/>
                <a:cs typeface="Georgia" pitchFamily="34" charset="-120"/>
              </a:rPr>
              <a:t>AB</a:t>
            </a:r>
            <a:endParaRPr lang="en-US" sz="1500" dirty="0"/>
          </a:p>
        </p:txBody>
      </p:sp>
      <p:sp>
        <p:nvSpPr>
          <p:cNvPr id="18" name="Text 14"/>
          <p:cNvSpPr/>
          <p:nvPr/>
        </p:nvSpPr>
        <p:spPr>
          <a:xfrm>
            <a:off x="4559300" y="3110756"/>
            <a:ext cx="538937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B3631"/>
                </a:solidFill>
                <a:latin typeface="Georgia" pitchFamily="34" charset="0"/>
                <a:ea typeface="Georgia" pitchFamily="34" charset="-122"/>
                <a:cs typeface="Georgia" pitchFamily="34" charset="-120"/>
              </a:rPr>
              <a:t>both inputs are 1</a:t>
            </a:r>
            <a:endParaRPr lang="en-US" sz="1300" dirty="0"/>
          </a:p>
        </p:txBody>
      </p:sp>
      <p:sp>
        <p:nvSpPr>
          <p:cNvPr id="19" name="Text 15"/>
          <p:cNvSpPr/>
          <p:nvPr/>
        </p:nvSpPr>
        <p:spPr>
          <a:xfrm>
            <a:off x="9791700" y="3092996"/>
            <a:ext cx="16383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F1B18"/>
                </a:solidFill>
                <a:latin typeface="Georgia" pitchFamily="34" charset="0"/>
                <a:ea typeface="Georgia" pitchFamily="34" charset="-122"/>
                <a:cs typeface="Georgia" pitchFamily="34" charset="-120"/>
              </a:rPr>
              <a:t>0 0 0 1</a:t>
            </a:r>
            <a:endParaRPr lang="en-US" sz="1500" dirty="0"/>
          </a:p>
        </p:txBody>
      </p:sp>
      <p:sp>
        <p:nvSpPr>
          <p:cNvPr id="20" name="Shape 16"/>
          <p:cNvSpPr/>
          <p:nvPr/>
        </p:nvSpPr>
        <p:spPr>
          <a:xfrm>
            <a:off x="812800" y="3499396"/>
            <a:ext cx="10566400" cy="0"/>
          </a:xfrm>
          <a:prstGeom prst="line">
            <a:avLst/>
          </a:prstGeom>
          <a:noFill/>
          <a:ln w="6350">
            <a:solidFill>
              <a:srgbClr val="D9D0C4"/>
            </a:solidFill>
            <a:prstDash val="solid"/>
          </a:ln>
        </p:spPr>
        <p:txBody>
          <a:bodyPr/>
          <a:lstStyle/>
          <a:p>
            <a:endParaRPr lang="en-US"/>
          </a:p>
        </p:txBody>
      </p:sp>
      <p:sp>
        <p:nvSpPr>
          <p:cNvPr id="21" name="Text 17"/>
          <p:cNvSpPr/>
          <p:nvPr/>
        </p:nvSpPr>
        <p:spPr>
          <a:xfrm>
            <a:off x="812800" y="3639096"/>
            <a:ext cx="10033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B18"/>
                </a:solidFill>
                <a:latin typeface="Georgia" pitchFamily="34" charset="0"/>
                <a:ea typeface="Georgia" pitchFamily="34" charset="-122"/>
                <a:cs typeface="Georgia" pitchFamily="34" charset="-120"/>
              </a:rPr>
              <a:t>OR</a:t>
            </a:r>
            <a:endParaRPr lang="en-US" sz="1500" dirty="0"/>
          </a:p>
        </p:txBody>
      </p:sp>
      <p:pic>
        <p:nvPicPr>
          <p:cNvPr id="22" name="Image 2" descr="OR gate symbol"/>
          <p:cNvPicPr>
            <a:picLocks noChangeAspect="1"/>
          </p:cNvPicPr>
          <p:nvPr/>
        </p:nvPicPr>
        <p:blipFill>
          <a:blip r:embed="rId5"/>
          <a:srcRect/>
          <a:stretch/>
        </p:blipFill>
        <p:spPr>
          <a:xfrm>
            <a:off x="1765300" y="3527971"/>
            <a:ext cx="1003300" cy="488950"/>
          </a:xfrm>
          <a:prstGeom prst="rect">
            <a:avLst/>
          </a:prstGeom>
        </p:spPr>
      </p:pic>
      <p:sp>
        <p:nvSpPr>
          <p:cNvPr id="23" name="Text 18"/>
          <p:cNvSpPr/>
          <p:nvPr/>
        </p:nvSpPr>
        <p:spPr>
          <a:xfrm>
            <a:off x="3098800" y="3639096"/>
            <a:ext cx="1511300" cy="292100"/>
          </a:xfrm>
          <a:prstGeom prst="rect">
            <a:avLst/>
          </a:prstGeom>
          <a:noFill/>
          <a:ln/>
        </p:spPr>
        <p:txBody>
          <a:bodyPr wrap="square" lIns="0" tIns="0" rIns="0" bIns="0" rtlCol="0" anchor="t">
            <a:normAutofit/>
          </a:bodyPr>
          <a:lstStyle/>
          <a:p>
            <a:pPr marL="0" indent="0" algn="l">
              <a:lnSpc>
                <a:spcPts val="2100"/>
              </a:lnSpc>
              <a:buNone/>
            </a:pPr>
            <a:r>
              <a:rPr lang="en-US" sz="1500" i="1" dirty="0">
                <a:solidFill>
                  <a:srgbClr val="1F1B18"/>
                </a:solidFill>
                <a:latin typeface="Georgia" pitchFamily="34" charset="0"/>
                <a:ea typeface="Georgia" pitchFamily="34" charset="-122"/>
                <a:cs typeface="Georgia" pitchFamily="34" charset="-120"/>
              </a:rPr>
              <a:t>A + B</a:t>
            </a:r>
            <a:endParaRPr lang="en-US" sz="1500" dirty="0"/>
          </a:p>
        </p:txBody>
      </p:sp>
      <p:sp>
        <p:nvSpPr>
          <p:cNvPr id="24" name="Text 19"/>
          <p:cNvSpPr/>
          <p:nvPr/>
        </p:nvSpPr>
        <p:spPr>
          <a:xfrm>
            <a:off x="4559300" y="3656856"/>
            <a:ext cx="538937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B3631"/>
                </a:solidFill>
                <a:latin typeface="Georgia" pitchFamily="34" charset="0"/>
                <a:ea typeface="Georgia" pitchFamily="34" charset="-122"/>
                <a:cs typeface="Georgia" pitchFamily="34" charset="-120"/>
              </a:rPr>
              <a:t>at least one input is 1</a:t>
            </a:r>
            <a:endParaRPr lang="en-US" sz="1300" dirty="0"/>
          </a:p>
        </p:txBody>
      </p:sp>
      <p:sp>
        <p:nvSpPr>
          <p:cNvPr id="25" name="Text 20"/>
          <p:cNvSpPr/>
          <p:nvPr/>
        </p:nvSpPr>
        <p:spPr>
          <a:xfrm>
            <a:off x="9791700" y="3639096"/>
            <a:ext cx="16383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F1B18"/>
                </a:solidFill>
                <a:latin typeface="Georgia" pitchFamily="34" charset="0"/>
                <a:ea typeface="Georgia" pitchFamily="34" charset="-122"/>
                <a:cs typeface="Georgia" pitchFamily="34" charset="-120"/>
              </a:rPr>
              <a:t>0 1 1 1</a:t>
            </a:r>
            <a:endParaRPr lang="en-US" sz="1500" dirty="0"/>
          </a:p>
        </p:txBody>
      </p:sp>
      <p:sp>
        <p:nvSpPr>
          <p:cNvPr id="26" name="Shape 21"/>
          <p:cNvSpPr/>
          <p:nvPr/>
        </p:nvSpPr>
        <p:spPr>
          <a:xfrm>
            <a:off x="812800" y="4045496"/>
            <a:ext cx="10566400" cy="0"/>
          </a:xfrm>
          <a:prstGeom prst="line">
            <a:avLst/>
          </a:prstGeom>
          <a:noFill/>
          <a:ln w="6350">
            <a:solidFill>
              <a:srgbClr val="D9D0C4"/>
            </a:solidFill>
            <a:prstDash val="solid"/>
          </a:ln>
        </p:spPr>
        <p:txBody>
          <a:bodyPr/>
          <a:lstStyle/>
          <a:p>
            <a:endParaRPr lang="en-US"/>
          </a:p>
        </p:txBody>
      </p:sp>
      <p:sp>
        <p:nvSpPr>
          <p:cNvPr id="27" name="Text 22"/>
          <p:cNvSpPr/>
          <p:nvPr/>
        </p:nvSpPr>
        <p:spPr>
          <a:xfrm>
            <a:off x="812800" y="4185196"/>
            <a:ext cx="10033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B18"/>
                </a:solidFill>
                <a:latin typeface="Georgia" pitchFamily="34" charset="0"/>
                <a:ea typeface="Georgia" pitchFamily="34" charset="-122"/>
                <a:cs typeface="Georgia" pitchFamily="34" charset="-120"/>
              </a:rPr>
              <a:t>XOR</a:t>
            </a:r>
            <a:endParaRPr lang="en-US" sz="1500" dirty="0"/>
          </a:p>
        </p:txBody>
      </p:sp>
      <p:pic>
        <p:nvPicPr>
          <p:cNvPr id="28" name="Image 3" descr="XOR gate symbol"/>
          <p:cNvPicPr>
            <a:picLocks noChangeAspect="1"/>
          </p:cNvPicPr>
          <p:nvPr/>
        </p:nvPicPr>
        <p:blipFill>
          <a:blip r:embed="rId6"/>
          <a:srcRect/>
          <a:stretch/>
        </p:blipFill>
        <p:spPr>
          <a:xfrm>
            <a:off x="1765300" y="4074071"/>
            <a:ext cx="1003300" cy="488950"/>
          </a:xfrm>
          <a:prstGeom prst="rect">
            <a:avLst/>
          </a:prstGeom>
        </p:spPr>
      </p:pic>
      <p:sp>
        <p:nvSpPr>
          <p:cNvPr id="29" name="Text 23"/>
          <p:cNvSpPr/>
          <p:nvPr/>
        </p:nvSpPr>
        <p:spPr>
          <a:xfrm>
            <a:off x="3098800" y="4185196"/>
            <a:ext cx="1511300" cy="292100"/>
          </a:xfrm>
          <a:prstGeom prst="rect">
            <a:avLst/>
          </a:prstGeom>
          <a:noFill/>
          <a:ln/>
        </p:spPr>
        <p:txBody>
          <a:bodyPr wrap="square" lIns="0" tIns="0" rIns="0" bIns="0" rtlCol="0" anchor="t">
            <a:normAutofit/>
          </a:bodyPr>
          <a:lstStyle/>
          <a:p>
            <a:pPr marL="0" indent="0" algn="l">
              <a:lnSpc>
                <a:spcPts val="2100"/>
              </a:lnSpc>
              <a:buNone/>
            </a:pPr>
            <a:r>
              <a:rPr lang="en-US" sz="1500" i="1" dirty="0">
                <a:solidFill>
                  <a:srgbClr val="1F1B18"/>
                </a:solidFill>
                <a:latin typeface="Georgia" pitchFamily="34" charset="0"/>
                <a:ea typeface="Georgia" pitchFamily="34" charset="-122"/>
                <a:cs typeface="Georgia" pitchFamily="34" charset="-120"/>
              </a:rPr>
              <a:t>A ⊕ B</a:t>
            </a:r>
            <a:endParaRPr lang="en-US" sz="1500" dirty="0"/>
          </a:p>
        </p:txBody>
      </p:sp>
      <p:sp>
        <p:nvSpPr>
          <p:cNvPr id="30" name="Text 24"/>
          <p:cNvSpPr/>
          <p:nvPr/>
        </p:nvSpPr>
        <p:spPr>
          <a:xfrm>
            <a:off x="4559300" y="4202956"/>
            <a:ext cx="538937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B3631"/>
                </a:solidFill>
                <a:latin typeface="Georgia" pitchFamily="34" charset="0"/>
                <a:ea typeface="Georgia" pitchFamily="34" charset="-122"/>
                <a:cs typeface="Georgia" pitchFamily="34" charset="-120"/>
              </a:rPr>
              <a:t>the inputs differ</a:t>
            </a:r>
            <a:endParaRPr lang="en-US" sz="1300" dirty="0"/>
          </a:p>
        </p:txBody>
      </p:sp>
      <p:sp>
        <p:nvSpPr>
          <p:cNvPr id="31" name="Text 25"/>
          <p:cNvSpPr/>
          <p:nvPr/>
        </p:nvSpPr>
        <p:spPr>
          <a:xfrm>
            <a:off x="9791700" y="4185196"/>
            <a:ext cx="16383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F1B18"/>
                </a:solidFill>
                <a:latin typeface="Georgia" pitchFamily="34" charset="0"/>
                <a:ea typeface="Georgia" pitchFamily="34" charset="-122"/>
                <a:cs typeface="Georgia" pitchFamily="34" charset="-120"/>
              </a:rPr>
              <a:t>0 1 1 0</a:t>
            </a:r>
            <a:endParaRPr lang="en-US" sz="1500" dirty="0"/>
          </a:p>
        </p:txBody>
      </p:sp>
      <p:sp>
        <p:nvSpPr>
          <p:cNvPr id="32" name="Shape 26"/>
          <p:cNvSpPr/>
          <p:nvPr/>
        </p:nvSpPr>
        <p:spPr>
          <a:xfrm>
            <a:off x="812800" y="4591596"/>
            <a:ext cx="10566400" cy="0"/>
          </a:xfrm>
          <a:prstGeom prst="line">
            <a:avLst/>
          </a:prstGeom>
          <a:noFill/>
          <a:ln w="6350">
            <a:solidFill>
              <a:srgbClr val="D9D0C4"/>
            </a:solidFill>
            <a:prstDash val="solid"/>
          </a:ln>
        </p:spPr>
        <p:txBody>
          <a:bodyPr/>
          <a:lstStyle/>
          <a:p>
            <a:endParaRPr lang="en-US"/>
          </a:p>
        </p:txBody>
      </p:sp>
      <p:sp>
        <p:nvSpPr>
          <p:cNvPr id="33" name="Text 27"/>
          <p:cNvSpPr/>
          <p:nvPr/>
        </p:nvSpPr>
        <p:spPr>
          <a:xfrm>
            <a:off x="812800" y="4731296"/>
            <a:ext cx="10033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B18"/>
                </a:solidFill>
                <a:latin typeface="Georgia" pitchFamily="34" charset="0"/>
                <a:ea typeface="Georgia" pitchFamily="34" charset="-122"/>
                <a:cs typeface="Georgia" pitchFamily="34" charset="-120"/>
              </a:rPr>
              <a:t>NAND</a:t>
            </a:r>
            <a:endParaRPr lang="en-US" sz="1500" dirty="0"/>
          </a:p>
        </p:txBody>
      </p:sp>
      <p:pic>
        <p:nvPicPr>
          <p:cNvPr id="34" name="Image 4" descr="NAND gate symbol"/>
          <p:cNvPicPr>
            <a:picLocks noChangeAspect="1"/>
          </p:cNvPicPr>
          <p:nvPr/>
        </p:nvPicPr>
        <p:blipFill>
          <a:blip r:embed="rId7"/>
          <a:srcRect/>
          <a:stretch/>
        </p:blipFill>
        <p:spPr>
          <a:xfrm>
            <a:off x="1765300" y="4620171"/>
            <a:ext cx="1003300" cy="488950"/>
          </a:xfrm>
          <a:prstGeom prst="rect">
            <a:avLst/>
          </a:prstGeom>
        </p:spPr>
      </p:pic>
      <p:sp>
        <p:nvSpPr>
          <p:cNvPr id="35" name="Text 28"/>
          <p:cNvSpPr/>
          <p:nvPr/>
        </p:nvSpPr>
        <p:spPr>
          <a:xfrm>
            <a:off x="3098800" y="4731296"/>
            <a:ext cx="1511300" cy="292100"/>
          </a:xfrm>
          <a:prstGeom prst="rect">
            <a:avLst/>
          </a:prstGeom>
          <a:noFill/>
          <a:ln/>
        </p:spPr>
        <p:txBody>
          <a:bodyPr wrap="square" lIns="0" tIns="0" rIns="0" bIns="0" rtlCol="0" anchor="t">
            <a:normAutofit/>
          </a:bodyPr>
          <a:lstStyle/>
          <a:p>
            <a:pPr marL="0" indent="0" algn="l">
              <a:lnSpc>
                <a:spcPts val="2100"/>
              </a:lnSpc>
              <a:buNone/>
            </a:pPr>
            <a:r>
              <a:rPr lang="en-US" sz="1500" i="1" dirty="0">
                <a:solidFill>
                  <a:srgbClr val="1F1B18"/>
                </a:solidFill>
                <a:latin typeface="Georgia" pitchFamily="34" charset="0"/>
                <a:ea typeface="Georgia" pitchFamily="34" charset="-122"/>
                <a:cs typeface="Georgia" pitchFamily="34" charset="-120"/>
              </a:rPr>
              <a:t>(AB)′</a:t>
            </a:r>
            <a:endParaRPr lang="en-US" sz="1500" dirty="0"/>
          </a:p>
        </p:txBody>
      </p:sp>
      <p:sp>
        <p:nvSpPr>
          <p:cNvPr id="36" name="Text 29"/>
          <p:cNvSpPr/>
          <p:nvPr/>
        </p:nvSpPr>
        <p:spPr>
          <a:xfrm>
            <a:off x="4559300" y="4749056"/>
            <a:ext cx="538937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B3631"/>
                </a:solidFill>
                <a:latin typeface="Georgia" pitchFamily="34" charset="0"/>
                <a:ea typeface="Georgia" pitchFamily="34" charset="-122"/>
                <a:cs typeface="Georgia" pitchFamily="34" charset="-120"/>
              </a:rPr>
              <a:t>the inputs are not both 1</a:t>
            </a:r>
            <a:endParaRPr lang="en-US" sz="1300" dirty="0"/>
          </a:p>
        </p:txBody>
      </p:sp>
      <p:sp>
        <p:nvSpPr>
          <p:cNvPr id="37" name="Text 30"/>
          <p:cNvSpPr/>
          <p:nvPr/>
        </p:nvSpPr>
        <p:spPr>
          <a:xfrm>
            <a:off x="9791700" y="4731296"/>
            <a:ext cx="16383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F1B18"/>
                </a:solidFill>
                <a:latin typeface="Georgia" pitchFamily="34" charset="0"/>
                <a:ea typeface="Georgia" pitchFamily="34" charset="-122"/>
                <a:cs typeface="Georgia" pitchFamily="34" charset="-120"/>
              </a:rPr>
              <a:t>1 1 1 0</a:t>
            </a:r>
            <a:endParaRPr lang="en-US" sz="1500" dirty="0"/>
          </a:p>
        </p:txBody>
      </p:sp>
      <p:sp>
        <p:nvSpPr>
          <p:cNvPr id="38" name="Shape 31"/>
          <p:cNvSpPr/>
          <p:nvPr/>
        </p:nvSpPr>
        <p:spPr>
          <a:xfrm>
            <a:off x="812800" y="5137696"/>
            <a:ext cx="10566400" cy="0"/>
          </a:xfrm>
          <a:prstGeom prst="line">
            <a:avLst/>
          </a:prstGeom>
          <a:noFill/>
          <a:ln w="6350">
            <a:solidFill>
              <a:srgbClr val="D9D0C4"/>
            </a:solidFill>
            <a:prstDash val="solid"/>
          </a:ln>
        </p:spPr>
        <p:txBody>
          <a:bodyPr/>
          <a:lstStyle/>
          <a:p>
            <a:endParaRPr lang="en-US"/>
          </a:p>
        </p:txBody>
      </p:sp>
      <p:sp>
        <p:nvSpPr>
          <p:cNvPr id="39" name="Text 32"/>
          <p:cNvSpPr/>
          <p:nvPr/>
        </p:nvSpPr>
        <p:spPr>
          <a:xfrm>
            <a:off x="812800" y="5277396"/>
            <a:ext cx="10033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B18"/>
                </a:solidFill>
                <a:latin typeface="Georgia" pitchFamily="34" charset="0"/>
                <a:ea typeface="Georgia" pitchFamily="34" charset="-122"/>
                <a:cs typeface="Georgia" pitchFamily="34" charset="-120"/>
              </a:rPr>
              <a:t>NOR</a:t>
            </a:r>
            <a:endParaRPr lang="en-US" sz="1500" dirty="0"/>
          </a:p>
        </p:txBody>
      </p:sp>
      <p:pic>
        <p:nvPicPr>
          <p:cNvPr id="40" name="Image 5" descr="NOR gate symbol"/>
          <p:cNvPicPr>
            <a:picLocks noChangeAspect="1"/>
          </p:cNvPicPr>
          <p:nvPr/>
        </p:nvPicPr>
        <p:blipFill>
          <a:blip r:embed="rId8"/>
          <a:srcRect/>
          <a:stretch/>
        </p:blipFill>
        <p:spPr>
          <a:xfrm>
            <a:off x="1765300" y="5166271"/>
            <a:ext cx="1003300" cy="488950"/>
          </a:xfrm>
          <a:prstGeom prst="rect">
            <a:avLst/>
          </a:prstGeom>
        </p:spPr>
      </p:pic>
      <p:sp>
        <p:nvSpPr>
          <p:cNvPr id="41" name="Text 33"/>
          <p:cNvSpPr/>
          <p:nvPr/>
        </p:nvSpPr>
        <p:spPr>
          <a:xfrm>
            <a:off x="3098800" y="5277396"/>
            <a:ext cx="1511300" cy="292100"/>
          </a:xfrm>
          <a:prstGeom prst="rect">
            <a:avLst/>
          </a:prstGeom>
          <a:noFill/>
          <a:ln/>
        </p:spPr>
        <p:txBody>
          <a:bodyPr wrap="square" lIns="0" tIns="0" rIns="0" bIns="0" rtlCol="0" anchor="t">
            <a:normAutofit/>
          </a:bodyPr>
          <a:lstStyle/>
          <a:p>
            <a:pPr marL="0" indent="0" algn="l">
              <a:lnSpc>
                <a:spcPts val="2100"/>
              </a:lnSpc>
              <a:buNone/>
            </a:pPr>
            <a:r>
              <a:rPr lang="en-US" sz="1500" i="1" dirty="0">
                <a:solidFill>
                  <a:srgbClr val="1F1B18"/>
                </a:solidFill>
                <a:latin typeface="Georgia" pitchFamily="34" charset="0"/>
                <a:ea typeface="Georgia" pitchFamily="34" charset="-122"/>
                <a:cs typeface="Georgia" pitchFamily="34" charset="-120"/>
              </a:rPr>
              <a:t>(A + B)′</a:t>
            </a:r>
            <a:endParaRPr lang="en-US" sz="1500" dirty="0"/>
          </a:p>
        </p:txBody>
      </p:sp>
      <p:sp>
        <p:nvSpPr>
          <p:cNvPr id="42" name="Text 34"/>
          <p:cNvSpPr/>
          <p:nvPr/>
        </p:nvSpPr>
        <p:spPr>
          <a:xfrm>
            <a:off x="4559300" y="5295156"/>
            <a:ext cx="538937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B3631"/>
                </a:solidFill>
                <a:latin typeface="Georgia" pitchFamily="34" charset="0"/>
                <a:ea typeface="Georgia" pitchFamily="34" charset="-122"/>
                <a:cs typeface="Georgia" pitchFamily="34" charset="-120"/>
              </a:rPr>
              <a:t>both inputs are 0</a:t>
            </a:r>
            <a:endParaRPr lang="en-US" sz="1300" dirty="0"/>
          </a:p>
        </p:txBody>
      </p:sp>
      <p:sp>
        <p:nvSpPr>
          <p:cNvPr id="43" name="Text 35"/>
          <p:cNvSpPr/>
          <p:nvPr/>
        </p:nvSpPr>
        <p:spPr>
          <a:xfrm>
            <a:off x="9791700" y="5277396"/>
            <a:ext cx="16383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F1B18"/>
                </a:solidFill>
                <a:latin typeface="Georgia" pitchFamily="34" charset="0"/>
                <a:ea typeface="Georgia" pitchFamily="34" charset="-122"/>
                <a:cs typeface="Georgia" pitchFamily="34" charset="-120"/>
              </a:rPr>
              <a:t>1 0 0 0</a:t>
            </a:r>
            <a:endParaRPr lang="en-US" sz="1500" dirty="0"/>
          </a:p>
        </p:txBody>
      </p:sp>
      <p:sp>
        <p:nvSpPr>
          <p:cNvPr id="44" name="Text 3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45" name="Text 3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1 · FROM SWITCHES TO GATES</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Bar or prime: the same NOT</a:t>
            </a:r>
            <a:endParaRPr lang="en-US" sz="3200" dirty="0"/>
          </a:p>
        </p:txBody>
      </p:sp>
      <p:sp>
        <p:nvSpPr>
          <p:cNvPr id="4" name="Text 2"/>
          <p:cNvSpPr/>
          <p:nvPr/>
        </p:nvSpPr>
        <p:spPr>
          <a:xfrm>
            <a:off x="812800" y="1930350"/>
            <a:ext cx="196215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F665D"/>
                </a:solidFill>
                <a:latin typeface="Arial" pitchFamily="34" charset="0"/>
                <a:ea typeface="Arial" pitchFamily="34" charset="-122"/>
                <a:cs typeface="Arial" pitchFamily="34" charset="-120"/>
              </a:rPr>
              <a:t>BAR (HANDOUT)</a:t>
            </a:r>
            <a:endParaRPr lang="en-US" sz="1200" dirty="0"/>
          </a:p>
        </p:txBody>
      </p:sp>
      <p:sp>
        <p:nvSpPr>
          <p:cNvPr id="5" name="Text 3"/>
          <p:cNvSpPr/>
          <p:nvPr/>
        </p:nvSpPr>
        <p:spPr>
          <a:xfrm>
            <a:off x="2717800" y="1930350"/>
            <a:ext cx="196215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F665D"/>
                </a:solidFill>
                <a:latin typeface="Arial" pitchFamily="34" charset="0"/>
                <a:ea typeface="Arial" pitchFamily="34" charset="-122"/>
                <a:cs typeface="Arial" pitchFamily="34" charset="-120"/>
              </a:rPr>
              <a:t>PRIME (SLIDES)</a:t>
            </a:r>
            <a:endParaRPr lang="en-US" sz="1200" dirty="0"/>
          </a:p>
        </p:txBody>
      </p:sp>
      <p:sp>
        <p:nvSpPr>
          <p:cNvPr id="6" name="Text 4"/>
          <p:cNvSpPr/>
          <p:nvPr/>
        </p:nvSpPr>
        <p:spPr>
          <a:xfrm>
            <a:off x="4622800" y="1930350"/>
            <a:ext cx="69590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F665D"/>
                </a:solidFill>
                <a:latin typeface="Arial" pitchFamily="34" charset="0"/>
                <a:ea typeface="Arial" pitchFamily="34" charset="-122"/>
                <a:cs typeface="Arial" pitchFamily="34" charset="-120"/>
              </a:rPr>
              <a:t>MEANS</a:t>
            </a:r>
            <a:endParaRPr lang="en-US" sz="1200" dirty="0"/>
          </a:p>
        </p:txBody>
      </p:sp>
      <p:pic>
        <p:nvPicPr>
          <p:cNvPr id="7" name="Image 0" descr="A with a bar over it"/>
          <p:cNvPicPr>
            <a:picLocks noChangeAspect="1"/>
          </p:cNvPicPr>
          <p:nvPr/>
        </p:nvPicPr>
        <p:blipFill>
          <a:blip r:embed="rId3"/>
          <a:srcRect l="-291" r="-291"/>
          <a:stretch/>
        </p:blipFill>
        <p:spPr>
          <a:xfrm>
            <a:off x="812800" y="2283371"/>
            <a:ext cx="326380" cy="406400"/>
          </a:xfrm>
          <a:prstGeom prst="rect">
            <a:avLst/>
          </a:prstGeom>
        </p:spPr>
      </p:pic>
      <p:sp>
        <p:nvSpPr>
          <p:cNvPr id="8" name="Text 5"/>
          <p:cNvSpPr/>
          <p:nvPr/>
        </p:nvSpPr>
        <p:spPr>
          <a:xfrm>
            <a:off x="2717800" y="2308771"/>
            <a:ext cx="1962150" cy="381000"/>
          </a:xfrm>
          <a:prstGeom prst="rect">
            <a:avLst/>
          </a:prstGeom>
          <a:noFill/>
          <a:ln/>
        </p:spPr>
        <p:txBody>
          <a:bodyPr wrap="square" lIns="0" tIns="0" rIns="0" bIns="0" rtlCol="0" anchor="t">
            <a:normAutofit/>
          </a:bodyPr>
          <a:lstStyle/>
          <a:p>
            <a:pPr marL="0" indent="0" algn="l">
              <a:lnSpc>
                <a:spcPts val="2800"/>
              </a:lnSpc>
              <a:buNone/>
            </a:pPr>
            <a:r>
              <a:rPr lang="en-US" sz="2000" i="1" dirty="0">
                <a:solidFill>
                  <a:srgbClr val="1F1B18"/>
                </a:solidFill>
                <a:latin typeface="Georgia" pitchFamily="34" charset="0"/>
                <a:ea typeface="Georgia" pitchFamily="34" charset="-122"/>
                <a:cs typeface="Georgia" pitchFamily="34" charset="-120"/>
              </a:rPr>
              <a:t>A′</a:t>
            </a:r>
            <a:endParaRPr lang="en-US" sz="2000" dirty="0"/>
          </a:p>
        </p:txBody>
      </p:sp>
      <p:sp>
        <p:nvSpPr>
          <p:cNvPr id="9" name="Text 6"/>
          <p:cNvSpPr/>
          <p:nvPr/>
        </p:nvSpPr>
        <p:spPr>
          <a:xfrm>
            <a:off x="4622800" y="2353221"/>
            <a:ext cx="69590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B3631"/>
                </a:solidFill>
                <a:latin typeface="Georgia" pitchFamily="34" charset="0"/>
                <a:ea typeface="Georgia" pitchFamily="34" charset="-122"/>
                <a:cs typeface="Georgia" pitchFamily="34" charset="-120"/>
              </a:rPr>
              <a:t>NOT A</a:t>
            </a:r>
            <a:endParaRPr lang="en-US" sz="1500" dirty="0"/>
          </a:p>
        </p:txBody>
      </p:sp>
      <p:sp>
        <p:nvSpPr>
          <p:cNvPr id="10" name="Shape 7"/>
          <p:cNvSpPr/>
          <p:nvPr/>
        </p:nvSpPr>
        <p:spPr>
          <a:xfrm>
            <a:off x="812800" y="2781846"/>
            <a:ext cx="10566400" cy="0"/>
          </a:xfrm>
          <a:prstGeom prst="line">
            <a:avLst/>
          </a:prstGeom>
          <a:noFill/>
          <a:ln w="6350">
            <a:solidFill>
              <a:srgbClr val="D9D0C4"/>
            </a:solidFill>
            <a:prstDash val="solid"/>
          </a:ln>
        </p:spPr>
        <p:txBody>
          <a:bodyPr/>
          <a:lstStyle/>
          <a:p>
            <a:endParaRPr lang="en-US"/>
          </a:p>
        </p:txBody>
      </p:sp>
      <p:pic>
        <p:nvPicPr>
          <p:cNvPr id="11" name="Image 1" descr="A with a bar times B with a bar"/>
          <p:cNvPicPr>
            <a:picLocks noChangeAspect="1"/>
          </p:cNvPicPr>
          <p:nvPr/>
        </p:nvPicPr>
        <p:blipFill>
          <a:blip r:embed="rId4"/>
          <a:srcRect t="-348" b="-348"/>
          <a:stretch/>
        </p:blipFill>
        <p:spPr>
          <a:xfrm>
            <a:off x="812800" y="2873921"/>
            <a:ext cx="657820" cy="406400"/>
          </a:xfrm>
          <a:prstGeom prst="rect">
            <a:avLst/>
          </a:prstGeom>
        </p:spPr>
      </p:pic>
      <p:sp>
        <p:nvSpPr>
          <p:cNvPr id="12" name="Text 8"/>
          <p:cNvSpPr/>
          <p:nvPr/>
        </p:nvSpPr>
        <p:spPr>
          <a:xfrm>
            <a:off x="2717800" y="2899321"/>
            <a:ext cx="1962150" cy="381000"/>
          </a:xfrm>
          <a:prstGeom prst="rect">
            <a:avLst/>
          </a:prstGeom>
          <a:noFill/>
          <a:ln/>
        </p:spPr>
        <p:txBody>
          <a:bodyPr wrap="square" lIns="0" tIns="0" rIns="0" bIns="0" rtlCol="0" anchor="t">
            <a:normAutofit/>
          </a:bodyPr>
          <a:lstStyle/>
          <a:p>
            <a:pPr marL="0" indent="0" algn="l">
              <a:lnSpc>
                <a:spcPts val="2800"/>
              </a:lnSpc>
              <a:buNone/>
            </a:pPr>
            <a:r>
              <a:rPr lang="en-US" sz="2000" i="1" dirty="0">
                <a:solidFill>
                  <a:srgbClr val="1F1B18"/>
                </a:solidFill>
                <a:latin typeface="Georgia" pitchFamily="34" charset="0"/>
                <a:ea typeface="Georgia" pitchFamily="34" charset="-122"/>
                <a:cs typeface="Georgia" pitchFamily="34" charset="-120"/>
              </a:rPr>
              <a:t>A′B′</a:t>
            </a:r>
            <a:endParaRPr lang="en-US" sz="2000" dirty="0"/>
          </a:p>
        </p:txBody>
      </p:sp>
      <p:sp>
        <p:nvSpPr>
          <p:cNvPr id="13" name="Text 9"/>
          <p:cNvSpPr/>
          <p:nvPr/>
        </p:nvSpPr>
        <p:spPr>
          <a:xfrm>
            <a:off x="4622800" y="2943771"/>
            <a:ext cx="69590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B3631"/>
                </a:solidFill>
                <a:latin typeface="Georgia" pitchFamily="34" charset="0"/>
                <a:ea typeface="Georgia" pitchFamily="34" charset="-122"/>
                <a:cs typeface="Georgia" pitchFamily="34" charset="-120"/>
              </a:rPr>
              <a:t>NOT A, times NOT B: 1 on one row</a:t>
            </a:r>
            <a:endParaRPr lang="en-US" sz="1500" dirty="0"/>
          </a:p>
        </p:txBody>
      </p:sp>
      <p:sp>
        <p:nvSpPr>
          <p:cNvPr id="14" name="Shape 10"/>
          <p:cNvSpPr/>
          <p:nvPr/>
        </p:nvSpPr>
        <p:spPr>
          <a:xfrm>
            <a:off x="812800" y="3372396"/>
            <a:ext cx="10566400" cy="0"/>
          </a:xfrm>
          <a:prstGeom prst="line">
            <a:avLst/>
          </a:prstGeom>
          <a:noFill/>
          <a:ln w="6350">
            <a:solidFill>
              <a:srgbClr val="D9D0C4"/>
            </a:solidFill>
            <a:prstDash val="solid"/>
          </a:ln>
        </p:spPr>
        <p:txBody>
          <a:bodyPr/>
          <a:lstStyle/>
          <a:p>
            <a:endParaRPr lang="en-US"/>
          </a:p>
        </p:txBody>
      </p:sp>
      <p:pic>
        <p:nvPicPr>
          <p:cNvPr id="15" name="Image 2" descr="AB with one long bar over both letters"/>
          <p:cNvPicPr>
            <a:picLocks noChangeAspect="1"/>
          </p:cNvPicPr>
          <p:nvPr/>
        </p:nvPicPr>
        <p:blipFill>
          <a:blip r:embed="rId5"/>
          <a:srcRect/>
          <a:stretch/>
        </p:blipFill>
        <p:spPr>
          <a:xfrm>
            <a:off x="812800" y="3464471"/>
            <a:ext cx="603250" cy="406400"/>
          </a:xfrm>
          <a:prstGeom prst="rect">
            <a:avLst/>
          </a:prstGeom>
        </p:spPr>
      </p:pic>
      <p:sp>
        <p:nvSpPr>
          <p:cNvPr id="16" name="Text 11"/>
          <p:cNvSpPr/>
          <p:nvPr/>
        </p:nvSpPr>
        <p:spPr>
          <a:xfrm>
            <a:off x="2717800" y="3489871"/>
            <a:ext cx="1962150" cy="381000"/>
          </a:xfrm>
          <a:prstGeom prst="rect">
            <a:avLst/>
          </a:prstGeom>
          <a:noFill/>
          <a:ln/>
        </p:spPr>
        <p:txBody>
          <a:bodyPr wrap="square" lIns="0" tIns="0" rIns="0" bIns="0" rtlCol="0" anchor="t">
            <a:normAutofit/>
          </a:bodyPr>
          <a:lstStyle/>
          <a:p>
            <a:pPr marL="0" indent="0" algn="l">
              <a:lnSpc>
                <a:spcPts val="2800"/>
              </a:lnSpc>
              <a:buNone/>
            </a:pPr>
            <a:r>
              <a:rPr lang="en-US" sz="2000" i="1" dirty="0">
                <a:solidFill>
                  <a:srgbClr val="1F1B18"/>
                </a:solidFill>
                <a:latin typeface="Georgia" pitchFamily="34" charset="0"/>
                <a:ea typeface="Georgia" pitchFamily="34" charset="-122"/>
                <a:cs typeface="Georgia" pitchFamily="34" charset="-120"/>
              </a:rPr>
              <a:t>(AB)′</a:t>
            </a:r>
            <a:endParaRPr lang="en-US" sz="2000" dirty="0"/>
          </a:p>
        </p:txBody>
      </p:sp>
      <p:sp>
        <p:nvSpPr>
          <p:cNvPr id="17" name="Text 12"/>
          <p:cNvSpPr/>
          <p:nvPr/>
        </p:nvSpPr>
        <p:spPr>
          <a:xfrm>
            <a:off x="4622800" y="3534321"/>
            <a:ext cx="69590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B3631"/>
                </a:solidFill>
                <a:latin typeface="Georgia" pitchFamily="34" charset="0"/>
                <a:ea typeface="Georgia" pitchFamily="34" charset="-122"/>
                <a:cs typeface="Georgia" pitchFamily="34" charset="-120"/>
              </a:rPr>
              <a:t>NOT (A times B): NAND, 1 on three rows</a:t>
            </a:r>
            <a:endParaRPr lang="en-US" sz="1500" dirty="0"/>
          </a:p>
        </p:txBody>
      </p:sp>
      <p:sp>
        <p:nvSpPr>
          <p:cNvPr id="18" name="Shape 13"/>
          <p:cNvSpPr/>
          <p:nvPr/>
        </p:nvSpPr>
        <p:spPr>
          <a:xfrm>
            <a:off x="812800" y="3959771"/>
            <a:ext cx="10566400" cy="596900"/>
          </a:xfrm>
          <a:prstGeom prst="rect">
            <a:avLst/>
          </a:prstGeom>
          <a:solidFill>
            <a:srgbClr val="EFE8DD"/>
          </a:solidFill>
          <a:ln/>
        </p:spPr>
        <p:txBody>
          <a:bodyPr/>
          <a:lstStyle/>
          <a:p>
            <a:endParaRPr lang="en-US"/>
          </a:p>
        </p:txBody>
      </p:sp>
      <p:sp>
        <p:nvSpPr>
          <p:cNvPr id="19" name="Shape 14"/>
          <p:cNvSpPr/>
          <p:nvPr/>
        </p:nvSpPr>
        <p:spPr>
          <a:xfrm>
            <a:off x="838200" y="3959771"/>
            <a:ext cx="0" cy="596900"/>
          </a:xfrm>
          <a:prstGeom prst="line">
            <a:avLst/>
          </a:prstGeom>
          <a:noFill/>
          <a:ln w="50800">
            <a:solidFill>
              <a:srgbClr val="A3292A"/>
            </a:solidFill>
            <a:prstDash val="solid"/>
          </a:ln>
        </p:spPr>
        <p:txBody>
          <a:bodyPr/>
          <a:lstStyle/>
          <a:p>
            <a:endParaRPr lang="en-US"/>
          </a:p>
        </p:txBody>
      </p:sp>
      <p:sp>
        <p:nvSpPr>
          <p:cNvPr id="20" name="Text 15"/>
          <p:cNvSpPr/>
          <p:nvPr/>
        </p:nvSpPr>
        <p:spPr>
          <a:xfrm>
            <a:off x="1092200" y="4124871"/>
            <a:ext cx="1036015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Careful:</a:t>
            </a:r>
            <a:r>
              <a:rPr lang="en-US" sz="1500" dirty="0">
                <a:solidFill>
                  <a:srgbClr val="3B3631"/>
                </a:solidFill>
                <a:latin typeface="Georgia" pitchFamily="34" charset="0"/>
                <a:ea typeface="Georgia" pitchFamily="34" charset="-122"/>
                <a:cs typeface="Georgia" pitchFamily="34" charset="-120"/>
              </a:rPr>
              <a:t> two short bars and one long bar are different functions. Try </a:t>
            </a:r>
            <a:r>
              <a:rPr lang="en-US" sz="1500" i="1" dirty="0">
                <a:solidFill>
                  <a:srgbClr val="3B3631"/>
                </a:solidFill>
                <a:latin typeface="Georgia" pitchFamily="34" charset="0"/>
                <a:ea typeface="Georgia" pitchFamily="34" charset="-122"/>
                <a:cs typeface="Georgia" pitchFamily="34" charset="-120"/>
              </a:rPr>
              <a:t>A = 1</a:t>
            </a:r>
            <a:r>
              <a:rPr lang="en-US" sz="1500" dirty="0">
                <a:solidFill>
                  <a:srgbClr val="3B3631"/>
                </a:solidFill>
                <a:latin typeface="Georgia" pitchFamily="34" charset="0"/>
                <a:ea typeface="Georgia" pitchFamily="34" charset="-122"/>
                <a:cs typeface="Georgia" pitchFamily="34" charset="-120"/>
              </a:rPr>
              <a:t>, </a:t>
            </a:r>
            <a:r>
              <a:rPr lang="en-US" sz="1500" i="1" dirty="0">
                <a:solidFill>
                  <a:srgbClr val="3B3631"/>
                </a:solidFill>
                <a:latin typeface="Georgia" pitchFamily="34" charset="0"/>
                <a:ea typeface="Georgia" pitchFamily="34" charset="-122"/>
                <a:cs typeface="Georgia" pitchFamily="34" charset="-120"/>
              </a:rPr>
              <a:t>B = 0</a:t>
            </a:r>
            <a:r>
              <a:rPr lang="en-US" sz="1500" dirty="0">
                <a:solidFill>
                  <a:srgbClr val="3B3631"/>
                </a:solidFill>
                <a:latin typeface="Georgia" pitchFamily="34" charset="0"/>
                <a:ea typeface="Georgia" pitchFamily="34" charset="-122"/>
                <a:cs typeface="Georgia" pitchFamily="34" charset="-120"/>
              </a:rPr>
              <a:t>: </a:t>
            </a:r>
            <a:r>
              <a:rPr lang="en-US" sz="1500" i="1" dirty="0">
                <a:solidFill>
                  <a:srgbClr val="3B3631"/>
                </a:solidFill>
                <a:latin typeface="Georgia" pitchFamily="34" charset="0"/>
                <a:ea typeface="Georgia" pitchFamily="34" charset="-122"/>
                <a:cs typeface="Georgia" pitchFamily="34" charset="-120"/>
              </a:rPr>
              <a:t>A′B′ = 0</a:t>
            </a:r>
            <a:r>
              <a:rPr lang="en-US" sz="1500" dirty="0">
                <a:solidFill>
                  <a:srgbClr val="3B3631"/>
                </a:solidFill>
                <a:latin typeface="Georgia" pitchFamily="34" charset="0"/>
                <a:ea typeface="Georgia" pitchFamily="34" charset="-122"/>
                <a:cs typeface="Georgia" pitchFamily="34" charset="-120"/>
              </a:rPr>
              <a:t> but </a:t>
            </a:r>
            <a:r>
              <a:rPr lang="en-US" sz="1500" i="1" dirty="0">
                <a:solidFill>
                  <a:srgbClr val="3B3631"/>
                </a:solidFill>
                <a:latin typeface="Georgia" pitchFamily="34" charset="0"/>
                <a:ea typeface="Georgia" pitchFamily="34" charset="-122"/>
                <a:cs typeface="Georgia" pitchFamily="34" charset="-120"/>
              </a:rPr>
              <a:t>(AB)′ = 1</a:t>
            </a:r>
            <a:r>
              <a:rPr lang="en-US" sz="1500" dirty="0">
                <a:solidFill>
                  <a:srgbClr val="3B3631"/>
                </a:solidFill>
                <a:latin typeface="Georgia" pitchFamily="34" charset="0"/>
                <a:ea typeface="Georgia" pitchFamily="34" charset="-122"/>
                <a:cs typeface="Georgia" pitchFamily="34" charset="-120"/>
              </a:rPr>
              <a:t>.</a:t>
            </a:r>
            <a:endParaRPr lang="en-US" sz="1500" dirty="0"/>
          </a:p>
        </p:txBody>
      </p:sp>
      <p:sp>
        <p:nvSpPr>
          <p:cNvPr id="21" name="Text 16"/>
          <p:cNvSpPr/>
          <p:nvPr/>
        </p:nvSpPr>
        <p:spPr>
          <a:xfrm>
            <a:off x="812800" y="4785271"/>
            <a:ext cx="1088339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F1B18"/>
                </a:solidFill>
                <a:latin typeface="Georgia" pitchFamily="34" charset="0"/>
                <a:ea typeface="Georgia" pitchFamily="34" charset="-122"/>
                <a:cs typeface="Georgia" pitchFamily="34" charset="-120"/>
              </a:rPr>
              <a:t>Order of operations without parentheses: NOT, then AND, then OR. So </a:t>
            </a:r>
            <a:r>
              <a:rPr lang="en-US" sz="1500" i="1" dirty="0">
                <a:solidFill>
                  <a:srgbClr val="1F1B18"/>
                </a:solidFill>
                <a:latin typeface="Georgia" pitchFamily="34" charset="0"/>
                <a:ea typeface="Georgia" pitchFamily="34" charset="-122"/>
                <a:cs typeface="Georgia" pitchFamily="34" charset="-120"/>
              </a:rPr>
              <a:t>x + yz</a:t>
            </a:r>
            <a:r>
              <a:rPr lang="en-US" sz="1500" dirty="0">
                <a:solidFill>
                  <a:srgbClr val="1F1B18"/>
                </a:solidFill>
                <a:latin typeface="Georgia" pitchFamily="34" charset="0"/>
                <a:ea typeface="Georgia" pitchFamily="34" charset="-122"/>
                <a:cs typeface="Georgia" pitchFamily="34" charset="-120"/>
              </a:rPr>
              <a:t> means </a:t>
            </a:r>
            <a:r>
              <a:rPr lang="en-US" sz="1500" i="1" dirty="0">
                <a:solidFill>
                  <a:srgbClr val="1F1B18"/>
                </a:solidFill>
                <a:latin typeface="Georgia" pitchFamily="34" charset="0"/>
                <a:ea typeface="Georgia" pitchFamily="34" charset="-122"/>
                <a:cs typeface="Georgia" pitchFamily="34" charset="-120"/>
              </a:rPr>
              <a:t>x + (yz)</a:t>
            </a:r>
            <a:r>
              <a:rPr lang="en-US" sz="1500" dirty="0">
                <a:solidFill>
                  <a:srgbClr val="1F1B18"/>
                </a:solidFill>
                <a:latin typeface="Georgia" pitchFamily="34" charset="0"/>
                <a:ea typeface="Georgia" pitchFamily="34" charset="-122"/>
                <a:cs typeface="Georgia" pitchFamily="34" charset="-120"/>
              </a:rPr>
              <a:t>, and in </a:t>
            </a:r>
            <a:r>
              <a:rPr lang="en-US" sz="1500" i="1" dirty="0">
                <a:solidFill>
                  <a:srgbClr val="1F1B18"/>
                </a:solidFill>
                <a:latin typeface="Georgia" pitchFamily="34" charset="0"/>
                <a:ea typeface="Georgia" pitchFamily="34" charset="-122"/>
                <a:cs typeface="Georgia" pitchFamily="34" charset="-120"/>
              </a:rPr>
              <a:t>x′y</a:t>
            </a:r>
            <a:r>
              <a:rPr lang="en-US" sz="1500" dirty="0">
                <a:solidFill>
                  <a:srgbClr val="1F1B18"/>
                </a:solidFill>
                <a:latin typeface="Georgia" pitchFamily="34" charset="0"/>
                <a:ea typeface="Georgia" pitchFamily="34" charset="-122"/>
                <a:cs typeface="Georgia" pitchFamily="34" charset="-120"/>
              </a:rPr>
              <a:t> the prime covers only x.</a:t>
            </a:r>
            <a:endParaRPr lang="en-US" sz="1500" dirty="0"/>
          </a:p>
        </p:txBody>
      </p:sp>
      <p:sp>
        <p:nvSpPr>
          <p:cNvPr id="22" name="Text 17"/>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23" name="Text 18"/>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EE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1 · FROM SWITCHES TO GATES</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Problem 1: notation and precedence</a:t>
            </a:r>
            <a:endParaRPr lang="en-US" sz="3200" dirty="0"/>
          </a:p>
        </p:txBody>
      </p:sp>
      <p:sp>
        <p:nvSpPr>
          <p:cNvPr id="4" name="Text 2"/>
          <p:cNvSpPr/>
          <p:nvPr/>
        </p:nvSpPr>
        <p:spPr>
          <a:xfrm>
            <a:off x="812800" y="1962100"/>
            <a:ext cx="75034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a.</a:t>
            </a:r>
            <a:r>
              <a:rPr lang="en-US" sz="1500" dirty="0">
                <a:solidFill>
                  <a:srgbClr val="3B3631"/>
                </a:solidFill>
                <a:latin typeface="Georgia" pitchFamily="34" charset="0"/>
                <a:ea typeface="Georgia" pitchFamily="34" charset="-122"/>
                <a:cs typeface="Georgia" pitchFamily="34" charset="-120"/>
              </a:rPr>
              <a:t> Write</a:t>
            </a:r>
            <a:endParaRPr lang="en-US" sz="1500" dirty="0"/>
          </a:p>
        </p:txBody>
      </p:sp>
      <p:pic>
        <p:nvPicPr>
          <p:cNvPr id="5" name="Image 0" descr="NOT A times B, plus A times NOT B"/>
          <p:cNvPicPr>
            <a:picLocks noChangeAspect="1"/>
          </p:cNvPicPr>
          <p:nvPr/>
        </p:nvPicPr>
        <p:blipFill>
          <a:blip r:embed="rId3"/>
          <a:srcRect/>
          <a:stretch/>
        </p:blipFill>
        <p:spPr>
          <a:xfrm>
            <a:off x="1613942" y="1930350"/>
            <a:ext cx="1177925" cy="330200"/>
          </a:xfrm>
          <a:prstGeom prst="rect">
            <a:avLst/>
          </a:prstGeom>
        </p:spPr>
      </p:pic>
      <p:sp>
        <p:nvSpPr>
          <p:cNvPr id="6" name="Text 3"/>
          <p:cNvSpPr/>
          <p:nvPr/>
        </p:nvSpPr>
        <p:spPr>
          <a:xfrm>
            <a:off x="2893467" y="1962100"/>
            <a:ext cx="383436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B3631"/>
                </a:solidFill>
                <a:latin typeface="Georgia" pitchFamily="34" charset="0"/>
                <a:ea typeface="Georgia" pitchFamily="34" charset="-122"/>
                <a:cs typeface="Georgia" pitchFamily="34" charset="-120"/>
              </a:rPr>
              <a:t>with primes. Which gate from the table is it?</a:t>
            </a:r>
            <a:endParaRPr lang="en-US" sz="1500" dirty="0"/>
          </a:p>
        </p:txBody>
      </p:sp>
      <p:sp>
        <p:nvSpPr>
          <p:cNvPr id="7" name="Text 4"/>
          <p:cNvSpPr/>
          <p:nvPr/>
        </p:nvSpPr>
        <p:spPr>
          <a:xfrm>
            <a:off x="812800" y="23748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b.</a:t>
            </a:r>
            <a:r>
              <a:rPr lang="en-US" sz="1500" dirty="0">
                <a:solidFill>
                  <a:srgbClr val="3B3631"/>
                </a:solidFill>
                <a:latin typeface="Georgia" pitchFamily="34" charset="0"/>
                <a:ea typeface="Georgia" pitchFamily="34" charset="-122"/>
                <a:cs typeface="Georgia" pitchFamily="34" charset="-120"/>
              </a:rPr>
              <a:t> Insert all the implied parentheses in </a:t>
            </a:r>
            <a:r>
              <a:rPr lang="en-US" sz="1500" i="1" dirty="0">
                <a:solidFill>
                  <a:srgbClr val="3B3631"/>
                </a:solidFill>
                <a:latin typeface="Georgia" pitchFamily="34" charset="0"/>
                <a:ea typeface="Georgia" pitchFamily="34" charset="-122"/>
                <a:cs typeface="Georgia" pitchFamily="34" charset="-120"/>
              </a:rPr>
              <a:t>x′y + z</a:t>
            </a:r>
            <a:r>
              <a:rPr lang="en-US" sz="1500" dirty="0">
                <a:solidFill>
                  <a:srgbClr val="3B3631"/>
                </a:solidFill>
                <a:latin typeface="Georgia" pitchFamily="34" charset="0"/>
                <a:ea typeface="Georgia" pitchFamily="34" charset="-122"/>
                <a:cs typeface="Georgia" pitchFamily="34" charset="-120"/>
              </a:rPr>
              <a:t>.</a:t>
            </a:r>
            <a:endParaRPr lang="en-US" sz="1500" dirty="0"/>
          </a:p>
        </p:txBody>
      </p:sp>
      <p:sp>
        <p:nvSpPr>
          <p:cNvPr id="8" name="Text 5"/>
          <p:cNvSpPr/>
          <p:nvPr/>
        </p:nvSpPr>
        <p:spPr>
          <a:xfrm>
            <a:off x="812800" y="27558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c.</a:t>
            </a:r>
            <a:r>
              <a:rPr lang="en-US" sz="1500" dirty="0">
                <a:solidFill>
                  <a:srgbClr val="3B3631"/>
                </a:solidFill>
                <a:latin typeface="Georgia" pitchFamily="34" charset="0"/>
                <a:ea typeface="Georgia" pitchFamily="34" charset="-122"/>
                <a:cs typeface="Georgia" pitchFamily="34" charset="-120"/>
              </a:rPr>
              <a:t> Are </a:t>
            </a:r>
            <a:r>
              <a:rPr lang="en-US" sz="1500" i="1" dirty="0">
                <a:solidFill>
                  <a:srgbClr val="3B3631"/>
                </a:solidFill>
                <a:latin typeface="Georgia" pitchFamily="34" charset="0"/>
                <a:ea typeface="Georgia" pitchFamily="34" charset="-122"/>
                <a:cs typeface="Georgia" pitchFamily="34" charset="-120"/>
              </a:rPr>
              <a:t>x + yz</a:t>
            </a:r>
            <a:r>
              <a:rPr lang="en-US" sz="1500" dirty="0">
                <a:solidFill>
                  <a:srgbClr val="3B3631"/>
                </a:solidFill>
                <a:latin typeface="Georgia" pitchFamily="34" charset="0"/>
                <a:ea typeface="Georgia" pitchFamily="34" charset="-122"/>
                <a:cs typeface="Georgia" pitchFamily="34" charset="-120"/>
              </a:rPr>
              <a:t> and </a:t>
            </a:r>
            <a:r>
              <a:rPr lang="en-US" sz="1500" i="1" dirty="0">
                <a:solidFill>
                  <a:srgbClr val="3B3631"/>
                </a:solidFill>
                <a:latin typeface="Georgia" pitchFamily="34" charset="0"/>
                <a:ea typeface="Georgia" pitchFamily="34" charset="-122"/>
                <a:cs typeface="Georgia" pitchFamily="34" charset="-120"/>
              </a:rPr>
              <a:t>(x + y)z</a:t>
            </a:r>
            <a:r>
              <a:rPr lang="en-US" sz="1500" dirty="0">
                <a:solidFill>
                  <a:srgbClr val="3B3631"/>
                </a:solidFill>
                <a:latin typeface="Georgia" pitchFamily="34" charset="0"/>
                <a:ea typeface="Georgia" pitchFamily="34" charset="-122"/>
                <a:cs typeface="Georgia" pitchFamily="34" charset="-120"/>
              </a:rPr>
              <a:t> the same function? If not, give values that tell them apart.</a:t>
            </a:r>
            <a:endParaRPr lang="en-US" sz="1500" dirty="0"/>
          </a:p>
        </p:txBody>
      </p:sp>
      <p:sp>
        <p:nvSpPr>
          <p:cNvPr id="9" name="Text 6"/>
          <p:cNvSpPr/>
          <p:nvPr/>
        </p:nvSpPr>
        <p:spPr>
          <a:xfrm>
            <a:off x="812800" y="31368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d.</a:t>
            </a:r>
            <a:r>
              <a:rPr lang="en-US" sz="1500" dirty="0">
                <a:solidFill>
                  <a:srgbClr val="3B3631"/>
                </a:solidFill>
                <a:latin typeface="Georgia" pitchFamily="34" charset="0"/>
                <a:ea typeface="Georgia" pitchFamily="34" charset="-122"/>
                <a:cs typeface="Georgia" pitchFamily="34" charset="-120"/>
              </a:rPr>
              <a:t> Are </a:t>
            </a:r>
            <a:r>
              <a:rPr lang="en-US" sz="1500" i="1" dirty="0">
                <a:solidFill>
                  <a:srgbClr val="3B3631"/>
                </a:solidFill>
                <a:latin typeface="Georgia" pitchFamily="34" charset="0"/>
                <a:ea typeface="Georgia" pitchFamily="34" charset="-122"/>
                <a:cs typeface="Georgia" pitchFamily="34" charset="-120"/>
              </a:rPr>
              <a:t>x′·y′</a:t>
            </a:r>
            <a:r>
              <a:rPr lang="en-US" sz="1500" dirty="0">
                <a:solidFill>
                  <a:srgbClr val="3B3631"/>
                </a:solidFill>
                <a:latin typeface="Georgia" pitchFamily="34" charset="0"/>
                <a:ea typeface="Georgia" pitchFamily="34" charset="-122"/>
                <a:cs typeface="Georgia" pitchFamily="34" charset="-120"/>
              </a:rPr>
              <a:t> and </a:t>
            </a:r>
            <a:r>
              <a:rPr lang="en-US" sz="1500" i="1" dirty="0">
                <a:solidFill>
                  <a:srgbClr val="3B3631"/>
                </a:solidFill>
                <a:latin typeface="Georgia" pitchFamily="34" charset="0"/>
                <a:ea typeface="Georgia" pitchFamily="34" charset="-122"/>
                <a:cs typeface="Georgia" pitchFamily="34" charset="-120"/>
              </a:rPr>
              <a:t>(x·y)′</a:t>
            </a:r>
            <a:r>
              <a:rPr lang="en-US" sz="1500" dirty="0">
                <a:solidFill>
                  <a:srgbClr val="3B3631"/>
                </a:solidFill>
                <a:latin typeface="Georgia" pitchFamily="34" charset="0"/>
                <a:ea typeface="Georgia" pitchFamily="34" charset="-122"/>
                <a:cs typeface="Georgia" pitchFamily="34" charset="-120"/>
              </a:rPr>
              <a:t> the same? Try a few rows.</a:t>
            </a:r>
            <a:endParaRPr lang="en-US" sz="1500" dirty="0"/>
          </a:p>
        </p:txBody>
      </p:sp>
      <p:sp>
        <p:nvSpPr>
          <p:cNvPr id="10" name="Text 7"/>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11" name="Text 8"/>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EE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1 · FROM SWITCHES TO GATES</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Problem 1: answers</a:t>
            </a:r>
            <a:endParaRPr lang="en-US" sz="3200" dirty="0"/>
          </a:p>
        </p:txBody>
      </p:sp>
      <p:sp>
        <p:nvSpPr>
          <p:cNvPr id="4" name="Text 2"/>
          <p:cNvSpPr/>
          <p:nvPr/>
        </p:nvSpPr>
        <p:spPr>
          <a:xfrm>
            <a:off x="812800" y="19303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a.</a:t>
            </a:r>
            <a:r>
              <a:rPr lang="en-US" sz="1500" dirty="0">
                <a:solidFill>
                  <a:srgbClr val="3B3631"/>
                </a:solidFill>
                <a:latin typeface="Georgia" pitchFamily="34" charset="0"/>
                <a:ea typeface="Georgia" pitchFamily="34" charset="-122"/>
                <a:cs typeface="Georgia" pitchFamily="34" charset="-120"/>
              </a:rPr>
              <a:t> </a:t>
            </a:r>
            <a:r>
              <a:rPr lang="en-US" sz="1500" i="1" dirty="0">
                <a:solidFill>
                  <a:srgbClr val="3B3631"/>
                </a:solidFill>
                <a:latin typeface="Georgia" pitchFamily="34" charset="0"/>
                <a:ea typeface="Georgia" pitchFamily="34" charset="-122"/>
                <a:cs typeface="Georgia" pitchFamily="34" charset="-120"/>
              </a:rPr>
              <a:t>A′B + AB′</a:t>
            </a:r>
            <a:r>
              <a:rPr lang="en-US" sz="1500" dirty="0">
                <a:solidFill>
                  <a:srgbClr val="3B3631"/>
                </a:solidFill>
                <a:latin typeface="Georgia" pitchFamily="34" charset="0"/>
                <a:ea typeface="Georgia" pitchFamily="34" charset="-122"/>
                <a:cs typeface="Georgia" pitchFamily="34" charset="-120"/>
              </a:rPr>
              <a:t>. It is XOR: 1 exactly when A and B differ.</a:t>
            </a:r>
            <a:endParaRPr lang="en-US" sz="1500" dirty="0"/>
          </a:p>
        </p:txBody>
      </p:sp>
      <p:sp>
        <p:nvSpPr>
          <p:cNvPr id="5" name="Text 3"/>
          <p:cNvSpPr/>
          <p:nvPr/>
        </p:nvSpPr>
        <p:spPr>
          <a:xfrm>
            <a:off x="812800" y="23367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b.</a:t>
            </a:r>
            <a:r>
              <a:rPr lang="en-US" sz="1500" dirty="0">
                <a:solidFill>
                  <a:srgbClr val="3B3631"/>
                </a:solidFill>
                <a:latin typeface="Georgia" pitchFamily="34" charset="0"/>
                <a:ea typeface="Georgia" pitchFamily="34" charset="-122"/>
                <a:cs typeface="Georgia" pitchFamily="34" charset="-120"/>
              </a:rPr>
              <a:t> </a:t>
            </a:r>
            <a:r>
              <a:rPr lang="en-US" sz="1500" i="1" dirty="0">
                <a:solidFill>
                  <a:srgbClr val="3B3631"/>
                </a:solidFill>
                <a:latin typeface="Georgia" pitchFamily="34" charset="0"/>
                <a:ea typeface="Georgia" pitchFamily="34" charset="-122"/>
                <a:cs typeface="Georgia" pitchFamily="34" charset="-120"/>
              </a:rPr>
              <a:t>((x′)·y) + z</a:t>
            </a:r>
            <a:endParaRPr lang="en-US" sz="1500" dirty="0"/>
          </a:p>
        </p:txBody>
      </p:sp>
      <p:sp>
        <p:nvSpPr>
          <p:cNvPr id="6" name="Text 4"/>
          <p:cNvSpPr/>
          <p:nvPr/>
        </p:nvSpPr>
        <p:spPr>
          <a:xfrm>
            <a:off x="812800" y="27431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c.</a:t>
            </a:r>
            <a:r>
              <a:rPr lang="en-US" sz="1500" dirty="0">
                <a:solidFill>
                  <a:srgbClr val="3B3631"/>
                </a:solidFill>
                <a:latin typeface="Georgia" pitchFamily="34" charset="0"/>
                <a:ea typeface="Georgia" pitchFamily="34" charset="-122"/>
                <a:cs typeface="Georgia" pitchFamily="34" charset="-120"/>
              </a:rPr>
              <a:t> Not the same. </a:t>
            </a:r>
            <a:r>
              <a:rPr lang="en-US" sz="1500" i="1" dirty="0">
                <a:solidFill>
                  <a:srgbClr val="3B3631"/>
                </a:solidFill>
                <a:latin typeface="Georgia" pitchFamily="34" charset="0"/>
                <a:ea typeface="Georgia" pitchFamily="34" charset="-122"/>
                <a:cs typeface="Georgia" pitchFamily="34" charset="-120"/>
              </a:rPr>
              <a:t>x = 1</a:t>
            </a:r>
            <a:r>
              <a:rPr lang="en-US" sz="1500" dirty="0">
                <a:solidFill>
                  <a:srgbClr val="3B3631"/>
                </a:solidFill>
                <a:latin typeface="Georgia" pitchFamily="34" charset="0"/>
                <a:ea typeface="Georgia" pitchFamily="34" charset="-122"/>
                <a:cs typeface="Georgia" pitchFamily="34" charset="-120"/>
              </a:rPr>
              <a:t>, </a:t>
            </a:r>
            <a:r>
              <a:rPr lang="en-US" sz="1500" i="1" dirty="0">
                <a:solidFill>
                  <a:srgbClr val="3B3631"/>
                </a:solidFill>
                <a:latin typeface="Georgia" pitchFamily="34" charset="0"/>
                <a:ea typeface="Georgia" pitchFamily="34" charset="-122"/>
                <a:cs typeface="Georgia" pitchFamily="34" charset="-120"/>
              </a:rPr>
              <a:t>y = 0</a:t>
            </a:r>
            <a:r>
              <a:rPr lang="en-US" sz="1500" dirty="0">
                <a:solidFill>
                  <a:srgbClr val="3B3631"/>
                </a:solidFill>
                <a:latin typeface="Georgia" pitchFamily="34" charset="0"/>
                <a:ea typeface="Georgia" pitchFamily="34" charset="-122"/>
                <a:cs typeface="Georgia" pitchFamily="34" charset="-120"/>
              </a:rPr>
              <a:t>, </a:t>
            </a:r>
            <a:r>
              <a:rPr lang="en-US" sz="1500" i="1" dirty="0">
                <a:solidFill>
                  <a:srgbClr val="3B3631"/>
                </a:solidFill>
                <a:latin typeface="Georgia" pitchFamily="34" charset="0"/>
                <a:ea typeface="Georgia" pitchFamily="34" charset="-122"/>
                <a:cs typeface="Georgia" pitchFamily="34" charset="-120"/>
              </a:rPr>
              <a:t>z = 0</a:t>
            </a:r>
            <a:r>
              <a:rPr lang="en-US" sz="1500" dirty="0">
                <a:solidFill>
                  <a:srgbClr val="3B3631"/>
                </a:solidFill>
                <a:latin typeface="Georgia" pitchFamily="34" charset="0"/>
                <a:ea typeface="Georgia" pitchFamily="34" charset="-122"/>
                <a:cs typeface="Georgia" pitchFamily="34" charset="-120"/>
              </a:rPr>
              <a:t> gives 1 for the first and 0 for the second.</a:t>
            </a:r>
            <a:endParaRPr lang="en-US" sz="1500" dirty="0"/>
          </a:p>
        </p:txBody>
      </p:sp>
      <p:sp>
        <p:nvSpPr>
          <p:cNvPr id="7" name="Text 5"/>
          <p:cNvSpPr/>
          <p:nvPr/>
        </p:nvSpPr>
        <p:spPr>
          <a:xfrm>
            <a:off x="812800" y="31495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d.</a:t>
            </a:r>
            <a:r>
              <a:rPr lang="en-US" sz="1500" dirty="0">
                <a:solidFill>
                  <a:srgbClr val="3B3631"/>
                </a:solidFill>
                <a:latin typeface="Georgia" pitchFamily="34" charset="0"/>
                <a:ea typeface="Georgia" pitchFamily="34" charset="-122"/>
                <a:cs typeface="Georgia" pitchFamily="34" charset="-120"/>
              </a:rPr>
              <a:t> Not the same. </a:t>
            </a:r>
            <a:r>
              <a:rPr lang="en-US" sz="1500" i="1" dirty="0">
                <a:solidFill>
                  <a:srgbClr val="3B3631"/>
                </a:solidFill>
                <a:latin typeface="Georgia" pitchFamily="34" charset="0"/>
                <a:ea typeface="Georgia" pitchFamily="34" charset="-122"/>
                <a:cs typeface="Georgia" pitchFamily="34" charset="-120"/>
              </a:rPr>
              <a:t>x = 1</a:t>
            </a:r>
            <a:r>
              <a:rPr lang="en-US" sz="1500" dirty="0">
                <a:solidFill>
                  <a:srgbClr val="3B3631"/>
                </a:solidFill>
                <a:latin typeface="Georgia" pitchFamily="34" charset="0"/>
                <a:ea typeface="Georgia" pitchFamily="34" charset="-122"/>
                <a:cs typeface="Georgia" pitchFamily="34" charset="-120"/>
              </a:rPr>
              <a:t>, </a:t>
            </a:r>
            <a:r>
              <a:rPr lang="en-US" sz="1500" i="1" dirty="0">
                <a:solidFill>
                  <a:srgbClr val="3B3631"/>
                </a:solidFill>
                <a:latin typeface="Georgia" pitchFamily="34" charset="0"/>
                <a:ea typeface="Georgia" pitchFamily="34" charset="-122"/>
                <a:cs typeface="Georgia" pitchFamily="34" charset="-120"/>
              </a:rPr>
              <a:t>y = 0</a:t>
            </a:r>
            <a:r>
              <a:rPr lang="en-US" sz="1500" dirty="0">
                <a:solidFill>
                  <a:srgbClr val="3B3631"/>
                </a:solidFill>
                <a:latin typeface="Georgia" pitchFamily="34" charset="0"/>
                <a:ea typeface="Georgia" pitchFamily="34" charset="-122"/>
                <a:cs typeface="Georgia" pitchFamily="34" charset="-120"/>
              </a:rPr>
              <a:t> gives </a:t>
            </a:r>
            <a:r>
              <a:rPr lang="en-US" sz="1500" i="1" dirty="0">
                <a:solidFill>
                  <a:srgbClr val="3B3631"/>
                </a:solidFill>
                <a:latin typeface="Georgia" pitchFamily="34" charset="0"/>
                <a:ea typeface="Georgia" pitchFamily="34" charset="-122"/>
                <a:cs typeface="Georgia" pitchFamily="34" charset="-120"/>
              </a:rPr>
              <a:t>x′·y′ = 0</a:t>
            </a:r>
            <a:r>
              <a:rPr lang="en-US" sz="1500" dirty="0">
                <a:solidFill>
                  <a:srgbClr val="3B3631"/>
                </a:solidFill>
                <a:latin typeface="Georgia" pitchFamily="34" charset="0"/>
                <a:ea typeface="Georgia" pitchFamily="34" charset="-122"/>
                <a:cs typeface="Georgia" pitchFamily="34" charset="-120"/>
              </a:rPr>
              <a:t> but </a:t>
            </a:r>
            <a:r>
              <a:rPr lang="en-US" sz="1500" i="1" dirty="0">
                <a:solidFill>
                  <a:srgbClr val="3B3631"/>
                </a:solidFill>
                <a:latin typeface="Georgia" pitchFamily="34" charset="0"/>
                <a:ea typeface="Georgia" pitchFamily="34" charset="-122"/>
                <a:cs typeface="Georgia" pitchFamily="34" charset="-120"/>
              </a:rPr>
              <a:t>(xy)′ = 1</a:t>
            </a:r>
            <a:r>
              <a:rPr lang="en-US" sz="1500" dirty="0">
                <a:solidFill>
                  <a:srgbClr val="3B3631"/>
                </a:solidFill>
                <a:latin typeface="Georgia" pitchFamily="34" charset="0"/>
                <a:ea typeface="Georgia" pitchFamily="34" charset="-122"/>
                <a:cs typeface="Georgia" pitchFamily="34" charset="-120"/>
              </a:rPr>
              <a:t>. DeMorgan: </a:t>
            </a:r>
            <a:r>
              <a:rPr lang="en-US" sz="1500" i="1" dirty="0">
                <a:solidFill>
                  <a:srgbClr val="3B3631"/>
                </a:solidFill>
                <a:latin typeface="Georgia" pitchFamily="34" charset="0"/>
                <a:ea typeface="Georgia" pitchFamily="34" charset="-122"/>
                <a:cs typeface="Georgia" pitchFamily="34" charset="-120"/>
              </a:rPr>
              <a:t>(xy)′ = x′ + y′</a:t>
            </a:r>
            <a:r>
              <a:rPr lang="en-US" sz="1500" dirty="0">
                <a:solidFill>
                  <a:srgbClr val="3B3631"/>
                </a:solidFill>
                <a:latin typeface="Georgia" pitchFamily="34" charset="0"/>
                <a:ea typeface="Georgia" pitchFamily="34" charset="-122"/>
                <a:cs typeface="Georgia" pitchFamily="34" charset="-120"/>
              </a:rPr>
              <a:t>.</a:t>
            </a:r>
            <a:endParaRPr lang="en-US" sz="1500" dirty="0"/>
          </a:p>
        </p:txBody>
      </p:sp>
      <p:sp>
        <p:nvSpPr>
          <p:cNvPr id="8" name="Text 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9" name="Text 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20166"/>
          </a:xfrm>
          <a:prstGeom prst="rect">
            <a:avLst/>
          </a:prstGeom>
          <a:noFill/>
          <a:ln/>
        </p:spPr>
        <p:txBody>
          <a:bodyPr wrap="square" lIns="0" tIns="0" rIns="0" bIns="0" rtlCol="0" anchor="t">
            <a:normAutofit/>
          </a:bodyPr>
          <a:lstStyle/>
          <a:p>
            <a:pPr marL="0" indent="0" algn="l">
              <a:lnSpc>
                <a:spcPts val="1570"/>
              </a:lnSpc>
              <a:buNone/>
            </a:pPr>
            <a:r>
              <a:rPr lang="en-US" sz="1121" b="1" kern="0" spc="150" dirty="0">
                <a:solidFill>
                  <a:srgbClr val="A3292A"/>
                </a:solidFill>
                <a:latin typeface="Arial" pitchFamily="34" charset="0"/>
                <a:ea typeface="Arial" pitchFamily="34" charset="-122"/>
                <a:cs typeface="Arial" pitchFamily="34" charset="-120"/>
              </a:rPr>
              <a:t>2 · TRUTH TABLES</a:t>
            </a:r>
            <a:endParaRPr lang="en-US" sz="1121" dirty="0"/>
          </a:p>
        </p:txBody>
      </p:sp>
      <p:sp>
        <p:nvSpPr>
          <p:cNvPr id="3" name="Text 1"/>
          <p:cNvSpPr/>
          <p:nvPr/>
        </p:nvSpPr>
        <p:spPr>
          <a:xfrm>
            <a:off x="812800" y="1236166"/>
            <a:ext cx="10883392" cy="433536"/>
          </a:xfrm>
          <a:prstGeom prst="rect">
            <a:avLst/>
          </a:prstGeom>
          <a:noFill/>
          <a:ln/>
        </p:spPr>
        <p:txBody>
          <a:bodyPr wrap="square" lIns="0" tIns="0" rIns="0" bIns="0" rtlCol="0" anchor="t">
            <a:normAutofit/>
          </a:bodyPr>
          <a:lstStyle/>
          <a:p>
            <a:pPr marL="0" indent="0" algn="l">
              <a:lnSpc>
                <a:spcPts val="3223"/>
              </a:lnSpc>
              <a:buNone/>
            </a:pPr>
            <a:r>
              <a:rPr lang="en-US" sz="2930" b="1" dirty="0">
                <a:solidFill>
                  <a:srgbClr val="1F1B18"/>
                </a:solidFill>
                <a:latin typeface="Georgia" pitchFamily="34" charset="0"/>
                <a:ea typeface="Georgia" pitchFamily="34" charset="-122"/>
                <a:cs typeface="Georgia" pitchFamily="34" charset="-120"/>
              </a:rPr>
              <a:t>One column per sub-expression</a:t>
            </a:r>
            <a:endParaRPr lang="en-US" sz="2930" dirty="0"/>
          </a:p>
        </p:txBody>
      </p:sp>
      <p:sp>
        <p:nvSpPr>
          <p:cNvPr id="4" name="Text 2"/>
          <p:cNvSpPr/>
          <p:nvPr/>
        </p:nvSpPr>
        <p:spPr>
          <a:xfrm>
            <a:off x="812800" y="1872903"/>
            <a:ext cx="5886450" cy="250825"/>
          </a:xfrm>
          <a:prstGeom prst="rect">
            <a:avLst/>
          </a:prstGeom>
          <a:noFill/>
          <a:ln/>
        </p:spPr>
        <p:txBody>
          <a:bodyPr wrap="square" lIns="0" tIns="0" rIns="0" bIns="0" rtlCol="0" anchor="t">
            <a:normAutofit/>
          </a:bodyPr>
          <a:lstStyle/>
          <a:p>
            <a:pPr marL="0" indent="0" algn="l">
              <a:lnSpc>
                <a:spcPts val="1824"/>
              </a:lnSpc>
              <a:buNone/>
            </a:pPr>
            <a:r>
              <a:rPr lang="en-US" sz="1303" dirty="0">
                <a:solidFill>
                  <a:srgbClr val="1F1B18"/>
                </a:solidFill>
                <a:latin typeface="Georgia" pitchFamily="34" charset="0"/>
                <a:ea typeface="Georgia" pitchFamily="34" charset="-122"/>
                <a:cs typeface="Georgia" pitchFamily="34" charset="-120"/>
              </a:rPr>
              <a:t>Example from lecture: </a:t>
            </a:r>
            <a:r>
              <a:rPr lang="en-US" sz="1303" i="1" dirty="0">
                <a:solidFill>
                  <a:srgbClr val="1F1B18"/>
                </a:solidFill>
                <a:latin typeface="Georgia" pitchFamily="34" charset="0"/>
                <a:ea typeface="Georgia" pitchFamily="34" charset="-122"/>
                <a:cs typeface="Georgia" pitchFamily="34" charset="-120"/>
              </a:rPr>
              <a:t>A + BC + A′C′</a:t>
            </a:r>
            <a:endParaRPr lang="en-US" sz="1303" dirty="0"/>
          </a:p>
        </p:txBody>
      </p:sp>
      <p:sp>
        <p:nvSpPr>
          <p:cNvPr id="5" name="Shape 3"/>
          <p:cNvSpPr/>
          <p:nvPr/>
        </p:nvSpPr>
        <p:spPr>
          <a:xfrm>
            <a:off x="812800" y="2212628"/>
            <a:ext cx="5715000" cy="895896"/>
          </a:xfrm>
          <a:prstGeom prst="roundRect">
            <a:avLst>
              <a:gd name="adj" fmla="val 8505"/>
            </a:avLst>
          </a:prstGeom>
          <a:solidFill>
            <a:srgbClr val="EFE8DD"/>
          </a:solidFill>
          <a:ln/>
        </p:spPr>
        <p:txBody>
          <a:bodyPr/>
          <a:lstStyle/>
          <a:p>
            <a:endParaRPr lang="en-US"/>
          </a:p>
        </p:txBody>
      </p:sp>
      <p:sp>
        <p:nvSpPr>
          <p:cNvPr id="6" name="Text 4"/>
          <p:cNvSpPr/>
          <p:nvPr/>
        </p:nvSpPr>
        <p:spPr>
          <a:xfrm>
            <a:off x="1041400" y="2415828"/>
            <a:ext cx="5415534" cy="234156"/>
          </a:xfrm>
          <a:prstGeom prst="rect">
            <a:avLst/>
          </a:prstGeom>
          <a:noFill/>
          <a:ln/>
        </p:spPr>
        <p:txBody>
          <a:bodyPr wrap="square" lIns="0" tIns="0" rIns="0" bIns="0" rtlCol="0" anchor="t">
            <a:normAutofit/>
          </a:bodyPr>
          <a:lstStyle/>
          <a:p>
            <a:pPr marL="0" indent="0" algn="l">
              <a:lnSpc>
                <a:spcPts val="1675"/>
              </a:lnSpc>
              <a:buNone/>
            </a:pPr>
            <a:r>
              <a:rPr lang="en-US" sz="1340" b="1" dirty="0">
                <a:solidFill>
                  <a:srgbClr val="1F1B18"/>
                </a:solidFill>
                <a:latin typeface="Georgia" pitchFamily="34" charset="0"/>
                <a:ea typeface="Georgia" pitchFamily="34" charset="-122"/>
                <a:cs typeface="Georgia" pitchFamily="34" charset="-120"/>
              </a:rPr>
              <a:t>1. BC</a:t>
            </a:r>
            <a:endParaRPr lang="en-US" sz="1340" dirty="0"/>
          </a:p>
        </p:txBody>
      </p:sp>
      <p:sp>
        <p:nvSpPr>
          <p:cNvPr id="7" name="Text 5"/>
          <p:cNvSpPr/>
          <p:nvPr/>
        </p:nvSpPr>
        <p:spPr>
          <a:xfrm>
            <a:off x="1041400" y="2700784"/>
            <a:ext cx="5415534" cy="229939"/>
          </a:xfrm>
          <a:prstGeom prst="rect">
            <a:avLst/>
          </a:prstGeom>
          <a:noFill/>
          <a:ln/>
        </p:spPr>
        <p:txBody>
          <a:bodyPr wrap="square" lIns="0" tIns="0" rIns="0" bIns="0" rtlCol="0" anchor="t">
            <a:normAutofit/>
          </a:bodyPr>
          <a:lstStyle/>
          <a:p>
            <a:pPr marL="0" indent="0" algn="l">
              <a:lnSpc>
                <a:spcPts val="1623"/>
              </a:lnSpc>
              <a:buNone/>
            </a:pPr>
            <a:r>
              <a:rPr lang="en-US" sz="1159" dirty="0">
                <a:solidFill>
                  <a:srgbClr val="3B3631"/>
                </a:solidFill>
                <a:latin typeface="Georgia" pitchFamily="34" charset="0"/>
                <a:ea typeface="Georgia" pitchFamily="34" charset="-122"/>
                <a:cs typeface="Georgia" pitchFamily="34" charset="-120"/>
              </a:rPr>
              <a:t>1 only when B = C = 1: rows 011 and 111.</a:t>
            </a:r>
            <a:endParaRPr lang="en-US" sz="1159" dirty="0"/>
          </a:p>
        </p:txBody>
      </p:sp>
      <p:sp>
        <p:nvSpPr>
          <p:cNvPr id="8" name="Shape 6"/>
          <p:cNvSpPr/>
          <p:nvPr/>
        </p:nvSpPr>
        <p:spPr>
          <a:xfrm>
            <a:off x="812800" y="3222823"/>
            <a:ext cx="5715000" cy="895846"/>
          </a:xfrm>
          <a:prstGeom prst="roundRect">
            <a:avLst>
              <a:gd name="adj" fmla="val 8506"/>
            </a:avLst>
          </a:prstGeom>
          <a:solidFill>
            <a:srgbClr val="EFE8DD"/>
          </a:solidFill>
          <a:ln/>
        </p:spPr>
        <p:txBody>
          <a:bodyPr/>
          <a:lstStyle/>
          <a:p>
            <a:endParaRPr lang="en-US"/>
          </a:p>
        </p:txBody>
      </p:sp>
      <p:sp>
        <p:nvSpPr>
          <p:cNvPr id="9" name="Text 7"/>
          <p:cNvSpPr/>
          <p:nvPr/>
        </p:nvSpPr>
        <p:spPr>
          <a:xfrm>
            <a:off x="1041400" y="3426023"/>
            <a:ext cx="5415534" cy="234156"/>
          </a:xfrm>
          <a:prstGeom prst="rect">
            <a:avLst/>
          </a:prstGeom>
          <a:noFill/>
          <a:ln/>
        </p:spPr>
        <p:txBody>
          <a:bodyPr wrap="square" lIns="0" tIns="0" rIns="0" bIns="0" rtlCol="0" anchor="t">
            <a:normAutofit/>
          </a:bodyPr>
          <a:lstStyle/>
          <a:p>
            <a:pPr marL="0" indent="0" algn="l">
              <a:lnSpc>
                <a:spcPts val="1675"/>
              </a:lnSpc>
              <a:buNone/>
            </a:pPr>
            <a:r>
              <a:rPr lang="en-US" sz="1340" b="1" dirty="0">
                <a:solidFill>
                  <a:srgbClr val="1F1B18"/>
                </a:solidFill>
                <a:latin typeface="Georgia" pitchFamily="34" charset="0"/>
                <a:ea typeface="Georgia" pitchFamily="34" charset="-122"/>
                <a:cs typeface="Georgia" pitchFamily="34" charset="-120"/>
              </a:rPr>
              <a:t>2. A′C′</a:t>
            </a:r>
            <a:endParaRPr lang="en-US" sz="1340" dirty="0"/>
          </a:p>
        </p:txBody>
      </p:sp>
      <p:sp>
        <p:nvSpPr>
          <p:cNvPr id="10" name="Text 8"/>
          <p:cNvSpPr/>
          <p:nvPr/>
        </p:nvSpPr>
        <p:spPr>
          <a:xfrm>
            <a:off x="1041400" y="3710980"/>
            <a:ext cx="5415534" cy="229890"/>
          </a:xfrm>
          <a:prstGeom prst="rect">
            <a:avLst/>
          </a:prstGeom>
          <a:noFill/>
          <a:ln/>
        </p:spPr>
        <p:txBody>
          <a:bodyPr wrap="square" lIns="0" tIns="0" rIns="0" bIns="0" rtlCol="0" anchor="t">
            <a:normAutofit/>
          </a:bodyPr>
          <a:lstStyle/>
          <a:p>
            <a:pPr marL="0" indent="0" algn="l">
              <a:lnSpc>
                <a:spcPts val="1623"/>
              </a:lnSpc>
              <a:buNone/>
            </a:pPr>
            <a:r>
              <a:rPr lang="en-US" sz="1159" dirty="0">
                <a:solidFill>
                  <a:srgbClr val="3B3631"/>
                </a:solidFill>
                <a:latin typeface="Georgia" pitchFamily="34" charset="0"/>
                <a:ea typeface="Georgia" pitchFamily="34" charset="-122"/>
                <a:cs typeface="Georgia" pitchFamily="34" charset="-120"/>
              </a:rPr>
              <a:t>1 only when A = C = 0: rows 000 and 010.</a:t>
            </a:r>
            <a:endParaRPr lang="en-US" sz="1159" dirty="0"/>
          </a:p>
        </p:txBody>
      </p:sp>
      <p:sp>
        <p:nvSpPr>
          <p:cNvPr id="11" name="Shape 9"/>
          <p:cNvSpPr/>
          <p:nvPr/>
        </p:nvSpPr>
        <p:spPr>
          <a:xfrm>
            <a:off x="812800" y="4232970"/>
            <a:ext cx="5715000" cy="895846"/>
          </a:xfrm>
          <a:prstGeom prst="roundRect">
            <a:avLst>
              <a:gd name="adj" fmla="val 8506"/>
            </a:avLst>
          </a:prstGeom>
          <a:solidFill>
            <a:srgbClr val="EFE8DD"/>
          </a:solidFill>
          <a:ln/>
        </p:spPr>
        <p:txBody>
          <a:bodyPr/>
          <a:lstStyle/>
          <a:p>
            <a:endParaRPr lang="en-US"/>
          </a:p>
        </p:txBody>
      </p:sp>
      <p:sp>
        <p:nvSpPr>
          <p:cNvPr id="12" name="Text 10"/>
          <p:cNvSpPr/>
          <p:nvPr/>
        </p:nvSpPr>
        <p:spPr>
          <a:xfrm>
            <a:off x="1041400" y="4436170"/>
            <a:ext cx="5415534" cy="234156"/>
          </a:xfrm>
          <a:prstGeom prst="rect">
            <a:avLst/>
          </a:prstGeom>
          <a:noFill/>
          <a:ln/>
        </p:spPr>
        <p:txBody>
          <a:bodyPr wrap="square" lIns="0" tIns="0" rIns="0" bIns="0" rtlCol="0" anchor="t">
            <a:normAutofit/>
          </a:bodyPr>
          <a:lstStyle/>
          <a:p>
            <a:pPr marL="0" indent="0" algn="l">
              <a:lnSpc>
                <a:spcPts val="1675"/>
              </a:lnSpc>
              <a:buNone/>
            </a:pPr>
            <a:r>
              <a:rPr lang="en-US" sz="1340" b="1" dirty="0">
                <a:solidFill>
                  <a:srgbClr val="1F1B18"/>
                </a:solidFill>
                <a:latin typeface="Georgia" pitchFamily="34" charset="0"/>
                <a:ea typeface="Georgia" pitchFamily="34" charset="-122"/>
                <a:cs typeface="Georgia" pitchFamily="34" charset="-120"/>
              </a:rPr>
              <a:t>3. OR the three columns</a:t>
            </a:r>
            <a:endParaRPr lang="en-US" sz="1340" dirty="0"/>
          </a:p>
        </p:txBody>
      </p:sp>
      <p:sp>
        <p:nvSpPr>
          <p:cNvPr id="13" name="Text 11"/>
          <p:cNvSpPr/>
          <p:nvPr/>
        </p:nvSpPr>
        <p:spPr>
          <a:xfrm>
            <a:off x="1041400" y="4721126"/>
            <a:ext cx="5415534" cy="229890"/>
          </a:xfrm>
          <a:prstGeom prst="rect">
            <a:avLst/>
          </a:prstGeom>
          <a:noFill/>
          <a:ln/>
        </p:spPr>
        <p:txBody>
          <a:bodyPr wrap="square" lIns="0" tIns="0" rIns="0" bIns="0" rtlCol="0" anchor="t">
            <a:normAutofit/>
          </a:bodyPr>
          <a:lstStyle/>
          <a:p>
            <a:pPr marL="0" indent="0" algn="l">
              <a:lnSpc>
                <a:spcPts val="1623"/>
              </a:lnSpc>
              <a:buNone/>
            </a:pPr>
            <a:r>
              <a:rPr lang="en-US" sz="1159" dirty="0">
                <a:solidFill>
                  <a:srgbClr val="3B3631"/>
                </a:solidFill>
                <a:latin typeface="Georgia" pitchFamily="34" charset="0"/>
                <a:ea typeface="Georgia" pitchFamily="34" charset="-122"/>
                <a:cs typeface="Georgia" pitchFamily="34" charset="-120"/>
              </a:rPr>
              <a:t>Any 1 in a row makes the output 1.</a:t>
            </a:r>
            <a:endParaRPr lang="en-US" sz="1159"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934200" y="1872903"/>
          <a:ext cx="4445000" cy="3465016"/>
        </p:xfrm>
        <a:graphic>
          <a:graphicData uri="http://schemas.openxmlformats.org/drawingml/2006/table">
            <a:tbl>
              <a:tblPr/>
              <a:tblGrid>
                <a:gridCol w="740833">
                  <a:extLst>
                    <a:ext uri="{9D8B030D-6E8A-4147-A177-3AD203B41FA5}">
                      <a16:colId xmlns:a16="http://schemas.microsoft.com/office/drawing/2014/main" val="20000"/>
                    </a:ext>
                  </a:extLst>
                </a:gridCol>
                <a:gridCol w="740833">
                  <a:extLst>
                    <a:ext uri="{9D8B030D-6E8A-4147-A177-3AD203B41FA5}">
                      <a16:colId xmlns:a16="http://schemas.microsoft.com/office/drawing/2014/main" val="20001"/>
                    </a:ext>
                  </a:extLst>
                </a:gridCol>
                <a:gridCol w="740833">
                  <a:extLst>
                    <a:ext uri="{9D8B030D-6E8A-4147-A177-3AD203B41FA5}">
                      <a16:colId xmlns:a16="http://schemas.microsoft.com/office/drawing/2014/main" val="20002"/>
                    </a:ext>
                  </a:extLst>
                </a:gridCol>
                <a:gridCol w="740833">
                  <a:extLst>
                    <a:ext uri="{9D8B030D-6E8A-4147-A177-3AD203B41FA5}">
                      <a16:colId xmlns:a16="http://schemas.microsoft.com/office/drawing/2014/main" val="20003"/>
                    </a:ext>
                  </a:extLst>
                </a:gridCol>
                <a:gridCol w="740833">
                  <a:extLst>
                    <a:ext uri="{9D8B030D-6E8A-4147-A177-3AD203B41FA5}">
                      <a16:colId xmlns:a16="http://schemas.microsoft.com/office/drawing/2014/main" val="20004"/>
                    </a:ext>
                  </a:extLst>
                </a:gridCol>
                <a:gridCol w="740833">
                  <a:extLst>
                    <a:ext uri="{9D8B030D-6E8A-4147-A177-3AD203B41FA5}">
                      <a16:colId xmlns:a16="http://schemas.microsoft.com/office/drawing/2014/main" val="20005"/>
                    </a:ext>
                  </a:extLst>
                </a:gridCol>
              </a:tblGrid>
              <a:tr h="590451">
                <a:tc>
                  <a:txBody>
                    <a:bodyPr/>
                    <a:lstStyle/>
                    <a:p>
                      <a:pPr marL="0" indent="0" algn="ctr">
                        <a:lnSpc>
                          <a:spcPts val="1820"/>
                        </a:lnSpc>
                        <a:buNone/>
                      </a:pPr>
                      <a:r>
                        <a:rPr lang="en-US" sz="1300" b="1" dirty="0">
                          <a:solidFill>
                            <a:srgbClr val="3B3631"/>
                          </a:solidFill>
                          <a:latin typeface="Georgia" pitchFamily="34" charset="0"/>
                          <a:ea typeface="Georgia" pitchFamily="34" charset="-122"/>
                          <a:cs typeface="Georgia" pitchFamily="34" charset="-120"/>
                        </a:rPr>
                        <a:t>A</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1820"/>
                        </a:lnSpc>
                        <a:buNone/>
                      </a:pPr>
                      <a:r>
                        <a:rPr lang="en-US" sz="1300" b="1" dirty="0">
                          <a:solidFill>
                            <a:srgbClr val="3B3631"/>
                          </a:solidFill>
                          <a:latin typeface="Georgia" pitchFamily="34" charset="0"/>
                          <a:ea typeface="Georgia" pitchFamily="34" charset="-122"/>
                          <a:cs typeface="Georgia" pitchFamily="34" charset="-120"/>
                        </a:rPr>
                        <a:t>B</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1820"/>
                        </a:lnSpc>
                        <a:buNone/>
                      </a:pPr>
                      <a:r>
                        <a:rPr lang="en-US" sz="1300" b="1" dirty="0">
                          <a:solidFill>
                            <a:srgbClr val="3B3631"/>
                          </a:solidFill>
                          <a:latin typeface="Georgia" pitchFamily="34" charset="0"/>
                          <a:ea typeface="Georgia" pitchFamily="34" charset="-122"/>
                          <a:cs typeface="Georgia" pitchFamily="34" charset="-120"/>
                        </a:rPr>
                        <a:t>C</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1820"/>
                        </a:lnSpc>
                        <a:buNone/>
                      </a:pPr>
                      <a:r>
                        <a:rPr lang="en-US" sz="1300" b="1" dirty="0">
                          <a:solidFill>
                            <a:srgbClr val="3B3631"/>
                          </a:solidFill>
                          <a:latin typeface="Georgia" pitchFamily="34" charset="0"/>
                          <a:ea typeface="Georgia" pitchFamily="34" charset="-122"/>
                          <a:cs typeface="Georgia" pitchFamily="34" charset="-120"/>
                        </a:rPr>
                        <a:t>BC</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1820"/>
                        </a:lnSpc>
                        <a:buNone/>
                      </a:pPr>
                      <a:r>
                        <a:rPr lang="en-US" sz="1300" b="1" dirty="0">
                          <a:solidFill>
                            <a:srgbClr val="3B3631"/>
                          </a:solidFill>
                          <a:latin typeface="Georgia" pitchFamily="34" charset="0"/>
                          <a:ea typeface="Georgia" pitchFamily="34" charset="-122"/>
                          <a:cs typeface="Georgia" pitchFamily="34" charset="-120"/>
                        </a:rPr>
                        <a:t>A′C′</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1820"/>
                        </a:lnSpc>
                        <a:buNone/>
                      </a:pPr>
                      <a:r>
                        <a:rPr lang="en-US" sz="1300" b="1" dirty="0">
                          <a:solidFill>
                            <a:srgbClr val="3B3631"/>
                          </a:solidFill>
                          <a:latin typeface="Georgia" pitchFamily="34" charset="0"/>
                          <a:ea typeface="Georgia" pitchFamily="34" charset="-122"/>
                          <a:cs typeface="Georgia" pitchFamily="34" charset="-120"/>
                        </a:rPr>
                        <a:t>output</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extLst>
                  <a:ext uri="{0D108BD9-81ED-4DB2-BD59-A6C34878D82A}">
                    <a16:rowId xmlns:a16="http://schemas.microsoft.com/office/drawing/2014/main" val="10000"/>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4"/>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5"/>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6"/>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7"/>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15" name="Text 12"/>
          <p:cNvSpPr/>
          <p:nvPr/>
        </p:nvSpPr>
        <p:spPr>
          <a:xfrm>
            <a:off x="812800" y="5357416"/>
            <a:ext cx="10883392" cy="250329"/>
          </a:xfrm>
          <a:prstGeom prst="rect">
            <a:avLst/>
          </a:prstGeom>
          <a:noFill/>
          <a:ln/>
        </p:spPr>
        <p:txBody>
          <a:bodyPr wrap="square" lIns="0" tIns="0" rIns="0" bIns="0" rtlCol="0" anchor="t">
            <a:normAutofit/>
          </a:bodyPr>
          <a:lstStyle/>
          <a:p>
            <a:pPr marL="0" indent="0" algn="l">
              <a:lnSpc>
                <a:spcPts val="1770"/>
              </a:lnSpc>
              <a:buNone/>
            </a:pPr>
            <a:r>
              <a:rPr lang="en-US" sz="1264" dirty="0">
                <a:solidFill>
                  <a:srgbClr val="1F1B18"/>
                </a:solidFill>
                <a:latin typeface="Georgia" pitchFamily="34" charset="0"/>
                <a:ea typeface="Georgia" pitchFamily="34" charset="-122"/>
                <a:cs typeface="Georgia" pitchFamily="34" charset="-120"/>
              </a:rPr>
              <a:t>List the rows in binary counting order, 000 up to 111, so none is skipped: n inputs give 2ⁿ rows.</a:t>
            </a:r>
            <a:endParaRPr lang="en-US" sz="1264" dirty="0"/>
          </a:p>
        </p:txBody>
      </p:sp>
      <p:sp>
        <p:nvSpPr>
          <p:cNvPr id="16" name="Text 13"/>
          <p:cNvSpPr/>
          <p:nvPr/>
        </p:nvSpPr>
        <p:spPr>
          <a:xfrm>
            <a:off x="812800" y="5633145"/>
            <a:ext cx="10883392" cy="234255"/>
          </a:xfrm>
          <a:prstGeom prst="rect">
            <a:avLst/>
          </a:prstGeom>
          <a:noFill/>
          <a:ln/>
        </p:spPr>
        <p:txBody>
          <a:bodyPr wrap="square" lIns="0" tIns="0" rIns="0" bIns="0" rtlCol="0" anchor="t">
            <a:normAutofit/>
          </a:bodyPr>
          <a:lstStyle/>
          <a:p>
            <a:pPr marL="0" indent="0" algn="l">
              <a:lnSpc>
                <a:spcPts val="1672"/>
              </a:lnSpc>
              <a:buNone/>
            </a:pPr>
            <a:r>
              <a:rPr lang="en-US" sz="1194" dirty="0">
                <a:solidFill>
                  <a:srgbClr val="3B3631"/>
                </a:solidFill>
                <a:latin typeface="Georgia" pitchFamily="34" charset="0"/>
                <a:ea typeface="Georgia" pitchFamily="34" charset="-122"/>
                <a:cs typeface="Georgia" pitchFamily="34" charset="-120"/>
              </a:rPr>
              <a:t>Shortcuts: an OR is 1 as soon as one term is 1, so every row with </a:t>
            </a:r>
            <a:r>
              <a:rPr lang="en-US" sz="1194" i="1" dirty="0">
                <a:solidFill>
                  <a:srgbClr val="3B3631"/>
                </a:solidFill>
                <a:latin typeface="Georgia" pitchFamily="34" charset="0"/>
                <a:ea typeface="Georgia" pitchFamily="34" charset="-122"/>
                <a:cs typeface="Georgia" pitchFamily="34" charset="-120"/>
              </a:rPr>
              <a:t>A = 1</a:t>
            </a:r>
            <a:r>
              <a:rPr lang="en-US" sz="1194" dirty="0">
                <a:solidFill>
                  <a:srgbClr val="3B3631"/>
                </a:solidFill>
                <a:latin typeface="Georgia" pitchFamily="34" charset="0"/>
                <a:ea typeface="Georgia" pitchFamily="34" charset="-122"/>
                <a:cs typeface="Georgia" pitchFamily="34" charset="-120"/>
              </a:rPr>
              <a:t> is 1 here. An AND is 0 as soon as one factor is 0.</a:t>
            </a:r>
            <a:endParaRPr lang="en-US" sz="1194" dirty="0"/>
          </a:p>
        </p:txBody>
      </p:sp>
      <p:sp>
        <p:nvSpPr>
          <p:cNvPr id="17" name="Text 1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18" name="Text 1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EE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2 · TRUTH TABLES</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Problem 2: truth tables</a:t>
            </a:r>
            <a:endParaRPr lang="en-US" sz="3200" dirty="0"/>
          </a:p>
        </p:txBody>
      </p:sp>
      <p:sp>
        <p:nvSpPr>
          <p:cNvPr id="4" name="Text 2"/>
          <p:cNvSpPr/>
          <p:nvPr/>
        </p:nvSpPr>
        <p:spPr>
          <a:xfrm>
            <a:off x="812800" y="19303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B3631"/>
                </a:solidFill>
                <a:latin typeface="Georgia" pitchFamily="34" charset="0"/>
                <a:ea typeface="Georgia" pitchFamily="34" charset="-122"/>
                <a:cs typeface="Georgia" pitchFamily="34" charset="-120"/>
              </a:rPr>
              <a:t>Fill in the output column for every input combination.</a:t>
            </a:r>
            <a:endParaRPr lang="en-US" sz="1500" dirty="0"/>
          </a:p>
        </p:txBody>
      </p:sp>
      <p:sp>
        <p:nvSpPr>
          <p:cNvPr id="5" name="Text 3"/>
          <p:cNvSpPr/>
          <p:nvPr/>
        </p:nvSpPr>
        <p:spPr>
          <a:xfrm>
            <a:off x="812800" y="23113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a.</a:t>
            </a:r>
            <a:r>
              <a:rPr lang="en-US" sz="1500" dirty="0">
                <a:solidFill>
                  <a:srgbClr val="3B3631"/>
                </a:solidFill>
                <a:latin typeface="Georgia" pitchFamily="34" charset="0"/>
                <a:ea typeface="Georgia" pitchFamily="34" charset="-122"/>
                <a:cs typeface="Georgia" pitchFamily="34" charset="-120"/>
              </a:rPr>
              <a:t> </a:t>
            </a:r>
            <a:r>
              <a:rPr lang="en-US" sz="1500" i="1" dirty="0">
                <a:solidFill>
                  <a:srgbClr val="3B3631"/>
                </a:solidFill>
                <a:latin typeface="Georgia" pitchFamily="34" charset="0"/>
                <a:ea typeface="Georgia" pitchFamily="34" charset="-122"/>
                <a:cs typeface="Georgia" pitchFamily="34" charset="-120"/>
              </a:rPr>
              <a:t>F = AB + B′C′</a:t>
            </a:r>
            <a:endParaRPr lang="en-US" sz="1500" dirty="0"/>
          </a:p>
        </p:txBody>
      </p:sp>
      <p:sp>
        <p:nvSpPr>
          <p:cNvPr id="6" name="Text 4"/>
          <p:cNvSpPr/>
          <p:nvPr/>
        </p:nvSpPr>
        <p:spPr>
          <a:xfrm>
            <a:off x="812800" y="26923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b.</a:t>
            </a:r>
            <a:r>
              <a:rPr lang="en-US" sz="1500" dirty="0">
                <a:solidFill>
                  <a:srgbClr val="3B3631"/>
                </a:solidFill>
                <a:latin typeface="Georgia" pitchFamily="34" charset="0"/>
                <a:ea typeface="Georgia" pitchFamily="34" charset="-122"/>
                <a:cs typeface="Georgia" pitchFamily="34" charset="-120"/>
              </a:rPr>
              <a:t> </a:t>
            </a:r>
            <a:r>
              <a:rPr lang="en-US" sz="1500" i="1" dirty="0">
                <a:solidFill>
                  <a:srgbClr val="3B3631"/>
                </a:solidFill>
                <a:latin typeface="Georgia" pitchFamily="34" charset="0"/>
                <a:ea typeface="Georgia" pitchFamily="34" charset="-122"/>
                <a:cs typeface="Georgia" pitchFamily="34" charset="-120"/>
              </a:rPr>
              <a:t>G = (A + B)(A′ + C)</a:t>
            </a:r>
            <a:endParaRPr lang="en-US" sz="1500" dirty="0"/>
          </a:p>
        </p:txBody>
      </p:sp>
      <p:sp>
        <p:nvSpPr>
          <p:cNvPr id="7" name="Text 5"/>
          <p:cNvSpPr/>
          <p:nvPr/>
        </p:nvSpPr>
        <p:spPr>
          <a:xfrm>
            <a:off x="812800" y="30733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c.</a:t>
            </a:r>
            <a:r>
              <a:rPr lang="en-US" sz="1500" dirty="0">
                <a:solidFill>
                  <a:srgbClr val="3B3631"/>
                </a:solidFill>
                <a:latin typeface="Georgia" pitchFamily="34" charset="0"/>
                <a:ea typeface="Georgia" pitchFamily="34" charset="-122"/>
                <a:cs typeface="Georgia" pitchFamily="34" charset="-120"/>
              </a:rPr>
              <a:t> How many rows do you need to check a three-variable identity? A six-variable one?</a:t>
            </a:r>
            <a:endParaRPr lang="en-US" sz="1500" dirty="0"/>
          </a:p>
        </p:txBody>
      </p:sp>
      <p:sp>
        <p:nvSpPr>
          <p:cNvPr id="8" name="Text 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9" name="Text 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EE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2 · TRUTH TABLES</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Problem 2: answers</a:t>
            </a:r>
            <a:endParaRPr lang="en-US" sz="3200" dirty="0"/>
          </a:p>
        </p:txBody>
      </p:sp>
      <p:sp>
        <p:nvSpPr>
          <p:cNvPr id="4" name="Text 2"/>
          <p:cNvSpPr/>
          <p:nvPr/>
        </p:nvSpPr>
        <p:spPr>
          <a:xfrm>
            <a:off x="812800" y="1930350"/>
            <a:ext cx="525856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B18"/>
                </a:solidFill>
                <a:latin typeface="Georgia" pitchFamily="34" charset="0"/>
                <a:ea typeface="Georgia" pitchFamily="34" charset="-122"/>
                <a:cs typeface="Georgia" pitchFamily="34" charset="-120"/>
              </a:rPr>
              <a:t>a.</a:t>
            </a:r>
            <a:r>
              <a:rPr lang="en-US" sz="1400" dirty="0">
                <a:solidFill>
                  <a:srgbClr val="1F1B18"/>
                </a:solidFill>
                <a:latin typeface="Georgia" pitchFamily="34" charset="0"/>
                <a:ea typeface="Georgia" pitchFamily="34" charset="-122"/>
                <a:cs typeface="Georgia" pitchFamily="34" charset="-120"/>
              </a:rPr>
              <a:t> </a:t>
            </a:r>
            <a:r>
              <a:rPr lang="en-US" sz="1400" i="1" dirty="0">
                <a:solidFill>
                  <a:srgbClr val="1F1B18"/>
                </a:solidFill>
                <a:latin typeface="Georgia" pitchFamily="34" charset="0"/>
                <a:ea typeface="Georgia" pitchFamily="34" charset="-122"/>
                <a:cs typeface="Georgia" pitchFamily="34" charset="-120"/>
              </a:rPr>
              <a:t>F = AB + B′C′</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800" y="2242741"/>
          <a:ext cx="4699000" cy="2994124"/>
        </p:xfrm>
        <a:graphic>
          <a:graphicData uri="http://schemas.openxmlformats.org/drawingml/2006/table">
            <a:tbl>
              <a:tblPr/>
              <a:tblGrid>
                <a:gridCol w="783167">
                  <a:extLst>
                    <a:ext uri="{9D8B030D-6E8A-4147-A177-3AD203B41FA5}">
                      <a16:colId xmlns:a16="http://schemas.microsoft.com/office/drawing/2014/main" val="20000"/>
                    </a:ext>
                  </a:extLst>
                </a:gridCol>
                <a:gridCol w="783167">
                  <a:extLst>
                    <a:ext uri="{9D8B030D-6E8A-4147-A177-3AD203B41FA5}">
                      <a16:colId xmlns:a16="http://schemas.microsoft.com/office/drawing/2014/main" val="20001"/>
                    </a:ext>
                  </a:extLst>
                </a:gridCol>
                <a:gridCol w="783167">
                  <a:extLst>
                    <a:ext uri="{9D8B030D-6E8A-4147-A177-3AD203B41FA5}">
                      <a16:colId xmlns:a16="http://schemas.microsoft.com/office/drawing/2014/main" val="20002"/>
                    </a:ext>
                  </a:extLst>
                </a:gridCol>
                <a:gridCol w="783167">
                  <a:extLst>
                    <a:ext uri="{9D8B030D-6E8A-4147-A177-3AD203B41FA5}">
                      <a16:colId xmlns:a16="http://schemas.microsoft.com/office/drawing/2014/main" val="20003"/>
                    </a:ext>
                  </a:extLst>
                </a:gridCol>
                <a:gridCol w="783167">
                  <a:extLst>
                    <a:ext uri="{9D8B030D-6E8A-4147-A177-3AD203B41FA5}">
                      <a16:colId xmlns:a16="http://schemas.microsoft.com/office/drawing/2014/main" val="20004"/>
                    </a:ext>
                  </a:extLst>
                </a:gridCol>
                <a:gridCol w="783167">
                  <a:extLst>
                    <a:ext uri="{9D8B030D-6E8A-4147-A177-3AD203B41FA5}">
                      <a16:colId xmlns:a16="http://schemas.microsoft.com/office/drawing/2014/main" val="20005"/>
                    </a:ext>
                  </a:extLst>
                </a:gridCol>
              </a:tblGrid>
              <a:tr h="332680">
                <a:tc>
                  <a:txBody>
                    <a:bodyPr/>
                    <a:lstStyle/>
                    <a:p>
                      <a:pPr marL="0" indent="0" algn="ctr">
                        <a:lnSpc>
                          <a:spcPts val="1680"/>
                        </a:lnSpc>
                        <a:buNone/>
                      </a:pPr>
                      <a:r>
                        <a:rPr lang="en-US" sz="1200" b="1" dirty="0">
                          <a:solidFill>
                            <a:srgbClr val="3B3631"/>
                          </a:solidFill>
                          <a:latin typeface="Georgia" pitchFamily="34" charset="0"/>
                          <a:ea typeface="Georgia" pitchFamily="34" charset="-122"/>
                          <a:cs typeface="Georgia" pitchFamily="34" charset="-120"/>
                        </a:rPr>
                        <a:t>A</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solidFill>
                      <a:srgbClr val="E7DFDB"/>
                    </a:solidFill>
                  </a:tcPr>
                </a:tc>
                <a:tc>
                  <a:txBody>
                    <a:bodyPr/>
                    <a:lstStyle/>
                    <a:p>
                      <a:pPr marL="0" indent="0" algn="ctr">
                        <a:lnSpc>
                          <a:spcPts val="1680"/>
                        </a:lnSpc>
                        <a:buNone/>
                      </a:pPr>
                      <a:r>
                        <a:rPr lang="en-US" sz="1200" b="1" dirty="0">
                          <a:solidFill>
                            <a:srgbClr val="3B3631"/>
                          </a:solidFill>
                          <a:latin typeface="Georgia" pitchFamily="34" charset="0"/>
                          <a:ea typeface="Georgia" pitchFamily="34" charset="-122"/>
                          <a:cs typeface="Georgia" pitchFamily="34" charset="-120"/>
                        </a:rPr>
                        <a:t>B</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solidFill>
                      <a:srgbClr val="E7DFDB"/>
                    </a:solidFill>
                  </a:tcPr>
                </a:tc>
                <a:tc>
                  <a:txBody>
                    <a:bodyPr/>
                    <a:lstStyle/>
                    <a:p>
                      <a:pPr marL="0" indent="0" algn="ctr">
                        <a:lnSpc>
                          <a:spcPts val="1680"/>
                        </a:lnSpc>
                        <a:buNone/>
                      </a:pPr>
                      <a:r>
                        <a:rPr lang="en-US" sz="1200" b="1" dirty="0">
                          <a:solidFill>
                            <a:srgbClr val="3B3631"/>
                          </a:solidFill>
                          <a:latin typeface="Georgia" pitchFamily="34" charset="0"/>
                          <a:ea typeface="Georgia" pitchFamily="34" charset="-122"/>
                          <a:cs typeface="Georgia" pitchFamily="34" charset="-120"/>
                        </a:rPr>
                        <a:t>C</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solidFill>
                      <a:srgbClr val="E7DFDB"/>
                    </a:solidFill>
                  </a:tcPr>
                </a:tc>
                <a:tc>
                  <a:txBody>
                    <a:bodyPr/>
                    <a:lstStyle/>
                    <a:p>
                      <a:pPr marL="0" indent="0" algn="ctr">
                        <a:lnSpc>
                          <a:spcPts val="1680"/>
                        </a:lnSpc>
                        <a:buNone/>
                      </a:pPr>
                      <a:r>
                        <a:rPr lang="en-US" sz="1200" b="1" dirty="0">
                          <a:solidFill>
                            <a:srgbClr val="3B3631"/>
                          </a:solidFill>
                          <a:latin typeface="Georgia" pitchFamily="34" charset="0"/>
                          <a:ea typeface="Georgia" pitchFamily="34" charset="-122"/>
                          <a:cs typeface="Georgia" pitchFamily="34" charset="-120"/>
                        </a:rPr>
                        <a:t>AB</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solidFill>
                      <a:srgbClr val="E7DFDB"/>
                    </a:solidFill>
                  </a:tcPr>
                </a:tc>
                <a:tc>
                  <a:txBody>
                    <a:bodyPr/>
                    <a:lstStyle/>
                    <a:p>
                      <a:pPr marL="0" indent="0" algn="ctr">
                        <a:lnSpc>
                          <a:spcPts val="1680"/>
                        </a:lnSpc>
                        <a:buNone/>
                      </a:pPr>
                      <a:r>
                        <a:rPr lang="en-US" sz="1200" b="1" dirty="0">
                          <a:solidFill>
                            <a:srgbClr val="3B3631"/>
                          </a:solidFill>
                          <a:latin typeface="Georgia" pitchFamily="34" charset="0"/>
                          <a:ea typeface="Georgia" pitchFamily="34" charset="-122"/>
                          <a:cs typeface="Georgia" pitchFamily="34" charset="-120"/>
                        </a:rPr>
                        <a:t>B′C′</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solidFill>
                      <a:srgbClr val="E7DFDB"/>
                    </a:solidFill>
                  </a:tcPr>
                </a:tc>
                <a:tc>
                  <a:txBody>
                    <a:bodyPr/>
                    <a:lstStyle/>
                    <a:p>
                      <a:pPr marL="0" indent="0" algn="ctr">
                        <a:lnSpc>
                          <a:spcPts val="1680"/>
                        </a:lnSpc>
                        <a:buNone/>
                      </a:pPr>
                      <a:r>
                        <a:rPr lang="en-US" sz="1200" b="1" dirty="0">
                          <a:solidFill>
                            <a:srgbClr val="3B3631"/>
                          </a:solidFill>
                          <a:latin typeface="Georgia" pitchFamily="34" charset="0"/>
                          <a:ea typeface="Georgia" pitchFamily="34" charset="-122"/>
                          <a:cs typeface="Georgia" pitchFamily="34" charset="-120"/>
                        </a:rPr>
                        <a:t>F</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solidFill>
                      <a:srgbClr val="E7DFDB"/>
                    </a:solidFill>
                  </a:tcPr>
                </a:tc>
                <a:extLst>
                  <a:ext uri="{0D108BD9-81ED-4DB2-BD59-A6C34878D82A}">
                    <a16:rowId xmlns:a16="http://schemas.microsoft.com/office/drawing/2014/main" val="10000"/>
                  </a:ext>
                </a:extLst>
              </a:tr>
              <a:tr h="332680">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extLst>
                  <a:ext uri="{0D108BD9-81ED-4DB2-BD59-A6C34878D82A}">
                    <a16:rowId xmlns:a16="http://schemas.microsoft.com/office/drawing/2014/main" val="10001"/>
                  </a:ext>
                </a:extLst>
              </a:tr>
              <a:tr h="332680">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extLst>
                  <a:ext uri="{0D108BD9-81ED-4DB2-BD59-A6C34878D82A}">
                    <a16:rowId xmlns:a16="http://schemas.microsoft.com/office/drawing/2014/main" val="10002"/>
                  </a:ext>
                </a:extLst>
              </a:tr>
              <a:tr h="332680">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extLst>
                  <a:ext uri="{0D108BD9-81ED-4DB2-BD59-A6C34878D82A}">
                    <a16:rowId xmlns:a16="http://schemas.microsoft.com/office/drawing/2014/main" val="10003"/>
                  </a:ext>
                </a:extLst>
              </a:tr>
              <a:tr h="332680">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extLst>
                  <a:ext uri="{0D108BD9-81ED-4DB2-BD59-A6C34878D82A}">
                    <a16:rowId xmlns:a16="http://schemas.microsoft.com/office/drawing/2014/main" val="10004"/>
                  </a:ext>
                </a:extLst>
              </a:tr>
              <a:tr h="332680">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extLst>
                  <a:ext uri="{0D108BD9-81ED-4DB2-BD59-A6C34878D82A}">
                    <a16:rowId xmlns:a16="http://schemas.microsoft.com/office/drawing/2014/main" val="10005"/>
                  </a:ext>
                </a:extLst>
              </a:tr>
              <a:tr h="332680">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extLst>
                  <a:ext uri="{0D108BD9-81ED-4DB2-BD59-A6C34878D82A}">
                    <a16:rowId xmlns:a16="http://schemas.microsoft.com/office/drawing/2014/main" val="10006"/>
                  </a:ext>
                </a:extLst>
              </a:tr>
              <a:tr h="332680">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extLst>
                  <a:ext uri="{0D108BD9-81ED-4DB2-BD59-A6C34878D82A}">
                    <a16:rowId xmlns:a16="http://schemas.microsoft.com/office/drawing/2014/main" val="10007"/>
                  </a:ext>
                </a:extLst>
              </a:tr>
              <a:tr h="332680">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Text 3"/>
          <p:cNvSpPr/>
          <p:nvPr/>
        </p:nvSpPr>
        <p:spPr>
          <a:xfrm>
            <a:off x="6273800" y="1930350"/>
            <a:ext cx="525856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B18"/>
                </a:solidFill>
                <a:latin typeface="Georgia" pitchFamily="34" charset="0"/>
                <a:ea typeface="Georgia" pitchFamily="34" charset="-122"/>
                <a:cs typeface="Georgia" pitchFamily="34" charset="-120"/>
              </a:rPr>
              <a:t>b.</a:t>
            </a:r>
            <a:r>
              <a:rPr lang="en-US" sz="1400" dirty="0">
                <a:solidFill>
                  <a:srgbClr val="1F1B18"/>
                </a:solidFill>
                <a:latin typeface="Georgia" pitchFamily="34" charset="0"/>
                <a:ea typeface="Georgia" pitchFamily="34" charset="-122"/>
                <a:cs typeface="Georgia" pitchFamily="34" charset="-120"/>
              </a:rPr>
              <a:t> </a:t>
            </a:r>
            <a:r>
              <a:rPr lang="en-US" sz="1400" i="1" dirty="0">
                <a:solidFill>
                  <a:srgbClr val="1F1B18"/>
                </a:solidFill>
                <a:latin typeface="Georgia" pitchFamily="34" charset="0"/>
                <a:ea typeface="Georgia" pitchFamily="34" charset="-122"/>
                <a:cs typeface="Georgia" pitchFamily="34" charset="-120"/>
              </a:rPr>
              <a:t>G = (A + B)(A′ + C)</a:t>
            </a:r>
            <a:endParaRPr lang="en-US" sz="14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273800" y="2242741"/>
          <a:ext cx="4699000" cy="2994124"/>
        </p:xfrm>
        <a:graphic>
          <a:graphicData uri="http://schemas.openxmlformats.org/drawingml/2006/table">
            <a:tbl>
              <a:tblPr/>
              <a:tblGrid>
                <a:gridCol w="783167">
                  <a:extLst>
                    <a:ext uri="{9D8B030D-6E8A-4147-A177-3AD203B41FA5}">
                      <a16:colId xmlns:a16="http://schemas.microsoft.com/office/drawing/2014/main" val="20000"/>
                    </a:ext>
                  </a:extLst>
                </a:gridCol>
                <a:gridCol w="783167">
                  <a:extLst>
                    <a:ext uri="{9D8B030D-6E8A-4147-A177-3AD203B41FA5}">
                      <a16:colId xmlns:a16="http://schemas.microsoft.com/office/drawing/2014/main" val="20001"/>
                    </a:ext>
                  </a:extLst>
                </a:gridCol>
                <a:gridCol w="783167">
                  <a:extLst>
                    <a:ext uri="{9D8B030D-6E8A-4147-A177-3AD203B41FA5}">
                      <a16:colId xmlns:a16="http://schemas.microsoft.com/office/drawing/2014/main" val="20002"/>
                    </a:ext>
                  </a:extLst>
                </a:gridCol>
                <a:gridCol w="783167">
                  <a:extLst>
                    <a:ext uri="{9D8B030D-6E8A-4147-A177-3AD203B41FA5}">
                      <a16:colId xmlns:a16="http://schemas.microsoft.com/office/drawing/2014/main" val="20003"/>
                    </a:ext>
                  </a:extLst>
                </a:gridCol>
                <a:gridCol w="783167">
                  <a:extLst>
                    <a:ext uri="{9D8B030D-6E8A-4147-A177-3AD203B41FA5}">
                      <a16:colId xmlns:a16="http://schemas.microsoft.com/office/drawing/2014/main" val="20004"/>
                    </a:ext>
                  </a:extLst>
                </a:gridCol>
                <a:gridCol w="783167">
                  <a:extLst>
                    <a:ext uri="{9D8B030D-6E8A-4147-A177-3AD203B41FA5}">
                      <a16:colId xmlns:a16="http://schemas.microsoft.com/office/drawing/2014/main" val="20005"/>
                    </a:ext>
                  </a:extLst>
                </a:gridCol>
              </a:tblGrid>
              <a:tr h="332680">
                <a:tc>
                  <a:txBody>
                    <a:bodyPr/>
                    <a:lstStyle/>
                    <a:p>
                      <a:pPr marL="0" indent="0" algn="ctr">
                        <a:lnSpc>
                          <a:spcPts val="1680"/>
                        </a:lnSpc>
                        <a:buNone/>
                      </a:pPr>
                      <a:r>
                        <a:rPr lang="en-US" sz="1200" b="1" dirty="0">
                          <a:solidFill>
                            <a:srgbClr val="3B3631"/>
                          </a:solidFill>
                          <a:latin typeface="Georgia" pitchFamily="34" charset="0"/>
                          <a:ea typeface="Georgia" pitchFamily="34" charset="-122"/>
                          <a:cs typeface="Georgia" pitchFamily="34" charset="-120"/>
                        </a:rPr>
                        <a:t>A</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solidFill>
                      <a:srgbClr val="E7DFDB"/>
                    </a:solidFill>
                  </a:tcPr>
                </a:tc>
                <a:tc>
                  <a:txBody>
                    <a:bodyPr/>
                    <a:lstStyle/>
                    <a:p>
                      <a:pPr marL="0" indent="0" algn="ctr">
                        <a:lnSpc>
                          <a:spcPts val="1680"/>
                        </a:lnSpc>
                        <a:buNone/>
                      </a:pPr>
                      <a:r>
                        <a:rPr lang="en-US" sz="1200" b="1" dirty="0">
                          <a:solidFill>
                            <a:srgbClr val="3B3631"/>
                          </a:solidFill>
                          <a:latin typeface="Georgia" pitchFamily="34" charset="0"/>
                          <a:ea typeface="Georgia" pitchFamily="34" charset="-122"/>
                          <a:cs typeface="Georgia" pitchFamily="34" charset="-120"/>
                        </a:rPr>
                        <a:t>B</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solidFill>
                      <a:srgbClr val="E7DFDB"/>
                    </a:solidFill>
                  </a:tcPr>
                </a:tc>
                <a:tc>
                  <a:txBody>
                    <a:bodyPr/>
                    <a:lstStyle/>
                    <a:p>
                      <a:pPr marL="0" indent="0" algn="ctr">
                        <a:lnSpc>
                          <a:spcPts val="1680"/>
                        </a:lnSpc>
                        <a:buNone/>
                      </a:pPr>
                      <a:r>
                        <a:rPr lang="en-US" sz="1200" b="1" dirty="0">
                          <a:solidFill>
                            <a:srgbClr val="3B3631"/>
                          </a:solidFill>
                          <a:latin typeface="Georgia" pitchFamily="34" charset="0"/>
                          <a:ea typeface="Georgia" pitchFamily="34" charset="-122"/>
                          <a:cs typeface="Georgia" pitchFamily="34" charset="-120"/>
                        </a:rPr>
                        <a:t>C</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solidFill>
                      <a:srgbClr val="E7DFDB"/>
                    </a:solidFill>
                  </a:tcPr>
                </a:tc>
                <a:tc>
                  <a:txBody>
                    <a:bodyPr/>
                    <a:lstStyle/>
                    <a:p>
                      <a:pPr marL="0" indent="0" algn="ctr">
                        <a:lnSpc>
                          <a:spcPts val="1680"/>
                        </a:lnSpc>
                        <a:buNone/>
                      </a:pPr>
                      <a:r>
                        <a:rPr lang="en-US" sz="1200" b="1" dirty="0">
                          <a:solidFill>
                            <a:srgbClr val="3B3631"/>
                          </a:solidFill>
                          <a:latin typeface="Georgia" pitchFamily="34" charset="0"/>
                          <a:ea typeface="Georgia" pitchFamily="34" charset="-122"/>
                          <a:cs typeface="Georgia" pitchFamily="34" charset="-120"/>
                        </a:rPr>
                        <a:t>A + B</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solidFill>
                      <a:srgbClr val="E7DFDB"/>
                    </a:solidFill>
                  </a:tcPr>
                </a:tc>
                <a:tc>
                  <a:txBody>
                    <a:bodyPr/>
                    <a:lstStyle/>
                    <a:p>
                      <a:pPr marL="0" indent="0" algn="ctr">
                        <a:lnSpc>
                          <a:spcPts val="1680"/>
                        </a:lnSpc>
                        <a:buNone/>
                      </a:pPr>
                      <a:r>
                        <a:rPr lang="en-US" sz="1200" b="1" dirty="0">
                          <a:solidFill>
                            <a:srgbClr val="3B3631"/>
                          </a:solidFill>
                          <a:latin typeface="Georgia" pitchFamily="34" charset="0"/>
                          <a:ea typeface="Georgia" pitchFamily="34" charset="-122"/>
                          <a:cs typeface="Georgia" pitchFamily="34" charset="-120"/>
                        </a:rPr>
                        <a:t>A′ + C</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solidFill>
                      <a:srgbClr val="E7DFDB"/>
                    </a:solidFill>
                  </a:tcPr>
                </a:tc>
                <a:tc>
                  <a:txBody>
                    <a:bodyPr/>
                    <a:lstStyle/>
                    <a:p>
                      <a:pPr marL="0" indent="0" algn="ctr">
                        <a:lnSpc>
                          <a:spcPts val="1680"/>
                        </a:lnSpc>
                        <a:buNone/>
                      </a:pPr>
                      <a:r>
                        <a:rPr lang="en-US" sz="1200" b="1" dirty="0">
                          <a:solidFill>
                            <a:srgbClr val="3B3631"/>
                          </a:solidFill>
                          <a:latin typeface="Georgia" pitchFamily="34" charset="0"/>
                          <a:ea typeface="Georgia" pitchFamily="34" charset="-122"/>
                          <a:cs typeface="Georgia" pitchFamily="34" charset="-120"/>
                        </a:rPr>
                        <a:t>G</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solidFill>
                      <a:srgbClr val="E7DFDB"/>
                    </a:solidFill>
                  </a:tcPr>
                </a:tc>
                <a:extLst>
                  <a:ext uri="{0D108BD9-81ED-4DB2-BD59-A6C34878D82A}">
                    <a16:rowId xmlns:a16="http://schemas.microsoft.com/office/drawing/2014/main" val="10000"/>
                  </a:ext>
                </a:extLst>
              </a:tr>
              <a:tr h="332680">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extLst>
                  <a:ext uri="{0D108BD9-81ED-4DB2-BD59-A6C34878D82A}">
                    <a16:rowId xmlns:a16="http://schemas.microsoft.com/office/drawing/2014/main" val="10001"/>
                  </a:ext>
                </a:extLst>
              </a:tr>
              <a:tr h="332680">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extLst>
                  <a:ext uri="{0D108BD9-81ED-4DB2-BD59-A6C34878D82A}">
                    <a16:rowId xmlns:a16="http://schemas.microsoft.com/office/drawing/2014/main" val="10002"/>
                  </a:ext>
                </a:extLst>
              </a:tr>
              <a:tr h="332680">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extLst>
                  <a:ext uri="{0D108BD9-81ED-4DB2-BD59-A6C34878D82A}">
                    <a16:rowId xmlns:a16="http://schemas.microsoft.com/office/drawing/2014/main" val="10003"/>
                  </a:ext>
                </a:extLst>
              </a:tr>
              <a:tr h="332680">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extLst>
                  <a:ext uri="{0D108BD9-81ED-4DB2-BD59-A6C34878D82A}">
                    <a16:rowId xmlns:a16="http://schemas.microsoft.com/office/drawing/2014/main" val="10004"/>
                  </a:ext>
                </a:extLst>
              </a:tr>
              <a:tr h="332680">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extLst>
                  <a:ext uri="{0D108BD9-81ED-4DB2-BD59-A6C34878D82A}">
                    <a16:rowId xmlns:a16="http://schemas.microsoft.com/office/drawing/2014/main" val="10005"/>
                  </a:ext>
                </a:extLst>
              </a:tr>
              <a:tr h="332680">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extLst>
                  <a:ext uri="{0D108BD9-81ED-4DB2-BD59-A6C34878D82A}">
                    <a16:rowId xmlns:a16="http://schemas.microsoft.com/office/drawing/2014/main" val="10006"/>
                  </a:ext>
                </a:extLst>
              </a:tr>
              <a:tr h="332680">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0</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extLst>
                  <a:ext uri="{0D108BD9-81ED-4DB2-BD59-A6C34878D82A}">
                    <a16:rowId xmlns:a16="http://schemas.microsoft.com/office/drawing/2014/main" val="10007"/>
                  </a:ext>
                </a:extLst>
              </a:tr>
              <a:tr h="332680">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680"/>
                        </a:lnSpc>
                        <a:buNone/>
                      </a:pPr>
                      <a:r>
                        <a:rPr lang="en-US" sz="1200" dirty="0">
                          <a:solidFill>
                            <a:srgbClr val="3B3631"/>
                          </a:solidFill>
                          <a:latin typeface="Georgia" pitchFamily="34" charset="0"/>
                          <a:ea typeface="Georgia" pitchFamily="34" charset="-122"/>
                          <a:cs typeface="Georgia" pitchFamily="34" charset="-120"/>
                        </a:rPr>
                        <a:t>1</a:t>
                      </a:r>
                      <a:endParaRPr lang="en-US" sz="1200" dirty="0">
                        <a:latin typeface="Georgia" charset="0"/>
                        <a:ea typeface="Georgia" charset="0"/>
                        <a:cs typeface="Georgia" charset="0"/>
                      </a:endParaRPr>
                    </a:p>
                  </a:txBody>
                  <a:tcPr marL="53340" marR="53340" marT="53340" marB="53340">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8" name="Text 4"/>
          <p:cNvSpPr/>
          <p:nvPr/>
        </p:nvSpPr>
        <p:spPr>
          <a:xfrm>
            <a:off x="812800" y="5401965"/>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B3631"/>
                </a:solidFill>
                <a:latin typeface="Georgia" pitchFamily="34" charset="0"/>
                <a:ea typeface="Georgia" pitchFamily="34" charset="-122"/>
                <a:cs typeface="Georgia" pitchFamily="34" charset="-120"/>
              </a:rPr>
              <a:t>c.</a:t>
            </a:r>
            <a:r>
              <a:rPr lang="en-US" sz="1400" dirty="0">
                <a:solidFill>
                  <a:srgbClr val="3B3631"/>
                </a:solidFill>
                <a:latin typeface="Georgia" pitchFamily="34" charset="0"/>
                <a:ea typeface="Georgia" pitchFamily="34" charset="-122"/>
                <a:cs typeface="Georgia" pitchFamily="34" charset="-120"/>
              </a:rPr>
              <a:t> 8 rows for a three-variable identity, 64 rows for a six-variable one.</a:t>
            </a:r>
            <a:endParaRPr lang="en-US" sz="1400" dirty="0"/>
          </a:p>
        </p:txBody>
      </p:sp>
      <p:sp>
        <p:nvSpPr>
          <p:cNvPr id="9" name="Text 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10" name="Text 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3 · AXIOMS AND THEOREMS</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Axioms and single-variable theorems</a:t>
            </a:r>
            <a:endParaRPr lang="en-US" sz="3200" dirty="0"/>
          </a:p>
        </p:txBody>
      </p:sp>
      <p:sp>
        <p:nvSpPr>
          <p:cNvPr id="4" name="Text 2"/>
          <p:cNvSpPr/>
          <p:nvPr/>
        </p:nvSpPr>
        <p:spPr>
          <a:xfrm>
            <a:off x="812800" y="1930350"/>
            <a:ext cx="497078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B18"/>
                </a:solidFill>
                <a:latin typeface="Georgia" pitchFamily="34" charset="0"/>
                <a:ea typeface="Georgia" pitchFamily="34" charset="-122"/>
                <a:cs typeface="Georgia" pitchFamily="34" charset="-120"/>
              </a:rPr>
              <a:t>Axioms</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800" y="2285950"/>
          <a:ext cx="4826000" cy="1796604"/>
        </p:xfrm>
        <a:graphic>
          <a:graphicData uri="http://schemas.openxmlformats.org/drawingml/2006/table">
            <a:tbl>
              <a:tblPr/>
              <a:tblGrid>
                <a:gridCol w="4826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tblGrid>
              <a:tr h="359321">
                <a:tc>
                  <a:txBody>
                    <a:bodyPr/>
                    <a:lstStyle/>
                    <a:p>
                      <a:pPr marL="0" indent="0" algn="ctr">
                        <a:lnSpc>
                          <a:spcPts val="1820"/>
                        </a:lnSpc>
                        <a:buNone/>
                      </a:pP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1820"/>
                        </a:lnSpc>
                        <a:buNone/>
                      </a:pPr>
                      <a:r>
                        <a:rPr lang="en-US" sz="1300" b="1" dirty="0">
                          <a:solidFill>
                            <a:srgbClr val="3B3631"/>
                          </a:solidFill>
                          <a:latin typeface="Georgia" pitchFamily="34" charset="0"/>
                          <a:ea typeface="Georgia" pitchFamily="34" charset="-122"/>
                          <a:cs typeface="Georgia" pitchFamily="34" charset="-120"/>
                        </a:rPr>
                        <a:t>AND</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1820"/>
                        </a:lnSpc>
                        <a:buNone/>
                      </a:pPr>
                      <a:r>
                        <a:rPr lang="en-US" sz="1300" b="1" dirty="0">
                          <a:solidFill>
                            <a:srgbClr val="3B3631"/>
                          </a:solidFill>
                          <a:latin typeface="Georgia" pitchFamily="34" charset="0"/>
                          <a:ea typeface="Georgia" pitchFamily="34" charset="-122"/>
                          <a:cs typeface="Georgia" pitchFamily="34" charset="-120"/>
                        </a:rPr>
                        <a:t>OR</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extLst>
                  <a:ext uri="{0D108BD9-81ED-4DB2-BD59-A6C34878D82A}">
                    <a16:rowId xmlns:a16="http://schemas.microsoft.com/office/drawing/2014/main" val="10000"/>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0·0 = 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 + 1 = 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2</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1·1 = 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 + 0 = 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3</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0·1 = 1·0 = 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 + 0 = 0 + 1 = 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4</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if x = 0, x′ = 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if x = 1, x′ = 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p:nvPr/>
        </p:nvSpPr>
        <p:spPr>
          <a:xfrm>
            <a:off x="6146800" y="1930350"/>
            <a:ext cx="497078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B18"/>
                </a:solidFill>
                <a:latin typeface="Georgia" pitchFamily="34" charset="0"/>
                <a:ea typeface="Georgia" pitchFamily="34" charset="-122"/>
                <a:cs typeface="Georgia" pitchFamily="34" charset="-120"/>
              </a:rPr>
              <a:t>Single-variable theorems</a:t>
            </a:r>
            <a:endParaRPr lang="en-US" sz="15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146800" y="2285950"/>
          <a:ext cx="4826000" cy="2155924"/>
        </p:xfrm>
        <a:graphic>
          <a:graphicData uri="http://schemas.openxmlformats.org/drawingml/2006/table">
            <a:tbl>
              <a:tblPr/>
              <a:tblGrid>
                <a:gridCol w="4826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tblGrid>
              <a:tr h="359321">
                <a:tc>
                  <a:txBody>
                    <a:bodyPr/>
                    <a:lstStyle/>
                    <a:p>
                      <a:pPr marL="0" indent="0" algn="ctr">
                        <a:lnSpc>
                          <a:spcPts val="1820"/>
                        </a:lnSpc>
                        <a:buNone/>
                      </a:pP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1820"/>
                        </a:lnSpc>
                        <a:buNone/>
                      </a:pPr>
                      <a:r>
                        <a:rPr lang="en-US" sz="1300" b="1" dirty="0">
                          <a:solidFill>
                            <a:srgbClr val="3B3631"/>
                          </a:solidFill>
                          <a:latin typeface="Georgia" pitchFamily="34" charset="0"/>
                          <a:ea typeface="Georgia" pitchFamily="34" charset="-122"/>
                          <a:cs typeface="Georgia" pitchFamily="34" charset="-120"/>
                        </a:rPr>
                        <a:t>a (AND)</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1820"/>
                        </a:lnSpc>
                        <a:buNone/>
                      </a:pPr>
                      <a:r>
                        <a:rPr lang="en-US" sz="1300" b="1" dirty="0">
                          <a:solidFill>
                            <a:srgbClr val="3B3631"/>
                          </a:solidFill>
                          <a:latin typeface="Georgia" pitchFamily="34" charset="0"/>
                          <a:ea typeface="Georgia" pitchFamily="34" charset="-122"/>
                          <a:cs typeface="Georgia" pitchFamily="34" charset="-120"/>
                        </a:rPr>
                        <a:t>b (OR)</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extLst>
                  <a:ext uri="{0D108BD9-81ED-4DB2-BD59-A6C34878D82A}">
                    <a16:rowId xmlns:a16="http://schemas.microsoft.com/office/drawing/2014/main" val="10000"/>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5</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x·0 = 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x + 1 = 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6</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x·1 = x</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x + 0 = x</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7</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x·x = x</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x + x = x</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8</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x·x′ = 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x + x′ = 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4"/>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9</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(x′)′ = x</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9" name="Text 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3 · AXIOMS AND THEOREMS</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Single-variable theorems as wiring</a:t>
            </a:r>
            <a:endParaRPr lang="en-US" sz="3200" dirty="0"/>
          </a:p>
        </p:txBody>
      </p:sp>
      <p:sp>
        <p:nvSpPr>
          <p:cNvPr id="4" name="Shape 2"/>
          <p:cNvSpPr/>
          <p:nvPr/>
        </p:nvSpPr>
        <p:spPr>
          <a:xfrm>
            <a:off x="812800" y="1930350"/>
            <a:ext cx="5207000" cy="985490"/>
          </a:xfrm>
          <a:prstGeom prst="roundRect">
            <a:avLst>
              <a:gd name="adj" fmla="val 7732"/>
            </a:avLst>
          </a:prstGeom>
          <a:solidFill>
            <a:srgbClr val="EFE8DD"/>
          </a:solidFill>
          <a:ln/>
        </p:spPr>
        <p:txBody>
          <a:bodyPr/>
          <a:lstStyle/>
          <a:p>
            <a:endParaRPr lang="en-US"/>
          </a:p>
        </p:txBody>
      </p:sp>
      <p:sp>
        <p:nvSpPr>
          <p:cNvPr id="5" name="Text 3"/>
          <p:cNvSpPr/>
          <p:nvPr/>
        </p:nvSpPr>
        <p:spPr>
          <a:xfrm>
            <a:off x="1041400" y="2133550"/>
            <a:ext cx="489229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F1B18"/>
                </a:solidFill>
                <a:latin typeface="Georgia" pitchFamily="34" charset="0"/>
                <a:ea typeface="Georgia" pitchFamily="34" charset="-122"/>
                <a:cs typeface="Georgia" pitchFamily="34" charset="-120"/>
              </a:rPr>
              <a:t>AND, one input at 1</a:t>
            </a:r>
            <a:endParaRPr lang="en-US" sz="1600" dirty="0"/>
          </a:p>
        </p:txBody>
      </p:sp>
      <p:sp>
        <p:nvSpPr>
          <p:cNvPr id="6" name="Text 4"/>
          <p:cNvSpPr/>
          <p:nvPr/>
        </p:nvSpPr>
        <p:spPr>
          <a:xfrm>
            <a:off x="1041400" y="2463750"/>
            <a:ext cx="4892294"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3631"/>
                </a:solidFill>
                <a:latin typeface="Georgia" pitchFamily="34" charset="0"/>
                <a:ea typeface="Georgia" pitchFamily="34" charset="-122"/>
                <a:cs typeface="Georgia" pitchFamily="34" charset="-120"/>
              </a:rPr>
              <a:t>The other input passes through. 6a: </a:t>
            </a:r>
            <a:r>
              <a:rPr lang="en-US" sz="1400" i="1" dirty="0">
                <a:solidFill>
                  <a:srgbClr val="3B3631"/>
                </a:solidFill>
                <a:latin typeface="Georgia" pitchFamily="34" charset="0"/>
                <a:ea typeface="Georgia" pitchFamily="34" charset="-122"/>
                <a:cs typeface="Georgia" pitchFamily="34" charset="-120"/>
              </a:rPr>
              <a:t>x·1 = x</a:t>
            </a:r>
            <a:endParaRPr lang="en-US" sz="1400" dirty="0"/>
          </a:p>
        </p:txBody>
      </p:sp>
      <p:sp>
        <p:nvSpPr>
          <p:cNvPr id="7" name="Shape 5"/>
          <p:cNvSpPr/>
          <p:nvPr/>
        </p:nvSpPr>
        <p:spPr>
          <a:xfrm>
            <a:off x="6172200" y="1930350"/>
            <a:ext cx="5207000" cy="985490"/>
          </a:xfrm>
          <a:prstGeom prst="roundRect">
            <a:avLst>
              <a:gd name="adj" fmla="val 7732"/>
            </a:avLst>
          </a:prstGeom>
          <a:solidFill>
            <a:srgbClr val="EFE8DD"/>
          </a:solidFill>
          <a:ln/>
        </p:spPr>
        <p:txBody>
          <a:bodyPr/>
          <a:lstStyle/>
          <a:p>
            <a:endParaRPr lang="en-US"/>
          </a:p>
        </p:txBody>
      </p:sp>
      <p:sp>
        <p:nvSpPr>
          <p:cNvPr id="8" name="Text 6"/>
          <p:cNvSpPr/>
          <p:nvPr/>
        </p:nvSpPr>
        <p:spPr>
          <a:xfrm>
            <a:off x="6400800" y="2133550"/>
            <a:ext cx="489229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F1B18"/>
                </a:solidFill>
                <a:latin typeface="Georgia" pitchFamily="34" charset="0"/>
                <a:ea typeface="Georgia" pitchFamily="34" charset="-122"/>
                <a:cs typeface="Georgia" pitchFamily="34" charset="-120"/>
              </a:rPr>
              <a:t>AND, one input at 0</a:t>
            </a:r>
            <a:endParaRPr lang="en-US" sz="1600" dirty="0"/>
          </a:p>
        </p:txBody>
      </p:sp>
      <p:sp>
        <p:nvSpPr>
          <p:cNvPr id="9" name="Text 7"/>
          <p:cNvSpPr/>
          <p:nvPr/>
        </p:nvSpPr>
        <p:spPr>
          <a:xfrm>
            <a:off x="6400800" y="2463750"/>
            <a:ext cx="4892294"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3631"/>
                </a:solidFill>
                <a:latin typeface="Georgia" pitchFamily="34" charset="0"/>
                <a:ea typeface="Georgia" pitchFamily="34" charset="-122"/>
                <a:cs typeface="Georgia" pitchFamily="34" charset="-120"/>
              </a:rPr>
              <a:t>The output is stuck at 0. 5a: </a:t>
            </a:r>
            <a:r>
              <a:rPr lang="en-US" sz="1400" i="1" dirty="0">
                <a:solidFill>
                  <a:srgbClr val="3B3631"/>
                </a:solidFill>
                <a:latin typeface="Georgia" pitchFamily="34" charset="0"/>
                <a:ea typeface="Georgia" pitchFamily="34" charset="-122"/>
                <a:cs typeface="Georgia" pitchFamily="34" charset="-120"/>
              </a:rPr>
              <a:t>x·0 = 0</a:t>
            </a:r>
            <a:endParaRPr lang="en-US" sz="1400" dirty="0"/>
          </a:p>
        </p:txBody>
      </p:sp>
      <p:sp>
        <p:nvSpPr>
          <p:cNvPr id="10" name="Shape 8"/>
          <p:cNvSpPr/>
          <p:nvPr/>
        </p:nvSpPr>
        <p:spPr>
          <a:xfrm>
            <a:off x="812800" y="3068241"/>
            <a:ext cx="5207000" cy="985490"/>
          </a:xfrm>
          <a:prstGeom prst="roundRect">
            <a:avLst>
              <a:gd name="adj" fmla="val 7732"/>
            </a:avLst>
          </a:prstGeom>
          <a:solidFill>
            <a:srgbClr val="EFE8DD"/>
          </a:solidFill>
          <a:ln/>
        </p:spPr>
        <p:txBody>
          <a:bodyPr/>
          <a:lstStyle/>
          <a:p>
            <a:endParaRPr lang="en-US"/>
          </a:p>
        </p:txBody>
      </p:sp>
      <p:sp>
        <p:nvSpPr>
          <p:cNvPr id="11" name="Text 9"/>
          <p:cNvSpPr/>
          <p:nvPr/>
        </p:nvSpPr>
        <p:spPr>
          <a:xfrm>
            <a:off x="1041400" y="3271441"/>
            <a:ext cx="489229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F1B18"/>
                </a:solidFill>
                <a:latin typeface="Georgia" pitchFamily="34" charset="0"/>
                <a:ea typeface="Georgia" pitchFamily="34" charset="-122"/>
                <a:cs typeface="Georgia" pitchFamily="34" charset="-120"/>
              </a:rPr>
              <a:t>OR, one input at 1</a:t>
            </a:r>
            <a:endParaRPr lang="en-US" sz="1600" dirty="0"/>
          </a:p>
        </p:txBody>
      </p:sp>
      <p:sp>
        <p:nvSpPr>
          <p:cNvPr id="12" name="Text 10"/>
          <p:cNvSpPr/>
          <p:nvPr/>
        </p:nvSpPr>
        <p:spPr>
          <a:xfrm>
            <a:off x="1041400" y="3601641"/>
            <a:ext cx="4892294"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3631"/>
                </a:solidFill>
                <a:latin typeface="Georgia" pitchFamily="34" charset="0"/>
                <a:ea typeface="Georgia" pitchFamily="34" charset="-122"/>
                <a:cs typeface="Georgia" pitchFamily="34" charset="-120"/>
              </a:rPr>
              <a:t>The output is stuck at 1. 5b: </a:t>
            </a:r>
            <a:r>
              <a:rPr lang="en-US" sz="1400" i="1" dirty="0">
                <a:solidFill>
                  <a:srgbClr val="3B3631"/>
                </a:solidFill>
                <a:latin typeface="Georgia" pitchFamily="34" charset="0"/>
                <a:ea typeface="Georgia" pitchFamily="34" charset="-122"/>
                <a:cs typeface="Georgia" pitchFamily="34" charset="-120"/>
              </a:rPr>
              <a:t>x + 1 = 1</a:t>
            </a:r>
            <a:endParaRPr lang="en-US" sz="1400" dirty="0"/>
          </a:p>
        </p:txBody>
      </p:sp>
      <p:sp>
        <p:nvSpPr>
          <p:cNvPr id="13" name="Shape 11"/>
          <p:cNvSpPr/>
          <p:nvPr/>
        </p:nvSpPr>
        <p:spPr>
          <a:xfrm>
            <a:off x="6172200" y="3068241"/>
            <a:ext cx="5207000" cy="985490"/>
          </a:xfrm>
          <a:prstGeom prst="roundRect">
            <a:avLst>
              <a:gd name="adj" fmla="val 7732"/>
            </a:avLst>
          </a:prstGeom>
          <a:solidFill>
            <a:srgbClr val="EFE8DD"/>
          </a:solidFill>
          <a:ln/>
        </p:spPr>
        <p:txBody>
          <a:bodyPr/>
          <a:lstStyle/>
          <a:p>
            <a:endParaRPr lang="en-US"/>
          </a:p>
        </p:txBody>
      </p:sp>
      <p:sp>
        <p:nvSpPr>
          <p:cNvPr id="14" name="Text 12"/>
          <p:cNvSpPr/>
          <p:nvPr/>
        </p:nvSpPr>
        <p:spPr>
          <a:xfrm>
            <a:off x="6400800" y="3271441"/>
            <a:ext cx="489229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F1B18"/>
                </a:solidFill>
                <a:latin typeface="Georgia" pitchFamily="34" charset="0"/>
                <a:ea typeface="Georgia" pitchFamily="34" charset="-122"/>
                <a:cs typeface="Georgia" pitchFamily="34" charset="-120"/>
              </a:rPr>
              <a:t>OR, one input at 0</a:t>
            </a:r>
            <a:endParaRPr lang="en-US" sz="1600" dirty="0"/>
          </a:p>
        </p:txBody>
      </p:sp>
      <p:sp>
        <p:nvSpPr>
          <p:cNvPr id="15" name="Text 13"/>
          <p:cNvSpPr/>
          <p:nvPr/>
        </p:nvSpPr>
        <p:spPr>
          <a:xfrm>
            <a:off x="6400800" y="3601641"/>
            <a:ext cx="4892294"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3631"/>
                </a:solidFill>
                <a:latin typeface="Georgia" pitchFamily="34" charset="0"/>
                <a:ea typeface="Georgia" pitchFamily="34" charset="-122"/>
                <a:cs typeface="Georgia" pitchFamily="34" charset="-120"/>
              </a:rPr>
              <a:t>The other input passes through. 6b: </a:t>
            </a:r>
            <a:r>
              <a:rPr lang="en-US" sz="1400" i="1" dirty="0">
                <a:solidFill>
                  <a:srgbClr val="3B3631"/>
                </a:solidFill>
                <a:latin typeface="Georgia" pitchFamily="34" charset="0"/>
                <a:ea typeface="Georgia" pitchFamily="34" charset="-122"/>
                <a:cs typeface="Georgia" pitchFamily="34" charset="-120"/>
              </a:rPr>
              <a:t>x + 0 = x</a:t>
            </a:r>
            <a:endParaRPr lang="en-US" sz="1400" dirty="0"/>
          </a:p>
        </p:txBody>
      </p:sp>
      <p:sp>
        <p:nvSpPr>
          <p:cNvPr id="16" name="Text 14"/>
          <p:cNvSpPr/>
          <p:nvPr/>
        </p:nvSpPr>
        <p:spPr>
          <a:xfrm>
            <a:off x="812800" y="4231531"/>
            <a:ext cx="10883392"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3631"/>
                </a:solidFill>
                <a:latin typeface="Georgia" pitchFamily="34" charset="0"/>
                <a:ea typeface="Georgia" pitchFamily="34" charset="-122"/>
                <a:cs typeface="Georgia" pitchFamily="34" charset="-120"/>
              </a:rPr>
              <a:t>A signal and its own complement into one gate give a constant (8a, 8b). On the bench: tie a spare AND input to 1 and a spare OR input to 0, and never leave an input floating.</a:t>
            </a:r>
            <a:endParaRPr lang="en-US" sz="1400" dirty="0"/>
          </a:p>
        </p:txBody>
      </p:sp>
      <p:sp>
        <p:nvSpPr>
          <p:cNvPr id="17" name="Text 15"/>
          <p:cNvSpPr/>
          <p:nvPr/>
        </p:nvSpPr>
        <p:spPr>
          <a:xfrm>
            <a:off x="812800" y="495791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F1B18"/>
                </a:solidFill>
                <a:latin typeface="Georgia" pitchFamily="34" charset="0"/>
                <a:ea typeface="Georgia" pitchFamily="34" charset="-122"/>
                <a:cs typeface="Georgia" pitchFamily="34" charset="-120"/>
              </a:rPr>
              <a:t>XOR identities: </a:t>
            </a:r>
            <a:r>
              <a:rPr lang="en-US" sz="1500" i="1" dirty="0">
                <a:solidFill>
                  <a:srgbClr val="1F1B18"/>
                </a:solidFill>
                <a:latin typeface="Georgia" pitchFamily="34" charset="0"/>
                <a:ea typeface="Georgia" pitchFamily="34" charset="-122"/>
                <a:cs typeface="Georgia" pitchFamily="34" charset="-120"/>
              </a:rPr>
              <a:t>A ⊕ 0 = A</a:t>
            </a:r>
            <a:r>
              <a:rPr lang="en-US" sz="1500" dirty="0">
                <a:solidFill>
                  <a:srgbClr val="1F1B18"/>
                </a:solidFill>
                <a:latin typeface="Georgia" pitchFamily="34" charset="0"/>
                <a:ea typeface="Georgia" pitchFamily="34" charset="-122"/>
                <a:cs typeface="Georgia" pitchFamily="34" charset="-120"/>
              </a:rPr>
              <a:t>, </a:t>
            </a:r>
            <a:r>
              <a:rPr lang="en-US" sz="1500" i="1" dirty="0">
                <a:solidFill>
                  <a:srgbClr val="1F1B18"/>
                </a:solidFill>
                <a:latin typeface="Georgia" pitchFamily="34" charset="0"/>
                <a:ea typeface="Georgia" pitchFamily="34" charset="-122"/>
                <a:cs typeface="Georgia" pitchFamily="34" charset="-120"/>
              </a:rPr>
              <a:t>A ⊕ 1 = A′</a:t>
            </a:r>
            <a:r>
              <a:rPr lang="en-US" sz="1500" dirty="0">
                <a:solidFill>
                  <a:srgbClr val="1F1B18"/>
                </a:solidFill>
                <a:latin typeface="Georgia" pitchFamily="34" charset="0"/>
                <a:ea typeface="Georgia" pitchFamily="34" charset="-122"/>
                <a:cs typeface="Georgia" pitchFamily="34" charset="-120"/>
              </a:rPr>
              <a:t>, </a:t>
            </a:r>
            <a:r>
              <a:rPr lang="en-US" sz="1500" i="1" dirty="0">
                <a:solidFill>
                  <a:srgbClr val="1F1B18"/>
                </a:solidFill>
                <a:latin typeface="Georgia" pitchFamily="34" charset="0"/>
                <a:ea typeface="Georgia" pitchFamily="34" charset="-122"/>
                <a:cs typeface="Georgia" pitchFamily="34" charset="-120"/>
              </a:rPr>
              <a:t>A ⊕ A = 0</a:t>
            </a:r>
            <a:r>
              <a:rPr lang="en-US" sz="1500" dirty="0">
                <a:solidFill>
                  <a:srgbClr val="1F1B18"/>
                </a:solidFill>
                <a:latin typeface="Georgia" pitchFamily="34" charset="0"/>
                <a:ea typeface="Georgia" pitchFamily="34" charset="-122"/>
                <a:cs typeface="Georgia" pitchFamily="34" charset="-120"/>
              </a:rPr>
              <a:t>, </a:t>
            </a:r>
            <a:r>
              <a:rPr lang="en-US" sz="1500" i="1" dirty="0">
                <a:solidFill>
                  <a:srgbClr val="1F1B18"/>
                </a:solidFill>
                <a:latin typeface="Georgia" pitchFamily="34" charset="0"/>
                <a:ea typeface="Georgia" pitchFamily="34" charset="-122"/>
                <a:cs typeface="Georgia" pitchFamily="34" charset="-120"/>
              </a:rPr>
              <a:t>A ⊕ A′ = 1</a:t>
            </a:r>
            <a:r>
              <a:rPr lang="en-US" sz="1500" dirty="0">
                <a:solidFill>
                  <a:srgbClr val="1F1B18"/>
                </a:solidFill>
                <a:latin typeface="Georgia" pitchFamily="34" charset="0"/>
                <a:ea typeface="Georgia" pitchFamily="34" charset="-122"/>
                <a:cs typeface="Georgia" pitchFamily="34" charset="-120"/>
              </a:rPr>
              <a:t>. The second one makes an XOR a controlled inverter.</a:t>
            </a:r>
            <a:endParaRPr lang="en-US" sz="1500" dirty="0"/>
          </a:p>
        </p:txBody>
      </p:sp>
      <p:sp>
        <p:nvSpPr>
          <p:cNvPr id="18" name="Text 1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19" name="Text 1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3 · AXIOMS AND THEOREMS</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Two- and three-variable theorems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930350"/>
          <a:ext cx="10566400" cy="3233886"/>
        </p:xfrm>
        <a:graphic>
          <a:graphicData uri="http://schemas.openxmlformats.org/drawingml/2006/table">
            <a:tbl>
              <a:tblPr/>
              <a:tblGrid>
                <a:gridCol w="633984">
                  <a:extLst>
                    <a:ext uri="{9D8B030D-6E8A-4147-A177-3AD203B41FA5}">
                      <a16:colId xmlns:a16="http://schemas.microsoft.com/office/drawing/2014/main" val="20000"/>
                    </a:ext>
                  </a:extLst>
                </a:gridCol>
                <a:gridCol w="3698240">
                  <a:extLst>
                    <a:ext uri="{9D8B030D-6E8A-4147-A177-3AD203B41FA5}">
                      <a16:colId xmlns:a16="http://schemas.microsoft.com/office/drawing/2014/main" val="20001"/>
                    </a:ext>
                  </a:extLst>
                </a:gridCol>
                <a:gridCol w="4543552">
                  <a:extLst>
                    <a:ext uri="{9D8B030D-6E8A-4147-A177-3AD203B41FA5}">
                      <a16:colId xmlns:a16="http://schemas.microsoft.com/office/drawing/2014/main" val="20002"/>
                    </a:ext>
                  </a:extLst>
                </a:gridCol>
                <a:gridCol w="1690624">
                  <a:extLst>
                    <a:ext uri="{9D8B030D-6E8A-4147-A177-3AD203B41FA5}">
                      <a16:colId xmlns:a16="http://schemas.microsoft.com/office/drawing/2014/main" val="20003"/>
                    </a:ext>
                  </a:extLst>
                </a:gridCol>
              </a:tblGrid>
              <a:tr h="359321">
                <a:tc>
                  <a:txBody>
                    <a:bodyPr/>
                    <a:lstStyle/>
                    <a:p>
                      <a:pPr marL="0" indent="0" algn="ctr">
                        <a:lnSpc>
                          <a:spcPts val="1820"/>
                        </a:lnSpc>
                        <a:buNone/>
                      </a:pP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1820"/>
                        </a:lnSpc>
                        <a:buNone/>
                      </a:pPr>
                      <a:r>
                        <a:rPr lang="en-US" sz="1300" b="1" dirty="0">
                          <a:solidFill>
                            <a:srgbClr val="3B3631"/>
                          </a:solidFill>
                          <a:latin typeface="Georgia" pitchFamily="34" charset="0"/>
                          <a:ea typeface="Georgia" pitchFamily="34" charset="-122"/>
                          <a:cs typeface="Georgia" pitchFamily="34" charset="-120"/>
                        </a:rPr>
                        <a:t>a</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1820"/>
                        </a:lnSpc>
                        <a:buNone/>
                      </a:pPr>
                      <a:r>
                        <a:rPr lang="en-US" sz="1300" b="1" dirty="0">
                          <a:solidFill>
                            <a:srgbClr val="3B3631"/>
                          </a:solidFill>
                          <a:latin typeface="Georgia" pitchFamily="34" charset="0"/>
                          <a:ea typeface="Georgia" pitchFamily="34" charset="-122"/>
                          <a:cs typeface="Georgia" pitchFamily="34" charset="-120"/>
                        </a:rPr>
                        <a:t>b</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1820"/>
                        </a:lnSpc>
                        <a:buNone/>
                      </a:pPr>
                      <a:r>
                        <a:rPr lang="en-US" sz="1300" b="1" dirty="0">
                          <a:solidFill>
                            <a:srgbClr val="3B3631"/>
                          </a:solidFill>
                          <a:latin typeface="Georgia" pitchFamily="34" charset="0"/>
                          <a:ea typeface="Georgia" pitchFamily="34" charset="-122"/>
                          <a:cs typeface="Georgia" pitchFamily="34" charset="-120"/>
                        </a:rPr>
                        <a:t>name</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extLst>
                  <a:ext uri="{0D108BD9-81ED-4DB2-BD59-A6C34878D82A}">
                    <a16:rowId xmlns:a16="http://schemas.microsoft.com/office/drawing/2014/main" val="10000"/>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10</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x·y = y·x</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x + y = y + x</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commutative</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11</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x(yz) = (xy)z</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x + (y + z) = (x + y) + z</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associative</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12</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x(y + z) = xy + xz</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x + yz = (x + y)(x + z)</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distributive</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13</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x + xy = x</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x(x + y) = x</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absorption</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4"/>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14</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xy + xy′ = x</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(x + y)(x + y′) = x</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combining</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5"/>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15</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(xy)′ = x′ + y′</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(x + y)′ = x′y′</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DeMorgan</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6"/>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16</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x + x′y = x + y</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x(x′ + y) = xy</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7"/>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17</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xy + yz + x′z = xy + x′z</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(x + y)(y + z)(x′ + z) = (x + y)(x′ + z)</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consensus</a:t>
                      </a:r>
                      <a:endParaRPr lang="en-US" sz="1300" dirty="0">
                        <a:latin typeface="Georgia" charset="0"/>
                        <a:ea typeface="Georgia" charset="0"/>
                        <a:cs typeface="Georgia" charset="0"/>
                      </a:endParaRPr>
                    </a:p>
                  </a:txBody>
                  <a:tcPr marL="57785" marR="57785" marT="57785" marB="5778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2"/>
          <p:cNvSpPr/>
          <p:nvPr/>
        </p:nvSpPr>
        <p:spPr>
          <a:xfrm>
            <a:off x="812800" y="5405537"/>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F1B18"/>
                </a:solidFill>
                <a:latin typeface="Georgia" pitchFamily="34" charset="0"/>
                <a:ea typeface="Georgia" pitchFamily="34" charset="-122"/>
                <a:cs typeface="Georgia" pitchFamily="34" charset="-120"/>
              </a:rPr>
              <a:t>Duality: swap · with +, and 0 with 1, and any identity becomes the other half of its pair. So the table is half as long as it looks.</a:t>
            </a:r>
            <a:endParaRPr lang="en-US" sz="15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EE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3 · AXIOMS AND THEOREMS</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Problem 3: using the theorems</a:t>
            </a:r>
            <a:endParaRPr lang="en-US" sz="3200" dirty="0"/>
          </a:p>
        </p:txBody>
      </p:sp>
      <p:sp>
        <p:nvSpPr>
          <p:cNvPr id="4" name="Text 2"/>
          <p:cNvSpPr/>
          <p:nvPr/>
        </p:nvSpPr>
        <p:spPr>
          <a:xfrm>
            <a:off x="812800" y="19303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B3631"/>
                </a:solidFill>
                <a:latin typeface="Georgia" pitchFamily="34" charset="0"/>
                <a:ea typeface="Georgia" pitchFamily="34" charset="-122"/>
                <a:cs typeface="Georgia" pitchFamily="34" charset="-120"/>
              </a:rPr>
              <a:t>Name the theorem you use at each step.</a:t>
            </a:r>
            <a:endParaRPr lang="en-US" sz="1500" dirty="0"/>
          </a:p>
        </p:txBody>
      </p:sp>
      <p:sp>
        <p:nvSpPr>
          <p:cNvPr id="5" name="Text 3"/>
          <p:cNvSpPr/>
          <p:nvPr/>
        </p:nvSpPr>
        <p:spPr>
          <a:xfrm>
            <a:off x="812800" y="23113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a.</a:t>
            </a:r>
            <a:r>
              <a:rPr lang="en-US" sz="1500" dirty="0">
                <a:solidFill>
                  <a:srgbClr val="3B3631"/>
                </a:solidFill>
                <a:latin typeface="Georgia" pitchFamily="34" charset="0"/>
                <a:ea typeface="Georgia" pitchFamily="34" charset="-122"/>
                <a:cs typeface="Georgia" pitchFamily="34" charset="-120"/>
              </a:rPr>
              <a:t> Simplify </a:t>
            </a:r>
            <a:r>
              <a:rPr lang="en-US" sz="1500" i="1" dirty="0">
                <a:solidFill>
                  <a:srgbClr val="3B3631"/>
                </a:solidFill>
                <a:latin typeface="Georgia" pitchFamily="34" charset="0"/>
                <a:ea typeface="Georgia" pitchFamily="34" charset="-122"/>
                <a:cs typeface="Georgia" pitchFamily="34" charset="-120"/>
              </a:rPr>
              <a:t>x(x + y)</a:t>
            </a:r>
            <a:r>
              <a:rPr lang="en-US" sz="1500" dirty="0">
                <a:solidFill>
                  <a:srgbClr val="3B3631"/>
                </a:solidFill>
                <a:latin typeface="Georgia" pitchFamily="34" charset="0"/>
                <a:ea typeface="Georgia" pitchFamily="34" charset="-122"/>
                <a:cs typeface="Georgia" pitchFamily="34" charset="-120"/>
              </a:rPr>
              <a:t>.</a:t>
            </a:r>
            <a:endParaRPr lang="en-US" sz="1500" dirty="0"/>
          </a:p>
        </p:txBody>
      </p:sp>
      <p:sp>
        <p:nvSpPr>
          <p:cNvPr id="6" name="Text 4"/>
          <p:cNvSpPr/>
          <p:nvPr/>
        </p:nvSpPr>
        <p:spPr>
          <a:xfrm>
            <a:off x="812800" y="26923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b.</a:t>
            </a:r>
            <a:r>
              <a:rPr lang="en-US" sz="1500" dirty="0">
                <a:solidFill>
                  <a:srgbClr val="3B3631"/>
                </a:solidFill>
                <a:latin typeface="Georgia" pitchFamily="34" charset="0"/>
                <a:ea typeface="Georgia" pitchFamily="34" charset="-122"/>
                <a:cs typeface="Georgia" pitchFamily="34" charset="-120"/>
              </a:rPr>
              <a:t> Simplify </a:t>
            </a:r>
            <a:r>
              <a:rPr lang="en-US" sz="1500" i="1" dirty="0">
                <a:solidFill>
                  <a:srgbClr val="3B3631"/>
                </a:solidFill>
                <a:latin typeface="Georgia" pitchFamily="34" charset="0"/>
                <a:ea typeface="Georgia" pitchFamily="34" charset="-122"/>
                <a:cs typeface="Georgia" pitchFamily="34" charset="-120"/>
              </a:rPr>
              <a:t>x + x′y</a:t>
            </a:r>
            <a:r>
              <a:rPr lang="en-US" sz="1500" dirty="0">
                <a:solidFill>
                  <a:srgbClr val="3B3631"/>
                </a:solidFill>
                <a:latin typeface="Georgia" pitchFamily="34" charset="0"/>
                <a:ea typeface="Georgia" pitchFamily="34" charset="-122"/>
                <a:cs typeface="Georgia" pitchFamily="34" charset="-120"/>
              </a:rPr>
              <a:t>.</a:t>
            </a:r>
            <a:endParaRPr lang="en-US" sz="1500" dirty="0"/>
          </a:p>
        </p:txBody>
      </p:sp>
      <p:sp>
        <p:nvSpPr>
          <p:cNvPr id="7" name="Text 5"/>
          <p:cNvSpPr/>
          <p:nvPr/>
        </p:nvSpPr>
        <p:spPr>
          <a:xfrm>
            <a:off x="812800" y="30733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c.</a:t>
            </a:r>
            <a:r>
              <a:rPr lang="en-US" sz="1500" dirty="0">
                <a:solidFill>
                  <a:srgbClr val="3B3631"/>
                </a:solidFill>
                <a:latin typeface="Georgia" pitchFamily="34" charset="0"/>
                <a:ea typeface="Georgia" pitchFamily="34" charset="-122"/>
                <a:cs typeface="Georgia" pitchFamily="34" charset="-120"/>
              </a:rPr>
              <a:t> Write the dual of </a:t>
            </a:r>
            <a:r>
              <a:rPr lang="en-US" sz="1500" i="1" dirty="0">
                <a:solidFill>
                  <a:srgbClr val="3B3631"/>
                </a:solidFill>
                <a:latin typeface="Georgia" pitchFamily="34" charset="0"/>
                <a:ea typeface="Georgia" pitchFamily="34" charset="-122"/>
                <a:cs typeface="Georgia" pitchFamily="34" charset="-120"/>
              </a:rPr>
              <a:t>x(y + z) = xy + xz</a:t>
            </a:r>
            <a:r>
              <a:rPr lang="en-US" sz="1500" dirty="0">
                <a:solidFill>
                  <a:srgbClr val="3B3631"/>
                </a:solidFill>
                <a:latin typeface="Georgia" pitchFamily="34" charset="0"/>
                <a:ea typeface="Georgia" pitchFamily="34" charset="-122"/>
                <a:cs typeface="Georgia" pitchFamily="34" charset="-120"/>
              </a:rPr>
              <a:t> and find it in the table.</a:t>
            </a:r>
            <a:endParaRPr lang="en-US" sz="1500" dirty="0"/>
          </a:p>
        </p:txBody>
      </p:sp>
      <p:sp>
        <p:nvSpPr>
          <p:cNvPr id="8" name="Text 6"/>
          <p:cNvSpPr/>
          <p:nvPr/>
        </p:nvSpPr>
        <p:spPr>
          <a:xfrm>
            <a:off x="812800" y="34543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d.</a:t>
            </a:r>
            <a:r>
              <a:rPr lang="en-US" sz="1500" dirty="0">
                <a:solidFill>
                  <a:srgbClr val="3B3631"/>
                </a:solidFill>
                <a:latin typeface="Georgia" pitchFamily="34" charset="0"/>
                <a:ea typeface="Georgia" pitchFamily="34" charset="-122"/>
                <a:cs typeface="Georgia" pitchFamily="34" charset="-120"/>
              </a:rPr>
              <a:t> Simplify </a:t>
            </a:r>
            <a:r>
              <a:rPr lang="en-US" sz="1500" i="1" dirty="0">
                <a:solidFill>
                  <a:srgbClr val="3B3631"/>
                </a:solidFill>
                <a:latin typeface="Georgia" pitchFamily="34" charset="0"/>
                <a:ea typeface="Georgia" pitchFamily="34" charset="-122"/>
                <a:cs typeface="Georgia" pitchFamily="34" charset="-120"/>
              </a:rPr>
              <a:t>xy + xy′ + x′y</a:t>
            </a:r>
            <a:r>
              <a:rPr lang="en-US" sz="1500" dirty="0">
                <a:solidFill>
                  <a:srgbClr val="3B3631"/>
                </a:solidFill>
                <a:latin typeface="Georgia" pitchFamily="34" charset="0"/>
                <a:ea typeface="Georgia" pitchFamily="34" charset="-122"/>
                <a:cs typeface="Georgia" pitchFamily="34" charset="-120"/>
              </a:rPr>
              <a:t>.</a:t>
            </a:r>
            <a:endParaRPr lang="en-US" sz="1500" dirty="0"/>
          </a:p>
        </p:txBody>
      </p:sp>
      <p:sp>
        <p:nvSpPr>
          <p:cNvPr id="9" name="Text 7"/>
          <p:cNvSpPr/>
          <p:nvPr/>
        </p:nvSpPr>
        <p:spPr>
          <a:xfrm>
            <a:off x="812800" y="38353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e.</a:t>
            </a:r>
            <a:r>
              <a:rPr lang="en-US" sz="1500" dirty="0">
                <a:solidFill>
                  <a:srgbClr val="3B3631"/>
                </a:solidFill>
                <a:latin typeface="Georgia" pitchFamily="34" charset="0"/>
                <a:ea typeface="Georgia" pitchFamily="34" charset="-122"/>
                <a:cs typeface="Georgia" pitchFamily="34" charset="-120"/>
              </a:rPr>
              <a:t> Starting from </a:t>
            </a:r>
            <a:r>
              <a:rPr lang="en-US" sz="1500" i="1" dirty="0">
                <a:solidFill>
                  <a:srgbClr val="3B3631"/>
                </a:solidFill>
                <a:latin typeface="Georgia" pitchFamily="34" charset="0"/>
                <a:ea typeface="Georgia" pitchFamily="34" charset="-122"/>
                <a:cs typeface="Georgia" pitchFamily="34" charset="-120"/>
              </a:rPr>
              <a:t>A ⊕ B = A′B + AB′</a:t>
            </a:r>
            <a:r>
              <a:rPr lang="en-US" sz="1500" dirty="0">
                <a:solidFill>
                  <a:srgbClr val="3B3631"/>
                </a:solidFill>
                <a:latin typeface="Georgia" pitchFamily="34" charset="0"/>
                <a:ea typeface="Georgia" pitchFamily="34" charset="-122"/>
                <a:cs typeface="Georgia" pitchFamily="34" charset="-120"/>
              </a:rPr>
              <a:t>, prove </a:t>
            </a:r>
            <a:r>
              <a:rPr lang="en-US" sz="1500" i="1" dirty="0">
                <a:solidFill>
                  <a:srgbClr val="3B3631"/>
                </a:solidFill>
                <a:latin typeface="Georgia" pitchFamily="34" charset="0"/>
                <a:ea typeface="Georgia" pitchFamily="34" charset="-122"/>
                <a:cs typeface="Georgia" pitchFamily="34" charset="-120"/>
              </a:rPr>
              <a:t>A ⊕ 1 = A′</a:t>
            </a:r>
            <a:r>
              <a:rPr lang="en-US" sz="1500" dirty="0">
                <a:solidFill>
                  <a:srgbClr val="3B3631"/>
                </a:solidFill>
                <a:latin typeface="Georgia" pitchFamily="34" charset="0"/>
                <a:ea typeface="Georgia" pitchFamily="34" charset="-122"/>
                <a:cs typeface="Georgia" pitchFamily="34" charset="-120"/>
              </a:rPr>
              <a:t> and </a:t>
            </a:r>
            <a:r>
              <a:rPr lang="en-US" sz="1500" i="1" dirty="0">
                <a:solidFill>
                  <a:srgbClr val="3B3631"/>
                </a:solidFill>
                <a:latin typeface="Georgia" pitchFamily="34" charset="0"/>
                <a:ea typeface="Georgia" pitchFamily="34" charset="-122"/>
                <a:cs typeface="Georgia" pitchFamily="34" charset="-120"/>
              </a:rPr>
              <a:t>A ⊕ A′ = 1</a:t>
            </a:r>
            <a:r>
              <a:rPr lang="en-US" sz="1500" dirty="0">
                <a:solidFill>
                  <a:srgbClr val="3B3631"/>
                </a:solidFill>
                <a:latin typeface="Georgia" pitchFamily="34" charset="0"/>
                <a:ea typeface="Georgia" pitchFamily="34" charset="-122"/>
                <a:cs typeface="Georgia" pitchFamily="34" charset="-120"/>
              </a:rPr>
              <a:t>.</a:t>
            </a:r>
            <a:endParaRPr lang="en-US" sz="15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EE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3 · AXIOMS AND THEOREMS</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Problem 3: answers</a:t>
            </a:r>
            <a:endParaRPr lang="en-US" sz="3200" dirty="0"/>
          </a:p>
        </p:txBody>
      </p:sp>
      <p:sp>
        <p:nvSpPr>
          <p:cNvPr id="4" name="Text 2"/>
          <p:cNvSpPr/>
          <p:nvPr/>
        </p:nvSpPr>
        <p:spPr>
          <a:xfrm>
            <a:off x="812800" y="19303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a.</a:t>
            </a:r>
            <a:r>
              <a:rPr lang="en-US" sz="1500" dirty="0">
                <a:solidFill>
                  <a:srgbClr val="3B3631"/>
                </a:solidFill>
                <a:latin typeface="Georgia" pitchFamily="34" charset="0"/>
                <a:ea typeface="Georgia" pitchFamily="34" charset="-122"/>
                <a:cs typeface="Georgia" pitchFamily="34" charset="-120"/>
              </a:rPr>
              <a:t> </a:t>
            </a:r>
            <a:r>
              <a:rPr lang="en-US" sz="1500" i="1" dirty="0">
                <a:solidFill>
                  <a:srgbClr val="3B3631"/>
                </a:solidFill>
                <a:latin typeface="Georgia" pitchFamily="34" charset="0"/>
                <a:ea typeface="Georgia" pitchFamily="34" charset="-122"/>
                <a:cs typeface="Georgia" pitchFamily="34" charset="-120"/>
              </a:rPr>
              <a:t>x(x + y) = x</a:t>
            </a:r>
            <a:r>
              <a:rPr lang="en-US" sz="1500" dirty="0">
                <a:solidFill>
                  <a:srgbClr val="3B3631"/>
                </a:solidFill>
                <a:latin typeface="Georgia" pitchFamily="34" charset="0"/>
                <a:ea typeface="Georgia" pitchFamily="34" charset="-122"/>
                <a:cs typeface="Georgia" pitchFamily="34" charset="-120"/>
              </a:rPr>
              <a:t> by 13b (absorption).</a:t>
            </a:r>
            <a:endParaRPr lang="en-US" sz="1500" dirty="0"/>
          </a:p>
        </p:txBody>
      </p:sp>
      <p:sp>
        <p:nvSpPr>
          <p:cNvPr id="5" name="Text 3"/>
          <p:cNvSpPr/>
          <p:nvPr/>
        </p:nvSpPr>
        <p:spPr>
          <a:xfrm>
            <a:off x="812800" y="23367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b.</a:t>
            </a:r>
            <a:r>
              <a:rPr lang="en-US" sz="1500" dirty="0">
                <a:solidFill>
                  <a:srgbClr val="3B3631"/>
                </a:solidFill>
                <a:latin typeface="Georgia" pitchFamily="34" charset="0"/>
                <a:ea typeface="Georgia" pitchFamily="34" charset="-122"/>
                <a:cs typeface="Georgia" pitchFamily="34" charset="-120"/>
              </a:rPr>
              <a:t> </a:t>
            </a:r>
            <a:r>
              <a:rPr lang="en-US" sz="1500" i="1" dirty="0">
                <a:solidFill>
                  <a:srgbClr val="3B3631"/>
                </a:solidFill>
                <a:latin typeface="Georgia" pitchFamily="34" charset="0"/>
                <a:ea typeface="Georgia" pitchFamily="34" charset="-122"/>
                <a:cs typeface="Georgia" pitchFamily="34" charset="-120"/>
              </a:rPr>
              <a:t>x + x′y = x + y</a:t>
            </a:r>
            <a:r>
              <a:rPr lang="en-US" sz="1500" dirty="0">
                <a:solidFill>
                  <a:srgbClr val="3B3631"/>
                </a:solidFill>
                <a:latin typeface="Georgia" pitchFamily="34" charset="0"/>
                <a:ea typeface="Georgia" pitchFamily="34" charset="-122"/>
                <a:cs typeface="Georgia" pitchFamily="34" charset="-120"/>
              </a:rPr>
              <a:t> by 16a.</a:t>
            </a:r>
            <a:endParaRPr lang="en-US" sz="1500" dirty="0"/>
          </a:p>
        </p:txBody>
      </p:sp>
      <p:sp>
        <p:nvSpPr>
          <p:cNvPr id="6" name="Text 4"/>
          <p:cNvSpPr/>
          <p:nvPr/>
        </p:nvSpPr>
        <p:spPr>
          <a:xfrm>
            <a:off x="812800" y="27431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c.</a:t>
            </a:r>
            <a:r>
              <a:rPr lang="en-US" sz="1500" dirty="0">
                <a:solidFill>
                  <a:srgbClr val="3B3631"/>
                </a:solidFill>
                <a:latin typeface="Georgia" pitchFamily="34" charset="0"/>
                <a:ea typeface="Georgia" pitchFamily="34" charset="-122"/>
                <a:cs typeface="Georgia" pitchFamily="34" charset="-120"/>
              </a:rPr>
              <a:t> </a:t>
            </a:r>
            <a:r>
              <a:rPr lang="en-US" sz="1500" i="1" dirty="0">
                <a:solidFill>
                  <a:srgbClr val="3B3631"/>
                </a:solidFill>
                <a:latin typeface="Georgia" pitchFamily="34" charset="0"/>
                <a:ea typeface="Georgia" pitchFamily="34" charset="-122"/>
                <a:cs typeface="Georgia" pitchFamily="34" charset="-120"/>
              </a:rPr>
              <a:t>x + yz = (x + y)(x + z)</a:t>
            </a:r>
            <a:r>
              <a:rPr lang="en-US" sz="1500" dirty="0">
                <a:solidFill>
                  <a:srgbClr val="3B3631"/>
                </a:solidFill>
                <a:latin typeface="Georgia" pitchFamily="34" charset="0"/>
                <a:ea typeface="Georgia" pitchFamily="34" charset="-122"/>
                <a:cs typeface="Georgia" pitchFamily="34" charset="-120"/>
              </a:rPr>
              <a:t>, which is 12b.</a:t>
            </a:r>
            <a:endParaRPr lang="en-US" sz="1500" dirty="0"/>
          </a:p>
        </p:txBody>
      </p:sp>
      <p:sp>
        <p:nvSpPr>
          <p:cNvPr id="7" name="Text 5"/>
          <p:cNvSpPr/>
          <p:nvPr/>
        </p:nvSpPr>
        <p:spPr>
          <a:xfrm>
            <a:off x="812800" y="31495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d.</a:t>
            </a:r>
            <a:r>
              <a:rPr lang="en-US" sz="1500" dirty="0">
                <a:solidFill>
                  <a:srgbClr val="3B3631"/>
                </a:solidFill>
                <a:latin typeface="Georgia" pitchFamily="34" charset="0"/>
                <a:ea typeface="Georgia" pitchFamily="34" charset="-122"/>
                <a:cs typeface="Georgia" pitchFamily="34" charset="-120"/>
              </a:rPr>
              <a:t> </a:t>
            </a:r>
            <a:r>
              <a:rPr lang="en-US" sz="1500" i="1" dirty="0">
                <a:solidFill>
                  <a:srgbClr val="3B3631"/>
                </a:solidFill>
                <a:latin typeface="Georgia" pitchFamily="34" charset="0"/>
                <a:ea typeface="Georgia" pitchFamily="34" charset="-122"/>
                <a:cs typeface="Georgia" pitchFamily="34" charset="-120"/>
              </a:rPr>
              <a:t>xy + xy′ = x</a:t>
            </a:r>
            <a:r>
              <a:rPr lang="en-US" sz="1500" dirty="0">
                <a:solidFill>
                  <a:srgbClr val="3B3631"/>
                </a:solidFill>
                <a:latin typeface="Georgia" pitchFamily="34" charset="0"/>
                <a:ea typeface="Georgia" pitchFamily="34" charset="-122"/>
                <a:cs typeface="Georgia" pitchFamily="34" charset="-120"/>
              </a:rPr>
              <a:t> by 14a, then </a:t>
            </a:r>
            <a:r>
              <a:rPr lang="en-US" sz="1500" i="1" dirty="0">
                <a:solidFill>
                  <a:srgbClr val="3B3631"/>
                </a:solidFill>
                <a:latin typeface="Georgia" pitchFamily="34" charset="0"/>
                <a:ea typeface="Georgia" pitchFamily="34" charset="-122"/>
                <a:cs typeface="Georgia" pitchFamily="34" charset="-120"/>
              </a:rPr>
              <a:t>x + x′y = x + y</a:t>
            </a:r>
            <a:r>
              <a:rPr lang="en-US" sz="1500" dirty="0">
                <a:solidFill>
                  <a:srgbClr val="3B3631"/>
                </a:solidFill>
                <a:latin typeface="Georgia" pitchFamily="34" charset="0"/>
                <a:ea typeface="Georgia" pitchFamily="34" charset="-122"/>
                <a:cs typeface="Georgia" pitchFamily="34" charset="-120"/>
              </a:rPr>
              <a:t> by 16a.</a:t>
            </a:r>
            <a:endParaRPr lang="en-US" sz="1500" dirty="0"/>
          </a:p>
        </p:txBody>
      </p:sp>
      <p:sp>
        <p:nvSpPr>
          <p:cNvPr id="8" name="Text 6"/>
          <p:cNvSpPr/>
          <p:nvPr/>
        </p:nvSpPr>
        <p:spPr>
          <a:xfrm>
            <a:off x="812800" y="35559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e.</a:t>
            </a:r>
            <a:r>
              <a:rPr lang="en-US" sz="1500" dirty="0">
                <a:solidFill>
                  <a:srgbClr val="3B3631"/>
                </a:solidFill>
                <a:latin typeface="Georgia" pitchFamily="34" charset="0"/>
                <a:ea typeface="Georgia" pitchFamily="34" charset="-122"/>
                <a:cs typeface="Georgia" pitchFamily="34" charset="-120"/>
              </a:rPr>
              <a:t> </a:t>
            </a:r>
            <a:r>
              <a:rPr lang="en-US" sz="1500" i="1" dirty="0">
                <a:solidFill>
                  <a:srgbClr val="3B3631"/>
                </a:solidFill>
                <a:latin typeface="Georgia" pitchFamily="34" charset="0"/>
                <a:ea typeface="Georgia" pitchFamily="34" charset="-122"/>
                <a:cs typeface="Georgia" pitchFamily="34" charset="-120"/>
              </a:rPr>
              <a:t>A ⊕ 1 = A′·1 + A·0 = A′</a:t>
            </a:r>
            <a:r>
              <a:rPr lang="en-US" sz="1500" dirty="0">
                <a:solidFill>
                  <a:srgbClr val="3B3631"/>
                </a:solidFill>
                <a:latin typeface="Georgia" pitchFamily="34" charset="0"/>
                <a:ea typeface="Georgia" pitchFamily="34" charset="-122"/>
                <a:cs typeface="Georgia" pitchFamily="34" charset="-120"/>
              </a:rPr>
              <a:t> by 4b, 6a, 5a, 6b. </a:t>
            </a:r>
            <a:r>
              <a:rPr lang="en-US" sz="1500" i="1" dirty="0">
                <a:solidFill>
                  <a:srgbClr val="3B3631"/>
                </a:solidFill>
                <a:latin typeface="Georgia" pitchFamily="34" charset="0"/>
                <a:ea typeface="Georgia" pitchFamily="34" charset="-122"/>
                <a:cs typeface="Georgia" pitchFamily="34" charset="-120"/>
              </a:rPr>
              <a:t>A ⊕ A′ = A′·A′ + A·A = A′ + A = 1</a:t>
            </a:r>
            <a:r>
              <a:rPr lang="en-US" sz="1500" dirty="0">
                <a:solidFill>
                  <a:srgbClr val="3B3631"/>
                </a:solidFill>
                <a:latin typeface="Georgia" pitchFamily="34" charset="0"/>
                <a:ea typeface="Georgia" pitchFamily="34" charset="-122"/>
                <a:cs typeface="Georgia" pitchFamily="34" charset="-120"/>
              </a:rPr>
              <a:t> by 9, 7a, 8b.</a:t>
            </a:r>
            <a:endParaRPr lang="en-US" sz="1500" dirty="0"/>
          </a:p>
        </p:txBody>
      </p:sp>
      <p:sp>
        <p:nvSpPr>
          <p:cNvPr id="9" name="Text 7"/>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10" name="Text 8"/>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4 · DEMORGAN’S THEOREM</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DeMorgan’s theorem</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930350"/>
          <a:ext cx="5207000" cy="2178943"/>
        </p:xfrm>
        <a:graphic>
          <a:graphicData uri="http://schemas.openxmlformats.org/drawingml/2006/table">
            <a:tbl>
              <a:tblPr/>
              <a:tblGrid>
                <a:gridCol w="743857">
                  <a:extLst>
                    <a:ext uri="{9D8B030D-6E8A-4147-A177-3AD203B41FA5}">
                      <a16:colId xmlns:a16="http://schemas.microsoft.com/office/drawing/2014/main" val="20000"/>
                    </a:ext>
                  </a:extLst>
                </a:gridCol>
                <a:gridCol w="743857">
                  <a:extLst>
                    <a:ext uri="{9D8B030D-6E8A-4147-A177-3AD203B41FA5}">
                      <a16:colId xmlns:a16="http://schemas.microsoft.com/office/drawing/2014/main" val="20001"/>
                    </a:ext>
                  </a:extLst>
                </a:gridCol>
                <a:gridCol w="743857">
                  <a:extLst>
                    <a:ext uri="{9D8B030D-6E8A-4147-A177-3AD203B41FA5}">
                      <a16:colId xmlns:a16="http://schemas.microsoft.com/office/drawing/2014/main" val="20002"/>
                    </a:ext>
                  </a:extLst>
                </a:gridCol>
                <a:gridCol w="743857">
                  <a:extLst>
                    <a:ext uri="{9D8B030D-6E8A-4147-A177-3AD203B41FA5}">
                      <a16:colId xmlns:a16="http://schemas.microsoft.com/office/drawing/2014/main" val="20003"/>
                    </a:ext>
                  </a:extLst>
                </a:gridCol>
                <a:gridCol w="743857">
                  <a:extLst>
                    <a:ext uri="{9D8B030D-6E8A-4147-A177-3AD203B41FA5}">
                      <a16:colId xmlns:a16="http://schemas.microsoft.com/office/drawing/2014/main" val="20004"/>
                    </a:ext>
                  </a:extLst>
                </a:gridCol>
                <a:gridCol w="743857">
                  <a:extLst>
                    <a:ext uri="{9D8B030D-6E8A-4147-A177-3AD203B41FA5}">
                      <a16:colId xmlns:a16="http://schemas.microsoft.com/office/drawing/2014/main" val="20005"/>
                    </a:ext>
                  </a:extLst>
                </a:gridCol>
                <a:gridCol w="743857">
                  <a:extLst>
                    <a:ext uri="{9D8B030D-6E8A-4147-A177-3AD203B41FA5}">
                      <a16:colId xmlns:a16="http://schemas.microsoft.com/office/drawing/2014/main" val="20006"/>
                    </a:ext>
                  </a:extLst>
                </a:gridCol>
              </a:tblGrid>
              <a:tr h="634901">
                <a:tc>
                  <a:txBody>
                    <a:bodyPr/>
                    <a:lstStyle/>
                    <a:p>
                      <a:pPr marL="0" indent="0" algn="ctr">
                        <a:lnSpc>
                          <a:spcPts val="1960"/>
                        </a:lnSpc>
                        <a:buNone/>
                      </a:pPr>
                      <a:r>
                        <a:rPr lang="en-US" sz="1400" b="1" dirty="0">
                          <a:solidFill>
                            <a:srgbClr val="3B3631"/>
                          </a:solidFill>
                          <a:latin typeface="Georgia" pitchFamily="34" charset="0"/>
                          <a:ea typeface="Georgia" pitchFamily="34" charset="-122"/>
                          <a:cs typeface="Georgia" pitchFamily="34" charset="-120"/>
                        </a:rPr>
                        <a:t>x</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1960"/>
                        </a:lnSpc>
                        <a:buNone/>
                      </a:pPr>
                      <a:r>
                        <a:rPr lang="en-US" sz="1400" b="1" dirty="0">
                          <a:solidFill>
                            <a:srgbClr val="3B3631"/>
                          </a:solidFill>
                          <a:latin typeface="Georgia" pitchFamily="34" charset="0"/>
                          <a:ea typeface="Georgia" pitchFamily="34" charset="-122"/>
                          <a:cs typeface="Georgia" pitchFamily="34" charset="-120"/>
                        </a:rPr>
                        <a:t>y</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1960"/>
                        </a:lnSpc>
                        <a:buNone/>
                      </a:pPr>
                      <a:r>
                        <a:rPr lang="en-US" sz="1400" b="1" dirty="0">
                          <a:solidFill>
                            <a:srgbClr val="3B3631"/>
                          </a:solidFill>
                          <a:latin typeface="Georgia" pitchFamily="34" charset="0"/>
                          <a:ea typeface="Georgia" pitchFamily="34" charset="-122"/>
                          <a:cs typeface="Georgia" pitchFamily="34" charset="-120"/>
                        </a:rPr>
                        <a:t>xy</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1960"/>
                        </a:lnSpc>
                        <a:buNone/>
                      </a:pPr>
                      <a:r>
                        <a:rPr lang="en-US" sz="1400" b="1" dirty="0">
                          <a:solidFill>
                            <a:srgbClr val="3B3631"/>
                          </a:solidFill>
                          <a:latin typeface="Georgia" pitchFamily="34" charset="0"/>
                          <a:ea typeface="Georgia" pitchFamily="34" charset="-122"/>
                          <a:cs typeface="Georgia" pitchFamily="34" charset="-120"/>
                        </a:rPr>
                        <a:t>(xy)′</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1960"/>
                        </a:lnSpc>
                        <a:buNone/>
                      </a:pPr>
                      <a:r>
                        <a:rPr lang="en-US" sz="1400" b="1" dirty="0">
                          <a:solidFill>
                            <a:srgbClr val="3B3631"/>
                          </a:solidFill>
                          <a:latin typeface="Georgia" pitchFamily="34" charset="0"/>
                          <a:ea typeface="Georgia" pitchFamily="34" charset="-122"/>
                          <a:cs typeface="Georgia" pitchFamily="34" charset="-120"/>
                        </a:rPr>
                        <a:t>x′</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1960"/>
                        </a:lnSpc>
                        <a:buNone/>
                      </a:pPr>
                      <a:r>
                        <a:rPr lang="en-US" sz="1400" b="1" dirty="0">
                          <a:solidFill>
                            <a:srgbClr val="3B3631"/>
                          </a:solidFill>
                          <a:latin typeface="Georgia" pitchFamily="34" charset="0"/>
                          <a:ea typeface="Georgia" pitchFamily="34" charset="-122"/>
                          <a:cs typeface="Georgia" pitchFamily="34" charset="-120"/>
                        </a:rPr>
                        <a:t>y′</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1960"/>
                        </a:lnSpc>
                        <a:buNone/>
                      </a:pPr>
                      <a:r>
                        <a:rPr lang="en-US" sz="1400" b="1" dirty="0">
                          <a:solidFill>
                            <a:srgbClr val="3B3631"/>
                          </a:solidFill>
                          <a:latin typeface="Georgia" pitchFamily="34" charset="0"/>
                          <a:ea typeface="Georgia" pitchFamily="34" charset="-122"/>
                          <a:cs typeface="Georgia" pitchFamily="34" charset="-120"/>
                        </a:rPr>
                        <a:t>x′ + y′</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extLst>
                  <a:ext uri="{0D108BD9-81ED-4DB2-BD59-A6C34878D82A}">
                    <a16:rowId xmlns:a16="http://schemas.microsoft.com/office/drawing/2014/main" val="10000"/>
                  </a:ext>
                </a:extLst>
              </a:tr>
              <a:tr h="386011">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0</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0</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0</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1</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1</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1</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1</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0</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1</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0</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1</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1</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0</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1</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2"/>
                  </a:ext>
                </a:extLst>
              </a:tr>
              <a:tr h="386011">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1</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0</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0</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1</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0</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1</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1</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1</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1</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1</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0</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0</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0</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1960"/>
                        </a:lnSpc>
                        <a:buNone/>
                      </a:pPr>
                      <a:r>
                        <a:rPr lang="en-US" sz="1400" dirty="0">
                          <a:solidFill>
                            <a:srgbClr val="3B3631"/>
                          </a:solidFill>
                          <a:latin typeface="Georgia" pitchFamily="34" charset="0"/>
                          <a:ea typeface="Georgia" pitchFamily="34" charset="-122"/>
                          <a:cs typeface="Georgia" pitchFamily="34" charset="-120"/>
                        </a:rPr>
                        <a:t>0</a:t>
                      </a:r>
                      <a:endParaRPr lang="en-US" sz="1400" dirty="0">
                        <a:latin typeface="Georgia" charset="0"/>
                        <a:ea typeface="Georgia" charset="0"/>
                        <a:cs typeface="Georgia" charset="0"/>
                      </a:endParaRPr>
                    </a:p>
                  </a:txBody>
                  <a:tcPr marL="62230" marR="62230" marT="62230" marB="62230">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4210893"/>
            <a:ext cx="536321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F665D"/>
                </a:solidFill>
                <a:latin typeface="Georgia" pitchFamily="34" charset="0"/>
                <a:ea typeface="Georgia" pitchFamily="34" charset="-122"/>
                <a:cs typeface="Georgia" pitchFamily="34" charset="-120"/>
              </a:rPr>
              <a:t>The last two columns agree on every row.</a:t>
            </a:r>
            <a:endParaRPr lang="en-US" sz="1300" dirty="0"/>
          </a:p>
        </p:txBody>
      </p:sp>
      <p:sp>
        <p:nvSpPr>
          <p:cNvPr id="6" name="Shape 3"/>
          <p:cNvSpPr/>
          <p:nvPr/>
        </p:nvSpPr>
        <p:spPr>
          <a:xfrm>
            <a:off x="6426200" y="1930350"/>
            <a:ext cx="4953000" cy="985490"/>
          </a:xfrm>
          <a:prstGeom prst="roundRect">
            <a:avLst>
              <a:gd name="adj" fmla="val 7732"/>
            </a:avLst>
          </a:prstGeom>
          <a:solidFill>
            <a:srgbClr val="EFE8DD"/>
          </a:solidFill>
          <a:ln/>
        </p:spPr>
        <p:txBody>
          <a:bodyPr/>
          <a:lstStyle/>
          <a:p>
            <a:endParaRPr lang="en-US"/>
          </a:p>
        </p:txBody>
      </p:sp>
      <p:sp>
        <p:nvSpPr>
          <p:cNvPr id="7" name="Text 4"/>
          <p:cNvSpPr/>
          <p:nvPr/>
        </p:nvSpPr>
        <p:spPr>
          <a:xfrm>
            <a:off x="6654800" y="2133550"/>
            <a:ext cx="463067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F1B18"/>
                </a:solidFill>
                <a:latin typeface="Georgia" pitchFamily="34" charset="0"/>
                <a:ea typeface="Georgia" pitchFamily="34" charset="-122"/>
                <a:cs typeface="Georgia" pitchFamily="34" charset="-120"/>
              </a:rPr>
              <a:t>15a</a:t>
            </a:r>
            <a:endParaRPr lang="en-US" sz="1600" dirty="0"/>
          </a:p>
        </p:txBody>
      </p:sp>
      <p:sp>
        <p:nvSpPr>
          <p:cNvPr id="8" name="Text 5"/>
          <p:cNvSpPr/>
          <p:nvPr/>
        </p:nvSpPr>
        <p:spPr>
          <a:xfrm>
            <a:off x="6654800" y="2463750"/>
            <a:ext cx="4630674" cy="274290"/>
          </a:xfrm>
          <a:prstGeom prst="rect">
            <a:avLst/>
          </a:prstGeom>
          <a:noFill/>
          <a:ln/>
        </p:spPr>
        <p:txBody>
          <a:bodyPr wrap="square" lIns="0" tIns="0" rIns="0" bIns="0" rtlCol="0" anchor="t">
            <a:normAutofit/>
          </a:bodyPr>
          <a:lstStyle/>
          <a:p>
            <a:pPr marL="0" indent="0" algn="l">
              <a:lnSpc>
                <a:spcPts val="1960"/>
              </a:lnSpc>
              <a:buNone/>
            </a:pPr>
            <a:r>
              <a:rPr lang="en-US" sz="1400" i="1" dirty="0">
                <a:solidFill>
                  <a:srgbClr val="3B3631"/>
                </a:solidFill>
                <a:latin typeface="Georgia" pitchFamily="34" charset="0"/>
                <a:ea typeface="Georgia" pitchFamily="34" charset="-122"/>
                <a:cs typeface="Georgia" pitchFamily="34" charset="-120"/>
              </a:rPr>
              <a:t>(xy)′ = x′ + y′</a:t>
            </a:r>
            <a:endParaRPr lang="en-US" sz="1400" dirty="0"/>
          </a:p>
        </p:txBody>
      </p:sp>
      <p:sp>
        <p:nvSpPr>
          <p:cNvPr id="9" name="Shape 6"/>
          <p:cNvSpPr/>
          <p:nvPr/>
        </p:nvSpPr>
        <p:spPr>
          <a:xfrm>
            <a:off x="6426200" y="3042841"/>
            <a:ext cx="4953000" cy="985490"/>
          </a:xfrm>
          <a:prstGeom prst="roundRect">
            <a:avLst>
              <a:gd name="adj" fmla="val 7732"/>
            </a:avLst>
          </a:prstGeom>
          <a:solidFill>
            <a:srgbClr val="EFE8DD"/>
          </a:solidFill>
          <a:ln/>
        </p:spPr>
        <p:txBody>
          <a:bodyPr/>
          <a:lstStyle/>
          <a:p>
            <a:endParaRPr lang="en-US"/>
          </a:p>
        </p:txBody>
      </p:sp>
      <p:sp>
        <p:nvSpPr>
          <p:cNvPr id="10" name="Text 7"/>
          <p:cNvSpPr/>
          <p:nvPr/>
        </p:nvSpPr>
        <p:spPr>
          <a:xfrm>
            <a:off x="6654800" y="3246041"/>
            <a:ext cx="463067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F1B18"/>
                </a:solidFill>
                <a:latin typeface="Georgia" pitchFamily="34" charset="0"/>
                <a:ea typeface="Georgia" pitchFamily="34" charset="-122"/>
                <a:cs typeface="Georgia" pitchFamily="34" charset="-120"/>
              </a:rPr>
              <a:t>15b</a:t>
            </a:r>
            <a:endParaRPr lang="en-US" sz="1600" dirty="0"/>
          </a:p>
        </p:txBody>
      </p:sp>
      <p:sp>
        <p:nvSpPr>
          <p:cNvPr id="11" name="Text 8"/>
          <p:cNvSpPr/>
          <p:nvPr/>
        </p:nvSpPr>
        <p:spPr>
          <a:xfrm>
            <a:off x="6654800" y="3576241"/>
            <a:ext cx="4630674" cy="274290"/>
          </a:xfrm>
          <a:prstGeom prst="rect">
            <a:avLst/>
          </a:prstGeom>
          <a:noFill/>
          <a:ln/>
        </p:spPr>
        <p:txBody>
          <a:bodyPr wrap="square" lIns="0" tIns="0" rIns="0" bIns="0" rtlCol="0" anchor="t">
            <a:normAutofit/>
          </a:bodyPr>
          <a:lstStyle/>
          <a:p>
            <a:pPr marL="0" indent="0" algn="l">
              <a:lnSpc>
                <a:spcPts val="1960"/>
              </a:lnSpc>
              <a:buNone/>
            </a:pPr>
            <a:r>
              <a:rPr lang="en-US" sz="1400" i="1" dirty="0">
                <a:solidFill>
                  <a:srgbClr val="3B3631"/>
                </a:solidFill>
                <a:latin typeface="Georgia" pitchFamily="34" charset="0"/>
                <a:ea typeface="Georgia" pitchFamily="34" charset="-122"/>
                <a:cs typeface="Georgia" pitchFamily="34" charset="-120"/>
              </a:rPr>
              <a:t>(x + y)′ = x′y′</a:t>
            </a:r>
            <a:endParaRPr lang="en-US" sz="1400" dirty="0"/>
          </a:p>
        </p:txBody>
      </p:sp>
      <p:sp>
        <p:nvSpPr>
          <p:cNvPr id="12" name="Text 9"/>
          <p:cNvSpPr/>
          <p:nvPr/>
        </p:nvSpPr>
        <p:spPr>
          <a:xfrm>
            <a:off x="6426200" y="4155331"/>
            <a:ext cx="5101590"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3631"/>
                </a:solidFill>
                <a:latin typeface="Georgia" pitchFamily="34" charset="0"/>
                <a:ea typeface="Georgia" pitchFamily="34" charset="-122"/>
                <a:cs typeface="Georgia" pitchFamily="34" charset="-120"/>
              </a:rPr>
              <a:t>Any number of variables: </a:t>
            </a:r>
            <a:r>
              <a:rPr lang="en-US" sz="1400" i="1" dirty="0">
                <a:solidFill>
                  <a:srgbClr val="3B3631"/>
                </a:solidFill>
                <a:latin typeface="Georgia" pitchFamily="34" charset="0"/>
                <a:ea typeface="Georgia" pitchFamily="34" charset="-122"/>
                <a:cs typeface="Georgia" pitchFamily="34" charset="-120"/>
              </a:rPr>
              <a:t>(ABC)′ = A′ + B′ + C′</a:t>
            </a:r>
            <a:r>
              <a:rPr lang="en-US" sz="1400" dirty="0">
                <a:solidFill>
                  <a:srgbClr val="3B3631"/>
                </a:solidFill>
                <a:latin typeface="Georgia" pitchFamily="34" charset="0"/>
                <a:ea typeface="Georgia" pitchFamily="34" charset="-122"/>
                <a:cs typeface="Georgia" pitchFamily="34" charset="-120"/>
              </a:rPr>
              <a:t>. Nested: start with the outermost complement.</a:t>
            </a:r>
            <a:endParaRPr lang="en-US" sz="1400" dirty="0"/>
          </a:p>
        </p:txBody>
      </p:sp>
      <p:sp>
        <p:nvSpPr>
          <p:cNvPr id="13" name="Shape 10"/>
          <p:cNvSpPr/>
          <p:nvPr/>
        </p:nvSpPr>
        <p:spPr>
          <a:xfrm>
            <a:off x="812800" y="4881711"/>
            <a:ext cx="10566400" cy="863600"/>
          </a:xfrm>
          <a:prstGeom prst="rect">
            <a:avLst/>
          </a:prstGeom>
          <a:solidFill>
            <a:srgbClr val="EFE8DD"/>
          </a:solidFill>
          <a:ln/>
        </p:spPr>
        <p:txBody>
          <a:bodyPr/>
          <a:lstStyle/>
          <a:p>
            <a:endParaRPr lang="en-US"/>
          </a:p>
        </p:txBody>
      </p:sp>
      <p:sp>
        <p:nvSpPr>
          <p:cNvPr id="14" name="Shape 11"/>
          <p:cNvSpPr/>
          <p:nvPr/>
        </p:nvSpPr>
        <p:spPr>
          <a:xfrm>
            <a:off x="838200" y="4881711"/>
            <a:ext cx="0" cy="863600"/>
          </a:xfrm>
          <a:prstGeom prst="line">
            <a:avLst/>
          </a:prstGeom>
          <a:noFill/>
          <a:ln w="50800">
            <a:solidFill>
              <a:srgbClr val="A3292A"/>
            </a:solidFill>
            <a:prstDash val="solid"/>
          </a:ln>
        </p:spPr>
        <p:txBody>
          <a:bodyPr/>
          <a:lstStyle/>
          <a:p>
            <a:endParaRPr lang="en-US"/>
          </a:p>
        </p:txBody>
      </p:sp>
      <p:sp>
        <p:nvSpPr>
          <p:cNvPr id="15" name="Text 12"/>
          <p:cNvSpPr/>
          <p:nvPr/>
        </p:nvSpPr>
        <p:spPr>
          <a:xfrm>
            <a:off x="1092200" y="5046811"/>
            <a:ext cx="10360152"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Careful:</a:t>
            </a:r>
            <a:r>
              <a:rPr lang="en-US" sz="1500" dirty="0">
                <a:solidFill>
                  <a:srgbClr val="3B3631"/>
                </a:solidFill>
                <a:latin typeface="Georgia" pitchFamily="34" charset="0"/>
                <a:ea typeface="Georgia" pitchFamily="34" charset="-122"/>
                <a:cs typeface="Georgia" pitchFamily="34" charset="-120"/>
              </a:rPr>
              <a:t> split the complement and swap the operator at the same time. </a:t>
            </a:r>
            <a:r>
              <a:rPr lang="en-US" sz="1500" i="1" dirty="0">
                <a:solidFill>
                  <a:srgbClr val="3B3631"/>
                </a:solidFill>
                <a:latin typeface="Georgia" pitchFamily="34" charset="0"/>
                <a:ea typeface="Georgia" pitchFamily="34" charset="-122"/>
                <a:cs typeface="Georgia" pitchFamily="34" charset="-120"/>
              </a:rPr>
              <a:t>(AB)′ = A′ + B′</a:t>
            </a:r>
            <a:r>
              <a:rPr lang="en-US" sz="1500" dirty="0">
                <a:solidFill>
                  <a:srgbClr val="3B3631"/>
                </a:solidFill>
                <a:latin typeface="Georgia" pitchFamily="34" charset="0"/>
                <a:ea typeface="Georgia" pitchFamily="34" charset="-122"/>
                <a:cs typeface="Georgia" pitchFamily="34" charset="-120"/>
              </a:rPr>
              <a:t>, never </a:t>
            </a:r>
            <a:r>
              <a:rPr lang="en-US" sz="1500" i="1" dirty="0">
                <a:solidFill>
                  <a:srgbClr val="3B3631"/>
                </a:solidFill>
                <a:latin typeface="Georgia" pitchFamily="34" charset="0"/>
                <a:ea typeface="Georgia" pitchFamily="34" charset="-122"/>
                <a:cs typeface="Georgia" pitchFamily="34" charset="-120"/>
              </a:rPr>
              <a:t>A′B′</a:t>
            </a:r>
            <a:r>
              <a:rPr lang="en-US" sz="1500" dirty="0">
                <a:solidFill>
                  <a:srgbClr val="3B3631"/>
                </a:solidFill>
                <a:latin typeface="Georgia" pitchFamily="34" charset="0"/>
                <a:ea typeface="Georgia" pitchFamily="34" charset="-122"/>
                <a:cs typeface="Georgia" pitchFamily="34" charset="-120"/>
              </a:rPr>
              <a:t>. Check </a:t>
            </a:r>
            <a:r>
              <a:rPr lang="en-US" sz="1500" i="1" dirty="0">
                <a:solidFill>
                  <a:srgbClr val="3B3631"/>
                </a:solidFill>
                <a:latin typeface="Georgia" pitchFamily="34" charset="0"/>
                <a:ea typeface="Georgia" pitchFamily="34" charset="-122"/>
                <a:cs typeface="Georgia" pitchFamily="34" charset="-120"/>
              </a:rPr>
              <a:t>A = 1</a:t>
            </a:r>
            <a:r>
              <a:rPr lang="en-US" sz="1500" dirty="0">
                <a:solidFill>
                  <a:srgbClr val="3B3631"/>
                </a:solidFill>
                <a:latin typeface="Georgia" pitchFamily="34" charset="0"/>
                <a:ea typeface="Georgia" pitchFamily="34" charset="-122"/>
                <a:cs typeface="Georgia" pitchFamily="34" charset="-120"/>
              </a:rPr>
              <a:t>, </a:t>
            </a:r>
            <a:r>
              <a:rPr lang="en-US" sz="1500" i="1" dirty="0">
                <a:solidFill>
                  <a:srgbClr val="3B3631"/>
                </a:solidFill>
                <a:latin typeface="Georgia" pitchFamily="34" charset="0"/>
                <a:ea typeface="Georgia" pitchFamily="34" charset="-122"/>
                <a:cs typeface="Georgia" pitchFamily="34" charset="-120"/>
              </a:rPr>
              <a:t>B = 0</a:t>
            </a:r>
            <a:r>
              <a:rPr lang="en-US" sz="1500" dirty="0">
                <a:solidFill>
                  <a:srgbClr val="3B3631"/>
                </a:solidFill>
                <a:latin typeface="Georgia" pitchFamily="34" charset="0"/>
                <a:ea typeface="Georgia" pitchFamily="34" charset="-122"/>
                <a:cs typeface="Georgia" pitchFamily="34" charset="-120"/>
              </a:rPr>
              <a:t>: the first two are 1, the last is 0.</a:t>
            </a:r>
            <a:endParaRPr lang="en-US" sz="1500" dirty="0"/>
          </a:p>
        </p:txBody>
      </p:sp>
      <p:sp>
        <p:nvSpPr>
          <p:cNvPr id="16" name="Text 1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17" name="Text 1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3412"/>
          </a:xfrm>
          <a:prstGeom prst="rect">
            <a:avLst/>
          </a:prstGeom>
          <a:noFill/>
          <a:ln/>
        </p:spPr>
        <p:txBody>
          <a:bodyPr wrap="square" lIns="0" tIns="0" rIns="0" bIns="0" rtlCol="0" anchor="t">
            <a:normAutofit/>
          </a:bodyPr>
          <a:lstStyle/>
          <a:p>
            <a:pPr marL="0" indent="0" algn="l">
              <a:lnSpc>
                <a:spcPts val="1675"/>
              </a:lnSpc>
              <a:buNone/>
            </a:pPr>
            <a:r>
              <a:rPr lang="en-US" sz="1196" b="1" kern="0" spc="150" dirty="0">
                <a:solidFill>
                  <a:srgbClr val="A3292A"/>
                </a:solidFill>
                <a:latin typeface="Arial" pitchFamily="34" charset="0"/>
                <a:ea typeface="Arial" pitchFamily="34" charset="-122"/>
                <a:cs typeface="Arial" pitchFamily="34" charset="-120"/>
              </a:rPr>
              <a:t>4 · DEMORGAN’S THEOREM</a:t>
            </a:r>
            <a:endParaRPr lang="en-US" sz="1196" dirty="0"/>
          </a:p>
        </p:txBody>
      </p:sp>
      <p:sp>
        <p:nvSpPr>
          <p:cNvPr id="3" name="Text 1"/>
          <p:cNvSpPr/>
          <p:nvPr/>
        </p:nvSpPr>
        <p:spPr>
          <a:xfrm>
            <a:off x="812800" y="1249412"/>
            <a:ext cx="10883392" cy="461268"/>
          </a:xfrm>
          <a:prstGeom prst="rect">
            <a:avLst/>
          </a:prstGeom>
          <a:noFill/>
          <a:ln/>
        </p:spPr>
        <p:txBody>
          <a:bodyPr wrap="square" lIns="0" tIns="0" rIns="0" bIns="0" rtlCol="0" anchor="t">
            <a:normAutofit/>
          </a:bodyPr>
          <a:lstStyle/>
          <a:p>
            <a:pPr marL="0" indent="0" algn="l">
              <a:lnSpc>
                <a:spcPts val="3465"/>
              </a:lnSpc>
              <a:buNone/>
            </a:pPr>
            <a:r>
              <a:rPr lang="en-US" sz="3150" b="1" dirty="0">
                <a:solidFill>
                  <a:srgbClr val="1F1B18"/>
                </a:solidFill>
                <a:latin typeface="Georgia" pitchFamily="34" charset="0"/>
                <a:ea typeface="Georgia" pitchFamily="34" charset="-122"/>
                <a:cs typeface="Georgia" pitchFamily="34" charset="-120"/>
              </a:rPr>
              <a:t>DeMorgan in circuits: moving bubbles</a:t>
            </a:r>
            <a:endParaRPr lang="en-US" sz="3150" dirty="0"/>
          </a:p>
        </p:txBody>
      </p:sp>
      <p:sp>
        <p:nvSpPr>
          <p:cNvPr id="4" name="Shape 2"/>
          <p:cNvSpPr/>
          <p:nvPr/>
        </p:nvSpPr>
        <p:spPr>
          <a:xfrm>
            <a:off x="812800" y="1913880"/>
            <a:ext cx="10566400" cy="1202531"/>
          </a:xfrm>
          <a:prstGeom prst="roundRect">
            <a:avLst>
              <a:gd name="adj" fmla="val 6337"/>
            </a:avLst>
          </a:prstGeom>
          <a:solidFill>
            <a:srgbClr val="EFE8DD"/>
          </a:solidFill>
          <a:ln/>
        </p:spPr>
        <p:txBody>
          <a:bodyPr/>
          <a:lstStyle/>
          <a:p>
            <a:endParaRPr lang="en-US"/>
          </a:p>
        </p:txBody>
      </p:sp>
      <p:sp>
        <p:nvSpPr>
          <p:cNvPr id="5" name="Text 3"/>
          <p:cNvSpPr/>
          <p:nvPr/>
        </p:nvSpPr>
        <p:spPr>
          <a:xfrm>
            <a:off x="1041400" y="2117080"/>
            <a:ext cx="10412476" cy="268635"/>
          </a:xfrm>
          <a:prstGeom prst="rect">
            <a:avLst/>
          </a:prstGeom>
          <a:noFill/>
          <a:ln/>
        </p:spPr>
        <p:txBody>
          <a:bodyPr wrap="square" lIns="0" tIns="0" rIns="0" bIns="0" rtlCol="0" anchor="t">
            <a:normAutofit/>
          </a:bodyPr>
          <a:lstStyle/>
          <a:p>
            <a:pPr marL="0" indent="0" algn="l">
              <a:lnSpc>
                <a:spcPts val="1925"/>
              </a:lnSpc>
              <a:buNone/>
            </a:pPr>
            <a:r>
              <a:rPr lang="en-US" sz="1540" b="1" dirty="0">
                <a:solidFill>
                  <a:srgbClr val="1F1B18"/>
                </a:solidFill>
                <a:latin typeface="Georgia" pitchFamily="34" charset="0"/>
                <a:ea typeface="Georgia" pitchFamily="34" charset="-122"/>
                <a:cs typeface="Georgia" pitchFamily="34" charset="-120"/>
              </a:rPr>
              <a:t>A bubble is the small circle on a gate symbol</a:t>
            </a:r>
            <a:endParaRPr lang="en-US" sz="1540" dirty="0"/>
          </a:p>
        </p:txBody>
      </p:sp>
      <p:sp>
        <p:nvSpPr>
          <p:cNvPr id="6" name="Text 4"/>
          <p:cNvSpPr/>
          <p:nvPr/>
        </p:nvSpPr>
        <p:spPr>
          <a:xfrm>
            <a:off x="1041400" y="2436515"/>
            <a:ext cx="10412476" cy="502096"/>
          </a:xfrm>
          <a:prstGeom prst="rect">
            <a:avLst/>
          </a:prstGeom>
          <a:noFill/>
          <a:ln/>
        </p:spPr>
        <p:txBody>
          <a:bodyPr wrap="square" lIns="0" tIns="0" rIns="0" bIns="0" rtlCol="0" anchor="t">
            <a:normAutofit/>
          </a:bodyPr>
          <a:lstStyle/>
          <a:p>
            <a:pPr marL="0" indent="0" algn="l">
              <a:lnSpc>
                <a:spcPts val="1886"/>
              </a:lnSpc>
              <a:buNone/>
            </a:pPr>
            <a:r>
              <a:rPr lang="en-US" sz="1347" dirty="0">
                <a:solidFill>
                  <a:srgbClr val="3B3631"/>
                </a:solidFill>
                <a:latin typeface="Georgia" pitchFamily="34" charset="0"/>
                <a:ea typeface="Georgia" pitchFamily="34" charset="-122"/>
                <a:cs typeface="Georgia" pitchFamily="34" charset="-120"/>
              </a:rPr>
              <a:t>It marks a complement at that terminal. NAND and NOR carry it on the output; a bubble drawn on an input means that input is inverted before it enters the gate.</a:t>
            </a:r>
            <a:endParaRPr lang="en-US" sz="1347" dirty="0"/>
          </a:p>
        </p:txBody>
      </p:sp>
      <p:pic>
        <p:nvPicPr>
          <p:cNvPr id="7" name="Image 0" descr="A NAND gate equals an OR gate with both inputs inverted"/>
          <p:cNvPicPr>
            <a:picLocks noChangeAspect="1"/>
          </p:cNvPicPr>
          <p:nvPr/>
        </p:nvPicPr>
        <p:blipFill>
          <a:blip r:embed="rId3"/>
          <a:srcRect/>
          <a:stretch/>
        </p:blipFill>
        <p:spPr>
          <a:xfrm>
            <a:off x="812800" y="3421211"/>
            <a:ext cx="3898900" cy="660400"/>
          </a:xfrm>
          <a:prstGeom prst="rect">
            <a:avLst/>
          </a:prstGeom>
        </p:spPr>
      </p:pic>
      <p:sp>
        <p:nvSpPr>
          <p:cNvPr id="8" name="Text 5"/>
          <p:cNvSpPr/>
          <p:nvPr/>
        </p:nvSpPr>
        <p:spPr>
          <a:xfrm>
            <a:off x="762000" y="3503761"/>
            <a:ext cx="247650" cy="324197"/>
          </a:xfrm>
          <a:prstGeom prst="rect">
            <a:avLst/>
          </a:prstGeom>
          <a:noFill/>
          <a:ln/>
        </p:spPr>
        <p:txBody>
          <a:bodyPr wrap="none" lIns="0" tIns="0" rIns="0" bIns="0" rtlCol="0" anchor="t">
            <a:normAutofit/>
          </a:bodyPr>
          <a:lstStyle/>
          <a:p>
            <a:pPr marL="0" indent="0" algn="r">
              <a:lnSpc>
                <a:spcPts val="2353"/>
              </a:lnSpc>
              <a:buNone/>
            </a:pPr>
            <a:r>
              <a:rPr lang="en-US" sz="1300" i="1" dirty="0">
                <a:solidFill>
                  <a:srgbClr val="1F1B18"/>
                </a:solidFill>
                <a:latin typeface="Georgia" pitchFamily="34" charset="0"/>
                <a:ea typeface="Georgia" pitchFamily="34" charset="-122"/>
                <a:cs typeface="Georgia" pitchFamily="34" charset="-120"/>
              </a:rPr>
              <a:t>A</a:t>
            </a:r>
            <a:endParaRPr lang="en-US" sz="1300" dirty="0"/>
          </a:p>
        </p:txBody>
      </p:sp>
      <p:sp>
        <p:nvSpPr>
          <p:cNvPr id="9" name="Text 6"/>
          <p:cNvSpPr/>
          <p:nvPr/>
        </p:nvSpPr>
        <p:spPr>
          <a:xfrm>
            <a:off x="762000" y="3700611"/>
            <a:ext cx="247650" cy="324197"/>
          </a:xfrm>
          <a:prstGeom prst="rect">
            <a:avLst/>
          </a:prstGeom>
          <a:noFill/>
          <a:ln/>
        </p:spPr>
        <p:txBody>
          <a:bodyPr wrap="none" lIns="0" tIns="0" rIns="0" bIns="0" rtlCol="0" anchor="t">
            <a:normAutofit/>
          </a:bodyPr>
          <a:lstStyle/>
          <a:p>
            <a:pPr marL="0" indent="0" algn="r">
              <a:lnSpc>
                <a:spcPts val="2353"/>
              </a:lnSpc>
              <a:buNone/>
            </a:pPr>
            <a:r>
              <a:rPr lang="en-US" sz="1300" i="1" dirty="0">
                <a:solidFill>
                  <a:srgbClr val="1F1B18"/>
                </a:solidFill>
                <a:latin typeface="Georgia" pitchFamily="34" charset="0"/>
                <a:ea typeface="Georgia" pitchFamily="34" charset="-122"/>
                <a:cs typeface="Georgia" pitchFamily="34" charset="-120"/>
              </a:rPr>
              <a:t>B</a:t>
            </a:r>
            <a:endParaRPr lang="en-US" sz="1300" dirty="0"/>
          </a:p>
        </p:txBody>
      </p:sp>
      <p:sp>
        <p:nvSpPr>
          <p:cNvPr id="10" name="Text 7"/>
          <p:cNvSpPr/>
          <p:nvPr/>
        </p:nvSpPr>
        <p:spPr>
          <a:xfrm>
            <a:off x="2374900" y="3605361"/>
            <a:ext cx="381000" cy="324197"/>
          </a:xfrm>
          <a:prstGeom prst="rect">
            <a:avLst/>
          </a:prstGeom>
          <a:noFill/>
          <a:ln/>
        </p:spPr>
        <p:txBody>
          <a:bodyPr wrap="none" lIns="0" tIns="0" rIns="0" bIns="0" rtlCol="0" anchor="t">
            <a:normAutofit/>
          </a:bodyPr>
          <a:lstStyle/>
          <a:p>
            <a:pPr marL="0" indent="0" algn="ctr">
              <a:lnSpc>
                <a:spcPts val="2353"/>
              </a:lnSpc>
              <a:buNone/>
            </a:pPr>
            <a:r>
              <a:rPr lang="en-US" sz="1300" dirty="0">
                <a:solidFill>
                  <a:srgbClr val="1F1B18"/>
                </a:solidFill>
                <a:latin typeface="Georgia" pitchFamily="34" charset="0"/>
                <a:ea typeface="Georgia" pitchFamily="34" charset="-122"/>
                <a:cs typeface="Georgia" pitchFamily="34" charset="-120"/>
              </a:rPr>
              <a:t>≡</a:t>
            </a:r>
            <a:endParaRPr lang="en-US" sz="1300" dirty="0"/>
          </a:p>
        </p:txBody>
      </p:sp>
      <p:sp>
        <p:nvSpPr>
          <p:cNvPr id="11" name="Text 8"/>
          <p:cNvSpPr/>
          <p:nvPr/>
        </p:nvSpPr>
        <p:spPr>
          <a:xfrm>
            <a:off x="2711450" y="3503761"/>
            <a:ext cx="247650" cy="324197"/>
          </a:xfrm>
          <a:prstGeom prst="rect">
            <a:avLst/>
          </a:prstGeom>
          <a:noFill/>
          <a:ln/>
        </p:spPr>
        <p:txBody>
          <a:bodyPr wrap="none" lIns="0" tIns="0" rIns="0" bIns="0" rtlCol="0" anchor="t">
            <a:normAutofit/>
          </a:bodyPr>
          <a:lstStyle/>
          <a:p>
            <a:pPr marL="0" indent="0" algn="r">
              <a:lnSpc>
                <a:spcPts val="2353"/>
              </a:lnSpc>
              <a:buNone/>
            </a:pPr>
            <a:r>
              <a:rPr lang="en-US" sz="1300" i="1" dirty="0">
                <a:solidFill>
                  <a:srgbClr val="1F1B18"/>
                </a:solidFill>
                <a:latin typeface="Georgia" pitchFamily="34" charset="0"/>
                <a:ea typeface="Georgia" pitchFamily="34" charset="-122"/>
                <a:cs typeface="Georgia" pitchFamily="34" charset="-120"/>
              </a:rPr>
              <a:t>A</a:t>
            </a:r>
            <a:endParaRPr lang="en-US" sz="1300" dirty="0"/>
          </a:p>
        </p:txBody>
      </p:sp>
      <p:sp>
        <p:nvSpPr>
          <p:cNvPr id="12" name="Text 9"/>
          <p:cNvSpPr/>
          <p:nvPr/>
        </p:nvSpPr>
        <p:spPr>
          <a:xfrm>
            <a:off x="2711450" y="3700611"/>
            <a:ext cx="247650" cy="324197"/>
          </a:xfrm>
          <a:prstGeom prst="rect">
            <a:avLst/>
          </a:prstGeom>
          <a:noFill/>
          <a:ln/>
        </p:spPr>
        <p:txBody>
          <a:bodyPr wrap="none" lIns="0" tIns="0" rIns="0" bIns="0" rtlCol="0" anchor="t">
            <a:normAutofit/>
          </a:bodyPr>
          <a:lstStyle/>
          <a:p>
            <a:pPr marL="0" indent="0" algn="r">
              <a:lnSpc>
                <a:spcPts val="2353"/>
              </a:lnSpc>
              <a:buNone/>
            </a:pPr>
            <a:r>
              <a:rPr lang="en-US" sz="1300" i="1" dirty="0">
                <a:solidFill>
                  <a:srgbClr val="1F1B18"/>
                </a:solidFill>
                <a:latin typeface="Georgia" pitchFamily="34" charset="0"/>
                <a:ea typeface="Georgia" pitchFamily="34" charset="-122"/>
                <a:cs typeface="Georgia" pitchFamily="34" charset="-120"/>
              </a:rPr>
              <a:t>B</a:t>
            </a:r>
            <a:endParaRPr lang="en-US" sz="1300" dirty="0"/>
          </a:p>
        </p:txBody>
      </p:sp>
      <p:sp>
        <p:nvSpPr>
          <p:cNvPr id="13" name="Text 10"/>
          <p:cNvSpPr/>
          <p:nvPr/>
        </p:nvSpPr>
        <p:spPr>
          <a:xfrm>
            <a:off x="1776116" y="4157811"/>
            <a:ext cx="1972267" cy="202257"/>
          </a:xfrm>
          <a:prstGeom prst="rect">
            <a:avLst/>
          </a:prstGeom>
          <a:noFill/>
          <a:ln/>
        </p:spPr>
        <p:txBody>
          <a:bodyPr wrap="square" lIns="0" tIns="0" rIns="0" bIns="0" rtlCol="0" anchor="t">
            <a:normAutofit/>
          </a:bodyPr>
          <a:lstStyle/>
          <a:p>
            <a:pPr marL="0" indent="0" algn="ctr">
              <a:lnSpc>
                <a:spcPts val="1423"/>
              </a:lnSpc>
              <a:buNone/>
            </a:pPr>
            <a:r>
              <a:rPr lang="en-US" sz="1016" i="1" dirty="0">
                <a:solidFill>
                  <a:srgbClr val="6F665D"/>
                </a:solidFill>
                <a:latin typeface="Georgia" pitchFamily="34" charset="0"/>
                <a:ea typeface="Georgia" pitchFamily="34" charset="-122"/>
                <a:cs typeface="Georgia" pitchFamily="34" charset="-120"/>
              </a:rPr>
              <a:t>NAND = OR with inverted inputs</a:t>
            </a:r>
            <a:endParaRPr lang="en-US" sz="1016" dirty="0"/>
          </a:p>
        </p:txBody>
      </p:sp>
      <p:pic>
        <p:nvPicPr>
          <p:cNvPr id="14" name="Image 1" descr="A NOR gate equals an AND gate with both inputs inverted"/>
          <p:cNvPicPr>
            <a:picLocks noChangeAspect="1"/>
          </p:cNvPicPr>
          <p:nvPr/>
        </p:nvPicPr>
        <p:blipFill>
          <a:blip r:embed="rId4"/>
          <a:srcRect/>
          <a:stretch/>
        </p:blipFill>
        <p:spPr>
          <a:xfrm>
            <a:off x="5219700" y="3421211"/>
            <a:ext cx="3898900" cy="660400"/>
          </a:xfrm>
          <a:prstGeom prst="rect">
            <a:avLst/>
          </a:prstGeom>
        </p:spPr>
      </p:pic>
      <p:sp>
        <p:nvSpPr>
          <p:cNvPr id="15" name="Text 11"/>
          <p:cNvSpPr/>
          <p:nvPr/>
        </p:nvSpPr>
        <p:spPr>
          <a:xfrm>
            <a:off x="5168900" y="3503761"/>
            <a:ext cx="247650" cy="324197"/>
          </a:xfrm>
          <a:prstGeom prst="rect">
            <a:avLst/>
          </a:prstGeom>
          <a:noFill/>
          <a:ln/>
        </p:spPr>
        <p:txBody>
          <a:bodyPr wrap="none" lIns="0" tIns="0" rIns="0" bIns="0" rtlCol="0" anchor="t">
            <a:normAutofit/>
          </a:bodyPr>
          <a:lstStyle/>
          <a:p>
            <a:pPr marL="0" indent="0" algn="r">
              <a:lnSpc>
                <a:spcPts val="2353"/>
              </a:lnSpc>
              <a:buNone/>
            </a:pPr>
            <a:r>
              <a:rPr lang="en-US" sz="1300" i="1" dirty="0">
                <a:solidFill>
                  <a:srgbClr val="1F1B18"/>
                </a:solidFill>
                <a:latin typeface="Georgia" pitchFamily="34" charset="0"/>
                <a:ea typeface="Georgia" pitchFamily="34" charset="-122"/>
                <a:cs typeface="Georgia" pitchFamily="34" charset="-120"/>
              </a:rPr>
              <a:t>A</a:t>
            </a:r>
            <a:endParaRPr lang="en-US" sz="1300" dirty="0"/>
          </a:p>
        </p:txBody>
      </p:sp>
      <p:sp>
        <p:nvSpPr>
          <p:cNvPr id="16" name="Text 12"/>
          <p:cNvSpPr/>
          <p:nvPr/>
        </p:nvSpPr>
        <p:spPr>
          <a:xfrm>
            <a:off x="5168900" y="3700611"/>
            <a:ext cx="247650" cy="324197"/>
          </a:xfrm>
          <a:prstGeom prst="rect">
            <a:avLst/>
          </a:prstGeom>
          <a:noFill/>
          <a:ln/>
        </p:spPr>
        <p:txBody>
          <a:bodyPr wrap="none" lIns="0" tIns="0" rIns="0" bIns="0" rtlCol="0" anchor="t">
            <a:normAutofit/>
          </a:bodyPr>
          <a:lstStyle/>
          <a:p>
            <a:pPr marL="0" indent="0" algn="r">
              <a:lnSpc>
                <a:spcPts val="2353"/>
              </a:lnSpc>
              <a:buNone/>
            </a:pPr>
            <a:r>
              <a:rPr lang="en-US" sz="1300" i="1" dirty="0">
                <a:solidFill>
                  <a:srgbClr val="1F1B18"/>
                </a:solidFill>
                <a:latin typeface="Georgia" pitchFamily="34" charset="0"/>
                <a:ea typeface="Georgia" pitchFamily="34" charset="-122"/>
                <a:cs typeface="Georgia" pitchFamily="34" charset="-120"/>
              </a:rPr>
              <a:t>B</a:t>
            </a:r>
            <a:endParaRPr lang="en-US" sz="1300" dirty="0"/>
          </a:p>
        </p:txBody>
      </p:sp>
      <p:sp>
        <p:nvSpPr>
          <p:cNvPr id="17" name="Text 13"/>
          <p:cNvSpPr/>
          <p:nvPr/>
        </p:nvSpPr>
        <p:spPr>
          <a:xfrm>
            <a:off x="6781800" y="3605361"/>
            <a:ext cx="381000" cy="324197"/>
          </a:xfrm>
          <a:prstGeom prst="rect">
            <a:avLst/>
          </a:prstGeom>
          <a:noFill/>
          <a:ln/>
        </p:spPr>
        <p:txBody>
          <a:bodyPr wrap="none" lIns="0" tIns="0" rIns="0" bIns="0" rtlCol="0" anchor="t">
            <a:normAutofit/>
          </a:bodyPr>
          <a:lstStyle/>
          <a:p>
            <a:pPr marL="0" indent="0" algn="ctr">
              <a:lnSpc>
                <a:spcPts val="2353"/>
              </a:lnSpc>
              <a:buNone/>
            </a:pPr>
            <a:r>
              <a:rPr lang="en-US" sz="1300" dirty="0">
                <a:solidFill>
                  <a:srgbClr val="1F1B18"/>
                </a:solidFill>
                <a:latin typeface="Georgia" pitchFamily="34" charset="0"/>
                <a:ea typeface="Georgia" pitchFamily="34" charset="-122"/>
                <a:cs typeface="Georgia" pitchFamily="34" charset="-120"/>
              </a:rPr>
              <a:t>≡</a:t>
            </a:r>
            <a:endParaRPr lang="en-US" sz="1300" dirty="0"/>
          </a:p>
        </p:txBody>
      </p:sp>
      <p:sp>
        <p:nvSpPr>
          <p:cNvPr id="18" name="Text 14"/>
          <p:cNvSpPr/>
          <p:nvPr/>
        </p:nvSpPr>
        <p:spPr>
          <a:xfrm>
            <a:off x="7118350" y="3503761"/>
            <a:ext cx="247650" cy="324197"/>
          </a:xfrm>
          <a:prstGeom prst="rect">
            <a:avLst/>
          </a:prstGeom>
          <a:noFill/>
          <a:ln/>
        </p:spPr>
        <p:txBody>
          <a:bodyPr wrap="none" lIns="0" tIns="0" rIns="0" bIns="0" rtlCol="0" anchor="t">
            <a:normAutofit/>
          </a:bodyPr>
          <a:lstStyle/>
          <a:p>
            <a:pPr marL="0" indent="0" algn="r">
              <a:lnSpc>
                <a:spcPts val="2353"/>
              </a:lnSpc>
              <a:buNone/>
            </a:pPr>
            <a:r>
              <a:rPr lang="en-US" sz="1300" i="1" dirty="0">
                <a:solidFill>
                  <a:srgbClr val="1F1B18"/>
                </a:solidFill>
                <a:latin typeface="Georgia" pitchFamily="34" charset="0"/>
                <a:ea typeface="Georgia" pitchFamily="34" charset="-122"/>
                <a:cs typeface="Georgia" pitchFamily="34" charset="-120"/>
              </a:rPr>
              <a:t>A</a:t>
            </a:r>
            <a:endParaRPr lang="en-US" sz="1300" dirty="0"/>
          </a:p>
        </p:txBody>
      </p:sp>
      <p:sp>
        <p:nvSpPr>
          <p:cNvPr id="19" name="Text 15"/>
          <p:cNvSpPr/>
          <p:nvPr/>
        </p:nvSpPr>
        <p:spPr>
          <a:xfrm>
            <a:off x="7118350" y="3700611"/>
            <a:ext cx="247650" cy="324197"/>
          </a:xfrm>
          <a:prstGeom prst="rect">
            <a:avLst/>
          </a:prstGeom>
          <a:noFill/>
          <a:ln/>
        </p:spPr>
        <p:txBody>
          <a:bodyPr wrap="none" lIns="0" tIns="0" rIns="0" bIns="0" rtlCol="0" anchor="t">
            <a:normAutofit/>
          </a:bodyPr>
          <a:lstStyle/>
          <a:p>
            <a:pPr marL="0" indent="0" algn="r">
              <a:lnSpc>
                <a:spcPts val="2353"/>
              </a:lnSpc>
              <a:buNone/>
            </a:pPr>
            <a:r>
              <a:rPr lang="en-US" sz="1300" i="1" dirty="0">
                <a:solidFill>
                  <a:srgbClr val="1F1B18"/>
                </a:solidFill>
                <a:latin typeface="Georgia" pitchFamily="34" charset="0"/>
                <a:ea typeface="Georgia" pitchFamily="34" charset="-122"/>
                <a:cs typeface="Georgia" pitchFamily="34" charset="-120"/>
              </a:rPr>
              <a:t>B</a:t>
            </a:r>
            <a:endParaRPr lang="en-US" sz="1300" dirty="0"/>
          </a:p>
        </p:txBody>
      </p:sp>
      <p:sp>
        <p:nvSpPr>
          <p:cNvPr id="20" name="Text 16"/>
          <p:cNvSpPr/>
          <p:nvPr/>
        </p:nvSpPr>
        <p:spPr>
          <a:xfrm>
            <a:off x="6183016" y="4157811"/>
            <a:ext cx="1972267" cy="202257"/>
          </a:xfrm>
          <a:prstGeom prst="rect">
            <a:avLst/>
          </a:prstGeom>
          <a:noFill/>
          <a:ln/>
        </p:spPr>
        <p:txBody>
          <a:bodyPr wrap="square" lIns="0" tIns="0" rIns="0" bIns="0" rtlCol="0" anchor="t">
            <a:normAutofit/>
          </a:bodyPr>
          <a:lstStyle/>
          <a:p>
            <a:pPr marL="0" indent="0" algn="ctr">
              <a:lnSpc>
                <a:spcPts val="1423"/>
              </a:lnSpc>
              <a:buNone/>
            </a:pPr>
            <a:r>
              <a:rPr lang="en-US" sz="1016" i="1" dirty="0">
                <a:solidFill>
                  <a:srgbClr val="6F665D"/>
                </a:solidFill>
                <a:latin typeface="Georgia" pitchFamily="34" charset="0"/>
                <a:ea typeface="Georgia" pitchFamily="34" charset="-122"/>
                <a:cs typeface="Georgia" pitchFamily="34" charset="-120"/>
              </a:rPr>
              <a:t>NOR = AND with inverted inputs</a:t>
            </a:r>
            <a:endParaRPr lang="en-US" sz="1016" dirty="0"/>
          </a:p>
        </p:txBody>
      </p:sp>
      <p:sp>
        <p:nvSpPr>
          <p:cNvPr id="21" name="Shape 17"/>
          <p:cNvSpPr/>
          <p:nvPr/>
        </p:nvSpPr>
        <p:spPr>
          <a:xfrm>
            <a:off x="812800" y="4639469"/>
            <a:ext cx="10566400" cy="1202531"/>
          </a:xfrm>
          <a:prstGeom prst="roundRect">
            <a:avLst>
              <a:gd name="adj" fmla="val 6337"/>
            </a:avLst>
          </a:prstGeom>
          <a:solidFill>
            <a:srgbClr val="EFE8DD"/>
          </a:solidFill>
          <a:ln/>
        </p:spPr>
        <p:txBody>
          <a:bodyPr/>
          <a:lstStyle/>
          <a:p>
            <a:endParaRPr lang="en-US"/>
          </a:p>
        </p:txBody>
      </p:sp>
      <p:sp>
        <p:nvSpPr>
          <p:cNvPr id="22" name="Text 18"/>
          <p:cNvSpPr/>
          <p:nvPr/>
        </p:nvSpPr>
        <p:spPr>
          <a:xfrm>
            <a:off x="1041400" y="4842669"/>
            <a:ext cx="10412476" cy="268635"/>
          </a:xfrm>
          <a:prstGeom prst="rect">
            <a:avLst/>
          </a:prstGeom>
          <a:noFill/>
          <a:ln/>
        </p:spPr>
        <p:txBody>
          <a:bodyPr wrap="square" lIns="0" tIns="0" rIns="0" bIns="0" rtlCol="0" anchor="t">
            <a:normAutofit/>
          </a:bodyPr>
          <a:lstStyle/>
          <a:p>
            <a:pPr marL="0" indent="0" algn="l">
              <a:lnSpc>
                <a:spcPts val="1925"/>
              </a:lnSpc>
              <a:buNone/>
            </a:pPr>
            <a:r>
              <a:rPr lang="en-US" sz="1540" b="1" dirty="0">
                <a:solidFill>
                  <a:srgbClr val="1F1B18"/>
                </a:solidFill>
                <a:latin typeface="Georgia" pitchFamily="34" charset="0"/>
                <a:ea typeface="Georgia" pitchFamily="34" charset="-122"/>
                <a:cs typeface="Georgia" pitchFamily="34" charset="-120"/>
              </a:rPr>
              <a:t>The rule</a:t>
            </a:r>
            <a:endParaRPr lang="en-US" sz="1540" dirty="0"/>
          </a:p>
        </p:txBody>
      </p:sp>
      <p:sp>
        <p:nvSpPr>
          <p:cNvPr id="23" name="Text 19"/>
          <p:cNvSpPr/>
          <p:nvPr/>
        </p:nvSpPr>
        <p:spPr>
          <a:xfrm>
            <a:off x="1041400" y="5162104"/>
            <a:ext cx="10412476" cy="502096"/>
          </a:xfrm>
          <a:prstGeom prst="rect">
            <a:avLst/>
          </a:prstGeom>
          <a:noFill/>
          <a:ln/>
        </p:spPr>
        <p:txBody>
          <a:bodyPr wrap="square" lIns="0" tIns="0" rIns="0" bIns="0" rtlCol="0" anchor="t">
            <a:normAutofit/>
          </a:bodyPr>
          <a:lstStyle/>
          <a:p>
            <a:pPr marL="0" indent="0" algn="l">
              <a:lnSpc>
                <a:spcPts val="1886"/>
              </a:lnSpc>
              <a:buNone/>
            </a:pPr>
            <a:r>
              <a:rPr lang="en-US" sz="1347" dirty="0">
                <a:solidFill>
                  <a:srgbClr val="3B3631"/>
                </a:solidFill>
                <a:latin typeface="Georgia" pitchFamily="34" charset="0"/>
                <a:ea typeface="Georgia" pitchFamily="34" charset="-122"/>
                <a:cs typeface="Georgia" pitchFamily="34" charset="-120"/>
              </a:rPr>
              <a:t>Move bubbles across a gate: AND and OR swap, and every terminal flips. A bubble appears where there was none and disappears where there was one.</a:t>
            </a:r>
            <a:endParaRPr lang="en-US" sz="1347" dirty="0"/>
          </a:p>
        </p:txBody>
      </p:sp>
      <p:sp>
        <p:nvSpPr>
          <p:cNvPr id="24" name="Text 20"/>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25" name="Text 21"/>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EE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4 · DEMORGAN’S THEOREM</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Problem 4: DeMorgan</a:t>
            </a:r>
            <a:endParaRPr lang="en-US" sz="3200" dirty="0"/>
          </a:p>
        </p:txBody>
      </p:sp>
      <p:sp>
        <p:nvSpPr>
          <p:cNvPr id="4" name="Text 2"/>
          <p:cNvSpPr/>
          <p:nvPr/>
        </p:nvSpPr>
        <p:spPr>
          <a:xfrm>
            <a:off x="812800" y="19303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a.</a:t>
            </a:r>
            <a:r>
              <a:rPr lang="en-US" sz="1500" dirty="0">
                <a:solidFill>
                  <a:srgbClr val="3B3631"/>
                </a:solidFill>
                <a:latin typeface="Georgia" pitchFamily="34" charset="0"/>
                <a:ea typeface="Georgia" pitchFamily="34" charset="-122"/>
                <a:cs typeface="Georgia" pitchFamily="34" charset="-120"/>
              </a:rPr>
              <a:t> Prove 15b, </a:t>
            </a:r>
            <a:r>
              <a:rPr lang="en-US" sz="1500" i="1" dirty="0">
                <a:solidFill>
                  <a:srgbClr val="3B3631"/>
                </a:solidFill>
                <a:latin typeface="Georgia" pitchFamily="34" charset="0"/>
                <a:ea typeface="Georgia" pitchFamily="34" charset="-122"/>
                <a:cs typeface="Georgia" pitchFamily="34" charset="-120"/>
              </a:rPr>
              <a:t>(x + y)′ = x′y′</a:t>
            </a:r>
            <a:r>
              <a:rPr lang="en-US" sz="1500" dirty="0">
                <a:solidFill>
                  <a:srgbClr val="3B3631"/>
                </a:solidFill>
                <a:latin typeface="Georgia" pitchFamily="34" charset="0"/>
                <a:ea typeface="Georgia" pitchFamily="34" charset="-122"/>
                <a:cs typeface="Georgia" pitchFamily="34" charset="-120"/>
              </a:rPr>
              <a:t>: build the truth table for both sides and compare the two columns.</a:t>
            </a:r>
            <a:endParaRPr lang="en-US" sz="1500" dirty="0"/>
          </a:p>
        </p:txBody>
      </p:sp>
      <p:sp>
        <p:nvSpPr>
          <p:cNvPr id="5" name="Text 3"/>
          <p:cNvSpPr/>
          <p:nvPr/>
        </p:nvSpPr>
        <p:spPr>
          <a:xfrm>
            <a:off x="812800" y="23113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b.</a:t>
            </a:r>
            <a:r>
              <a:rPr lang="en-US" sz="1500" dirty="0">
                <a:solidFill>
                  <a:srgbClr val="3B3631"/>
                </a:solidFill>
                <a:latin typeface="Georgia" pitchFamily="34" charset="0"/>
                <a:ea typeface="Georgia" pitchFamily="34" charset="-122"/>
                <a:cs typeface="Georgia" pitchFamily="34" charset="-120"/>
              </a:rPr>
              <a:t> Rewrite </a:t>
            </a:r>
            <a:r>
              <a:rPr lang="en-US" sz="1500" i="1" dirty="0">
                <a:solidFill>
                  <a:srgbClr val="3B3631"/>
                </a:solidFill>
                <a:latin typeface="Georgia" pitchFamily="34" charset="0"/>
                <a:ea typeface="Georgia" pitchFamily="34" charset="-122"/>
                <a:cs typeface="Georgia" pitchFamily="34" charset="-120"/>
              </a:rPr>
              <a:t>((A + B′)C)′</a:t>
            </a:r>
            <a:r>
              <a:rPr lang="en-US" sz="1500" dirty="0">
                <a:solidFill>
                  <a:srgbClr val="3B3631"/>
                </a:solidFill>
                <a:latin typeface="Georgia" pitchFamily="34" charset="0"/>
                <a:ea typeface="Georgia" pitchFamily="34" charset="-122"/>
                <a:cs typeface="Georgia" pitchFamily="34" charset="-120"/>
              </a:rPr>
              <a:t> so that no complement covers more than one letter. Name the theorem at each step.</a:t>
            </a:r>
            <a:endParaRPr lang="en-US" sz="1500" dirty="0"/>
          </a:p>
        </p:txBody>
      </p:sp>
      <p:sp>
        <p:nvSpPr>
          <p:cNvPr id="6" name="Text 4"/>
          <p:cNvSpPr/>
          <p:nvPr/>
        </p:nvSpPr>
        <p:spPr>
          <a:xfrm>
            <a:off x="812800" y="2692350"/>
            <a:ext cx="10883392"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c.</a:t>
            </a:r>
            <a:r>
              <a:rPr lang="en-US" sz="1500" dirty="0">
                <a:solidFill>
                  <a:srgbClr val="3B3631"/>
                </a:solidFill>
                <a:latin typeface="Georgia" pitchFamily="34" charset="0"/>
                <a:ea typeface="Georgia" pitchFamily="34" charset="-122"/>
                <a:cs typeface="Georgia" pitchFamily="34" charset="-120"/>
              </a:rPr>
              <a:t> Draw an AND gate with an inverter on each input, and write what it computes. Which single gate from section 1 has that truth table? Do the same for an OR gate with an inverter on each input.</a:t>
            </a:r>
            <a:endParaRPr lang="en-US" sz="1500" dirty="0"/>
          </a:p>
        </p:txBody>
      </p:sp>
      <p:sp>
        <p:nvSpPr>
          <p:cNvPr id="7" name="Text 5"/>
          <p:cNvSpPr/>
          <p:nvPr/>
        </p:nvSpPr>
        <p:spPr>
          <a:xfrm>
            <a:off x="812800" y="33400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d.</a:t>
            </a:r>
            <a:r>
              <a:rPr lang="en-US" sz="1500" dirty="0">
                <a:solidFill>
                  <a:srgbClr val="3B3631"/>
                </a:solidFill>
                <a:latin typeface="Georgia" pitchFamily="34" charset="0"/>
                <a:ea typeface="Georgia" pitchFamily="34" charset="-122"/>
                <a:cs typeface="Georgia" pitchFamily="34" charset="-120"/>
              </a:rPr>
              <a:t> Start from </a:t>
            </a:r>
            <a:r>
              <a:rPr lang="en-US" sz="1500" i="1" dirty="0">
                <a:solidFill>
                  <a:srgbClr val="3B3631"/>
                </a:solidFill>
                <a:latin typeface="Georgia" pitchFamily="34" charset="0"/>
                <a:ea typeface="Georgia" pitchFamily="34" charset="-122"/>
                <a:cs typeface="Georgia" pitchFamily="34" charset="-120"/>
              </a:rPr>
              <a:t>F = AB + B′C′</a:t>
            </a:r>
            <a:r>
              <a:rPr lang="en-US" sz="1500" dirty="0">
                <a:solidFill>
                  <a:srgbClr val="3B3631"/>
                </a:solidFill>
                <a:latin typeface="Georgia" pitchFamily="34" charset="0"/>
                <a:ea typeface="Georgia" pitchFamily="34" charset="-122"/>
                <a:cs typeface="Georgia" pitchFamily="34" charset="-120"/>
              </a:rPr>
              <a:t>. Use DeMorgan twice to write the complement </a:t>
            </a:r>
            <a:r>
              <a:rPr lang="en-US" sz="1500" i="1" dirty="0">
                <a:solidFill>
                  <a:srgbClr val="3B3631"/>
                </a:solidFill>
                <a:latin typeface="Georgia" pitchFamily="34" charset="0"/>
                <a:ea typeface="Georgia" pitchFamily="34" charset="-122"/>
                <a:cs typeface="Georgia" pitchFamily="34" charset="-120"/>
              </a:rPr>
              <a:t>F′</a:t>
            </a:r>
            <a:r>
              <a:rPr lang="en-US" sz="1500" dirty="0">
                <a:solidFill>
                  <a:srgbClr val="3B3631"/>
                </a:solidFill>
                <a:latin typeface="Georgia" pitchFamily="34" charset="0"/>
                <a:ea typeface="Georgia" pitchFamily="34" charset="-122"/>
                <a:cs typeface="Georgia" pitchFamily="34" charset="-120"/>
              </a:rPr>
              <a:t> as a product of two sums.</a:t>
            </a:r>
            <a:endParaRPr lang="en-US" sz="1500" dirty="0"/>
          </a:p>
        </p:txBody>
      </p:sp>
      <p:sp>
        <p:nvSpPr>
          <p:cNvPr id="8" name="Text 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9" name="Text 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EE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4 · DEMORGAN’S THEOREM</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Problem 4: answers</a:t>
            </a:r>
            <a:endParaRPr lang="en-US" sz="3200" dirty="0"/>
          </a:p>
        </p:txBody>
      </p:sp>
      <p:sp>
        <p:nvSpPr>
          <p:cNvPr id="4" name="Text 2"/>
          <p:cNvSpPr/>
          <p:nvPr/>
        </p:nvSpPr>
        <p:spPr>
          <a:xfrm>
            <a:off x="812800" y="1930350"/>
            <a:ext cx="3674279"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1B18"/>
                </a:solidFill>
                <a:latin typeface="Georgia" pitchFamily="34" charset="0"/>
                <a:ea typeface="Georgia" pitchFamily="34" charset="-122"/>
                <a:cs typeface="Georgia" pitchFamily="34" charset="-120"/>
              </a:rPr>
              <a:t>a.</a:t>
            </a:r>
            <a:r>
              <a:rPr lang="en-US" sz="1400" dirty="0">
                <a:solidFill>
                  <a:srgbClr val="1F1B18"/>
                </a:solidFill>
                <a:latin typeface="Georgia" pitchFamily="34" charset="0"/>
                <a:ea typeface="Georgia" pitchFamily="34" charset="-122"/>
                <a:cs typeface="Georgia" pitchFamily="34" charset="-120"/>
              </a:rPr>
              <a:t> The last two columns agree, so 15b holds.</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800" y="2242741"/>
          <a:ext cx="4445000" cy="2027734"/>
        </p:xfrm>
        <a:graphic>
          <a:graphicData uri="http://schemas.openxmlformats.org/drawingml/2006/table">
            <a:tbl>
              <a:tblPr/>
              <a:tblGrid>
                <a:gridCol w="635000">
                  <a:extLst>
                    <a:ext uri="{9D8B030D-6E8A-4147-A177-3AD203B41FA5}">
                      <a16:colId xmlns:a16="http://schemas.microsoft.com/office/drawing/2014/main" val="20000"/>
                    </a:ext>
                  </a:extLst>
                </a:gridCol>
                <a:gridCol w="635000">
                  <a:extLst>
                    <a:ext uri="{9D8B030D-6E8A-4147-A177-3AD203B41FA5}">
                      <a16:colId xmlns:a16="http://schemas.microsoft.com/office/drawing/2014/main" val="20001"/>
                    </a:ext>
                  </a:extLst>
                </a:gridCol>
                <a:gridCol w="635000">
                  <a:extLst>
                    <a:ext uri="{9D8B030D-6E8A-4147-A177-3AD203B41FA5}">
                      <a16:colId xmlns:a16="http://schemas.microsoft.com/office/drawing/2014/main" val="20002"/>
                    </a:ext>
                  </a:extLst>
                </a:gridCol>
                <a:gridCol w="635000">
                  <a:extLst>
                    <a:ext uri="{9D8B030D-6E8A-4147-A177-3AD203B41FA5}">
                      <a16:colId xmlns:a16="http://schemas.microsoft.com/office/drawing/2014/main" val="20003"/>
                    </a:ext>
                  </a:extLst>
                </a:gridCol>
                <a:gridCol w="635000">
                  <a:extLst>
                    <a:ext uri="{9D8B030D-6E8A-4147-A177-3AD203B41FA5}">
                      <a16:colId xmlns:a16="http://schemas.microsoft.com/office/drawing/2014/main" val="20004"/>
                    </a:ext>
                  </a:extLst>
                </a:gridCol>
                <a:gridCol w="635000">
                  <a:extLst>
                    <a:ext uri="{9D8B030D-6E8A-4147-A177-3AD203B41FA5}">
                      <a16:colId xmlns:a16="http://schemas.microsoft.com/office/drawing/2014/main" val="20005"/>
                    </a:ext>
                  </a:extLst>
                </a:gridCol>
                <a:gridCol w="635000">
                  <a:extLst>
                    <a:ext uri="{9D8B030D-6E8A-4147-A177-3AD203B41FA5}">
                      <a16:colId xmlns:a16="http://schemas.microsoft.com/office/drawing/2014/main" val="20006"/>
                    </a:ext>
                  </a:extLst>
                </a:gridCol>
              </a:tblGrid>
              <a:tr h="590451">
                <a:tc>
                  <a:txBody>
                    <a:bodyPr/>
                    <a:lstStyle/>
                    <a:p>
                      <a:pPr marL="0" indent="0" algn="ctr">
                        <a:lnSpc>
                          <a:spcPts val="1820"/>
                        </a:lnSpc>
                        <a:buNone/>
                      </a:pPr>
                      <a:r>
                        <a:rPr lang="en-US" sz="1300" b="1" dirty="0">
                          <a:solidFill>
                            <a:srgbClr val="3B3631"/>
                          </a:solidFill>
                          <a:latin typeface="Georgia" pitchFamily="34" charset="0"/>
                          <a:ea typeface="Georgia" pitchFamily="34" charset="-122"/>
                          <a:cs typeface="Georgia" pitchFamily="34" charset="-120"/>
                        </a:rPr>
                        <a:t>x</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solidFill>
                      <a:srgbClr val="E7DFDB"/>
                    </a:solidFill>
                  </a:tcPr>
                </a:tc>
                <a:tc>
                  <a:txBody>
                    <a:bodyPr/>
                    <a:lstStyle/>
                    <a:p>
                      <a:pPr marL="0" indent="0" algn="ctr">
                        <a:lnSpc>
                          <a:spcPts val="1820"/>
                        </a:lnSpc>
                        <a:buNone/>
                      </a:pPr>
                      <a:r>
                        <a:rPr lang="en-US" sz="1300" b="1" dirty="0">
                          <a:solidFill>
                            <a:srgbClr val="3B3631"/>
                          </a:solidFill>
                          <a:latin typeface="Georgia" pitchFamily="34" charset="0"/>
                          <a:ea typeface="Georgia" pitchFamily="34" charset="-122"/>
                          <a:cs typeface="Georgia" pitchFamily="34" charset="-120"/>
                        </a:rPr>
                        <a:t>y</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solidFill>
                      <a:srgbClr val="E7DFDB"/>
                    </a:solidFill>
                  </a:tcPr>
                </a:tc>
                <a:tc>
                  <a:txBody>
                    <a:bodyPr/>
                    <a:lstStyle/>
                    <a:p>
                      <a:pPr marL="0" indent="0" algn="ctr">
                        <a:lnSpc>
                          <a:spcPts val="1820"/>
                        </a:lnSpc>
                        <a:buNone/>
                      </a:pPr>
                      <a:r>
                        <a:rPr lang="en-US" sz="1300" b="1" dirty="0">
                          <a:solidFill>
                            <a:srgbClr val="3B3631"/>
                          </a:solidFill>
                          <a:latin typeface="Georgia" pitchFamily="34" charset="0"/>
                          <a:ea typeface="Georgia" pitchFamily="34" charset="-122"/>
                          <a:cs typeface="Georgia" pitchFamily="34" charset="-120"/>
                        </a:rPr>
                        <a:t>x + y</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solidFill>
                      <a:srgbClr val="E7DFDB"/>
                    </a:solidFill>
                  </a:tcPr>
                </a:tc>
                <a:tc>
                  <a:txBody>
                    <a:bodyPr/>
                    <a:lstStyle/>
                    <a:p>
                      <a:pPr marL="0" indent="0" algn="ctr">
                        <a:lnSpc>
                          <a:spcPts val="1820"/>
                        </a:lnSpc>
                        <a:buNone/>
                      </a:pPr>
                      <a:r>
                        <a:rPr lang="en-US" sz="1300" b="1" dirty="0">
                          <a:solidFill>
                            <a:srgbClr val="3B3631"/>
                          </a:solidFill>
                          <a:latin typeface="Georgia" pitchFamily="34" charset="0"/>
                          <a:ea typeface="Georgia" pitchFamily="34" charset="-122"/>
                          <a:cs typeface="Georgia" pitchFamily="34" charset="-120"/>
                        </a:rPr>
                        <a:t>(x + y)′</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solidFill>
                      <a:srgbClr val="E7DFDB"/>
                    </a:solidFill>
                  </a:tcPr>
                </a:tc>
                <a:tc>
                  <a:txBody>
                    <a:bodyPr/>
                    <a:lstStyle/>
                    <a:p>
                      <a:pPr marL="0" indent="0" algn="ctr">
                        <a:lnSpc>
                          <a:spcPts val="1820"/>
                        </a:lnSpc>
                        <a:buNone/>
                      </a:pPr>
                      <a:r>
                        <a:rPr lang="en-US" sz="1300" b="1" dirty="0">
                          <a:solidFill>
                            <a:srgbClr val="3B3631"/>
                          </a:solidFill>
                          <a:latin typeface="Georgia" pitchFamily="34" charset="0"/>
                          <a:ea typeface="Georgia" pitchFamily="34" charset="-122"/>
                          <a:cs typeface="Georgia" pitchFamily="34" charset="-120"/>
                        </a:rPr>
                        <a:t>x′</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solidFill>
                      <a:srgbClr val="E7DFDB"/>
                    </a:solidFill>
                  </a:tcPr>
                </a:tc>
                <a:tc>
                  <a:txBody>
                    <a:bodyPr/>
                    <a:lstStyle/>
                    <a:p>
                      <a:pPr marL="0" indent="0" algn="ctr">
                        <a:lnSpc>
                          <a:spcPts val="1820"/>
                        </a:lnSpc>
                        <a:buNone/>
                      </a:pPr>
                      <a:r>
                        <a:rPr lang="en-US" sz="1300" b="1" dirty="0">
                          <a:solidFill>
                            <a:srgbClr val="3B3631"/>
                          </a:solidFill>
                          <a:latin typeface="Georgia" pitchFamily="34" charset="0"/>
                          <a:ea typeface="Georgia" pitchFamily="34" charset="-122"/>
                          <a:cs typeface="Georgia" pitchFamily="34" charset="-120"/>
                        </a:rPr>
                        <a:t>y′</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solidFill>
                      <a:srgbClr val="E7DFDB"/>
                    </a:solidFill>
                  </a:tcPr>
                </a:tc>
                <a:tc>
                  <a:txBody>
                    <a:bodyPr/>
                    <a:lstStyle/>
                    <a:p>
                      <a:pPr marL="0" indent="0" algn="ctr">
                        <a:lnSpc>
                          <a:spcPts val="1820"/>
                        </a:lnSpc>
                        <a:buNone/>
                      </a:pPr>
                      <a:r>
                        <a:rPr lang="en-US" sz="1300" b="1" dirty="0">
                          <a:solidFill>
                            <a:srgbClr val="3B3631"/>
                          </a:solidFill>
                          <a:latin typeface="Georgia" pitchFamily="34" charset="0"/>
                          <a:ea typeface="Georgia" pitchFamily="34" charset="-122"/>
                          <a:cs typeface="Georgia" pitchFamily="34" charset="-120"/>
                        </a:rPr>
                        <a:t>x′y′</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solidFill>
                      <a:srgbClr val="E7DFDB"/>
                    </a:solidFill>
                  </a:tcPr>
                </a:tc>
                <a:extLst>
                  <a:ext uri="{0D108BD9-81ED-4DB2-BD59-A6C34878D82A}">
                    <a16:rowId xmlns:a16="http://schemas.microsoft.com/office/drawing/2014/main" val="10000"/>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1</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tc>
                  <a:txBody>
                    <a:bodyPr/>
                    <a:lstStyle/>
                    <a:p>
                      <a:pPr marL="0" indent="0" algn="ctr">
                        <a:lnSpc>
                          <a:spcPts val="1820"/>
                        </a:lnSpc>
                        <a:buNone/>
                      </a:pPr>
                      <a:r>
                        <a:rPr lang="en-US" sz="1300" dirty="0">
                          <a:solidFill>
                            <a:srgbClr val="3B3631"/>
                          </a:solidFill>
                          <a:latin typeface="Georgia" pitchFamily="34" charset="0"/>
                          <a:ea typeface="Georgia" pitchFamily="34" charset="-122"/>
                          <a:cs typeface="Georgia" pitchFamily="34" charset="-120"/>
                        </a:rPr>
                        <a:t>0</a:t>
                      </a:r>
                      <a:endParaRPr lang="en-US" sz="1300" dirty="0">
                        <a:latin typeface="Georgia" charset="0"/>
                        <a:ea typeface="Georgia" charset="0"/>
                        <a:cs typeface="Georgia" charset="0"/>
                      </a:endParaRPr>
                    </a:p>
                  </a:txBody>
                  <a:tcPr marL="57785" marR="57785" marT="57785" marB="57785">
                    <a:lnL w="12700" cap="flat" cmpd="sng" algn="ctr">
                      <a:solidFill>
                        <a:srgbClr val="CDC6C1"/>
                      </a:solidFill>
                      <a:prstDash val="solid"/>
                      <a:round/>
                      <a:headEnd type="none" w="med" len="med"/>
                      <a:tailEnd type="none" w="med" len="med"/>
                    </a:lnL>
                    <a:lnR w="12700" cap="flat" cmpd="sng" algn="ctr">
                      <a:solidFill>
                        <a:srgbClr val="CDC6C1"/>
                      </a:solidFill>
                      <a:prstDash val="solid"/>
                      <a:round/>
                      <a:headEnd type="none" w="med" len="med"/>
                      <a:tailEnd type="none" w="med" len="med"/>
                    </a:lnR>
                    <a:lnT w="12700" cap="flat" cmpd="sng" algn="ctr">
                      <a:solidFill>
                        <a:srgbClr val="CDC6C1"/>
                      </a:solidFill>
                      <a:prstDash val="solid"/>
                      <a:round/>
                      <a:headEnd type="none" w="med" len="med"/>
                      <a:tailEnd type="none" w="med" len="med"/>
                    </a:lnT>
                    <a:lnB w="12700" cap="flat" cmpd="sng" algn="ctr">
                      <a:solidFill>
                        <a:srgbClr val="CDC6C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p:nvPr/>
        </p:nvSpPr>
        <p:spPr>
          <a:xfrm>
            <a:off x="4735661" y="2512417"/>
            <a:ext cx="6842845"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3B3631"/>
                </a:solidFill>
                <a:latin typeface="Georgia" pitchFamily="34" charset="0"/>
                <a:ea typeface="Georgia" pitchFamily="34" charset="-122"/>
                <a:cs typeface="Georgia" pitchFamily="34" charset="-120"/>
              </a:rPr>
              <a:t>b.</a:t>
            </a:r>
            <a:r>
              <a:rPr lang="en-US" sz="1350" dirty="0">
                <a:solidFill>
                  <a:srgbClr val="3B3631"/>
                </a:solidFill>
                <a:latin typeface="Georgia" pitchFamily="34" charset="0"/>
                <a:ea typeface="Georgia" pitchFamily="34" charset="-122"/>
                <a:cs typeface="Georgia" pitchFamily="34" charset="-120"/>
              </a:rPr>
              <a:t> </a:t>
            </a:r>
            <a:r>
              <a:rPr lang="en-US" sz="1350" i="1" dirty="0">
                <a:solidFill>
                  <a:srgbClr val="3B3631"/>
                </a:solidFill>
                <a:latin typeface="Georgia" pitchFamily="34" charset="0"/>
                <a:ea typeface="Georgia" pitchFamily="34" charset="-122"/>
                <a:cs typeface="Georgia" pitchFamily="34" charset="-120"/>
              </a:rPr>
              <a:t>((A + B′)C)′ = (A + B′)′ + C′</a:t>
            </a:r>
            <a:r>
              <a:rPr lang="en-US" sz="1350" dirty="0">
                <a:solidFill>
                  <a:srgbClr val="3B3631"/>
                </a:solidFill>
                <a:latin typeface="Georgia" pitchFamily="34" charset="0"/>
                <a:ea typeface="Georgia" pitchFamily="34" charset="-122"/>
                <a:cs typeface="Georgia" pitchFamily="34" charset="-120"/>
              </a:rPr>
              <a:t> by 15a,</a:t>
            </a:r>
            <a:r>
              <a:rPr lang="en-US" sz="1350" i="1" dirty="0">
                <a:solidFill>
                  <a:srgbClr val="3B3631"/>
                </a:solidFill>
                <a:latin typeface="Georgia" pitchFamily="34" charset="0"/>
                <a:ea typeface="Georgia" pitchFamily="34" charset="-122"/>
                <a:cs typeface="Georgia" pitchFamily="34" charset="-120"/>
              </a:rPr>
              <a:t> = A′·(B′)′ + C′</a:t>
            </a:r>
            <a:r>
              <a:rPr lang="en-US" sz="1350" dirty="0">
                <a:solidFill>
                  <a:srgbClr val="3B3631"/>
                </a:solidFill>
                <a:latin typeface="Georgia" pitchFamily="34" charset="0"/>
                <a:ea typeface="Georgia" pitchFamily="34" charset="-122"/>
                <a:cs typeface="Georgia" pitchFamily="34" charset="-120"/>
              </a:rPr>
              <a:t> by 15b,</a:t>
            </a:r>
            <a:r>
              <a:rPr lang="en-US" sz="1350" i="1" dirty="0">
                <a:solidFill>
                  <a:srgbClr val="3B3631"/>
                </a:solidFill>
                <a:latin typeface="Georgia" pitchFamily="34" charset="0"/>
                <a:ea typeface="Georgia" pitchFamily="34" charset="-122"/>
                <a:cs typeface="Georgia" pitchFamily="34" charset="-120"/>
              </a:rPr>
              <a:t> = A′B + C′</a:t>
            </a:r>
            <a:r>
              <a:rPr lang="en-US" sz="1350" dirty="0">
                <a:solidFill>
                  <a:srgbClr val="3B3631"/>
                </a:solidFill>
                <a:latin typeface="Georgia" pitchFamily="34" charset="0"/>
                <a:ea typeface="Georgia" pitchFamily="34" charset="-122"/>
                <a:cs typeface="Georgia" pitchFamily="34" charset="-120"/>
              </a:rPr>
              <a:t> by 9.</a:t>
            </a:r>
            <a:endParaRPr lang="en-US" sz="1350" dirty="0"/>
          </a:p>
        </p:txBody>
      </p:sp>
      <p:sp>
        <p:nvSpPr>
          <p:cNvPr id="7" name="Text 4"/>
          <p:cNvSpPr/>
          <p:nvPr/>
        </p:nvSpPr>
        <p:spPr>
          <a:xfrm>
            <a:off x="4735661" y="2866727"/>
            <a:ext cx="6842845" cy="50542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3B3631"/>
                </a:solidFill>
                <a:latin typeface="Georgia" pitchFamily="34" charset="0"/>
                <a:ea typeface="Georgia" pitchFamily="34" charset="-122"/>
                <a:cs typeface="Georgia" pitchFamily="34" charset="-120"/>
              </a:rPr>
              <a:t>c.</a:t>
            </a:r>
            <a:r>
              <a:rPr lang="en-US" sz="1350" dirty="0">
                <a:solidFill>
                  <a:srgbClr val="3B3631"/>
                </a:solidFill>
                <a:latin typeface="Georgia" pitchFamily="34" charset="0"/>
                <a:ea typeface="Georgia" pitchFamily="34" charset="-122"/>
                <a:cs typeface="Georgia" pitchFamily="34" charset="-120"/>
              </a:rPr>
              <a:t> The AND gives </a:t>
            </a:r>
            <a:r>
              <a:rPr lang="en-US" sz="1350" i="1" dirty="0">
                <a:solidFill>
                  <a:srgbClr val="3B3631"/>
                </a:solidFill>
                <a:latin typeface="Georgia" pitchFamily="34" charset="0"/>
                <a:ea typeface="Georgia" pitchFamily="34" charset="-122"/>
                <a:cs typeface="Georgia" pitchFamily="34" charset="-120"/>
              </a:rPr>
              <a:t>A′B′</a:t>
            </a:r>
            <a:r>
              <a:rPr lang="en-US" sz="1350" dirty="0">
                <a:solidFill>
                  <a:srgbClr val="3B3631"/>
                </a:solidFill>
                <a:latin typeface="Georgia" pitchFamily="34" charset="0"/>
                <a:ea typeface="Georgia" pitchFamily="34" charset="-122"/>
                <a:cs typeface="Georgia" pitchFamily="34" charset="-120"/>
              </a:rPr>
              <a:t>, which is </a:t>
            </a:r>
            <a:r>
              <a:rPr lang="en-US" sz="1350" i="1" dirty="0">
                <a:solidFill>
                  <a:srgbClr val="3B3631"/>
                </a:solidFill>
                <a:latin typeface="Georgia" pitchFamily="34" charset="0"/>
                <a:ea typeface="Georgia" pitchFamily="34" charset="-122"/>
                <a:cs typeface="Georgia" pitchFamily="34" charset="-120"/>
              </a:rPr>
              <a:t>(A + B)′</a:t>
            </a:r>
            <a:r>
              <a:rPr lang="en-US" sz="1350" dirty="0">
                <a:solidFill>
                  <a:srgbClr val="3B3631"/>
                </a:solidFill>
                <a:latin typeface="Georgia" pitchFamily="34" charset="0"/>
                <a:ea typeface="Georgia" pitchFamily="34" charset="-122"/>
                <a:cs typeface="Georgia" pitchFamily="34" charset="-120"/>
              </a:rPr>
              <a:t> by 15b: a NOR. The OR gives </a:t>
            </a:r>
            <a:r>
              <a:rPr lang="en-US" sz="1350" i="1" dirty="0">
                <a:solidFill>
                  <a:srgbClr val="3B3631"/>
                </a:solidFill>
                <a:latin typeface="Georgia" pitchFamily="34" charset="0"/>
                <a:ea typeface="Georgia" pitchFamily="34" charset="-122"/>
                <a:cs typeface="Georgia" pitchFamily="34" charset="-120"/>
              </a:rPr>
              <a:t>A′ + B′</a:t>
            </a:r>
            <a:r>
              <a:rPr lang="en-US" sz="1350" dirty="0">
                <a:solidFill>
                  <a:srgbClr val="3B3631"/>
                </a:solidFill>
                <a:latin typeface="Georgia" pitchFamily="34" charset="0"/>
                <a:ea typeface="Georgia" pitchFamily="34" charset="-122"/>
                <a:cs typeface="Georgia" pitchFamily="34" charset="-120"/>
              </a:rPr>
              <a:t>, which is </a:t>
            </a:r>
            <a:r>
              <a:rPr lang="en-US" sz="1350" i="1" dirty="0">
                <a:solidFill>
                  <a:srgbClr val="3B3631"/>
                </a:solidFill>
                <a:latin typeface="Georgia" pitchFamily="34" charset="0"/>
                <a:ea typeface="Georgia" pitchFamily="34" charset="-122"/>
                <a:cs typeface="Georgia" pitchFamily="34" charset="-120"/>
              </a:rPr>
              <a:t>(AB)′</a:t>
            </a:r>
            <a:r>
              <a:rPr lang="en-US" sz="1350" dirty="0">
                <a:solidFill>
                  <a:srgbClr val="3B3631"/>
                </a:solidFill>
                <a:latin typeface="Georgia" pitchFamily="34" charset="0"/>
                <a:ea typeface="Georgia" pitchFamily="34" charset="-122"/>
                <a:cs typeface="Georgia" pitchFamily="34" charset="-120"/>
              </a:rPr>
              <a:t> by 15a: a NAND.</a:t>
            </a:r>
            <a:endParaRPr lang="en-US" sz="1350" dirty="0"/>
          </a:p>
        </p:txBody>
      </p:sp>
      <p:sp>
        <p:nvSpPr>
          <p:cNvPr id="8" name="Text 5"/>
          <p:cNvSpPr/>
          <p:nvPr/>
        </p:nvSpPr>
        <p:spPr>
          <a:xfrm>
            <a:off x="4735661" y="3461048"/>
            <a:ext cx="6842845"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3B3631"/>
                </a:solidFill>
                <a:latin typeface="Georgia" pitchFamily="34" charset="0"/>
                <a:ea typeface="Georgia" pitchFamily="34" charset="-122"/>
                <a:cs typeface="Georgia" pitchFamily="34" charset="-120"/>
              </a:rPr>
              <a:t>d.</a:t>
            </a:r>
            <a:r>
              <a:rPr lang="en-US" sz="1350" dirty="0">
                <a:solidFill>
                  <a:srgbClr val="3B3631"/>
                </a:solidFill>
                <a:latin typeface="Georgia" pitchFamily="34" charset="0"/>
                <a:ea typeface="Georgia" pitchFamily="34" charset="-122"/>
                <a:cs typeface="Georgia" pitchFamily="34" charset="-120"/>
              </a:rPr>
              <a:t> </a:t>
            </a:r>
            <a:r>
              <a:rPr lang="en-US" sz="1350" i="1" dirty="0">
                <a:solidFill>
                  <a:srgbClr val="3B3631"/>
                </a:solidFill>
                <a:latin typeface="Georgia" pitchFamily="34" charset="0"/>
                <a:ea typeface="Georgia" pitchFamily="34" charset="-122"/>
                <a:cs typeface="Georgia" pitchFamily="34" charset="-120"/>
              </a:rPr>
              <a:t>F′ = (AB + B′C′)′ = (AB)′·(B′C′)′</a:t>
            </a:r>
            <a:r>
              <a:rPr lang="en-US" sz="1350" dirty="0">
                <a:solidFill>
                  <a:srgbClr val="3B3631"/>
                </a:solidFill>
                <a:latin typeface="Georgia" pitchFamily="34" charset="0"/>
                <a:ea typeface="Georgia" pitchFamily="34" charset="-122"/>
                <a:cs typeface="Georgia" pitchFamily="34" charset="-120"/>
              </a:rPr>
              <a:t> by 15b,</a:t>
            </a:r>
            <a:r>
              <a:rPr lang="en-US" sz="1350" i="1" dirty="0">
                <a:solidFill>
                  <a:srgbClr val="3B3631"/>
                </a:solidFill>
                <a:latin typeface="Georgia" pitchFamily="34" charset="0"/>
                <a:ea typeface="Georgia" pitchFamily="34" charset="-122"/>
                <a:cs typeface="Georgia" pitchFamily="34" charset="-120"/>
              </a:rPr>
              <a:t> = (A′ + B′)(B + C)</a:t>
            </a:r>
            <a:r>
              <a:rPr lang="en-US" sz="1350" dirty="0">
                <a:solidFill>
                  <a:srgbClr val="3B3631"/>
                </a:solidFill>
                <a:latin typeface="Georgia" pitchFamily="34" charset="0"/>
                <a:ea typeface="Georgia" pitchFamily="34" charset="-122"/>
                <a:cs typeface="Georgia" pitchFamily="34" charset="-120"/>
              </a:rPr>
              <a:t> by 15a and 9.</a:t>
            </a:r>
            <a:endParaRPr lang="en-US" sz="1350" dirty="0"/>
          </a:p>
        </p:txBody>
      </p:sp>
      <p:sp>
        <p:nvSpPr>
          <p:cNvPr id="9" name="Text 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10" name="Text 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2817"/>
          </a:xfrm>
          <a:prstGeom prst="rect">
            <a:avLst/>
          </a:prstGeom>
          <a:noFill/>
          <a:ln/>
        </p:spPr>
        <p:txBody>
          <a:bodyPr wrap="square" lIns="0" tIns="0" rIns="0" bIns="0" rtlCol="0" anchor="t">
            <a:normAutofit/>
          </a:bodyPr>
          <a:lstStyle/>
          <a:p>
            <a:pPr marL="0" indent="0" algn="l">
              <a:lnSpc>
                <a:spcPts val="1675"/>
              </a:lnSpc>
              <a:buNone/>
            </a:pPr>
            <a:r>
              <a:rPr lang="en-US" sz="1196" b="1" kern="0" spc="150" dirty="0">
                <a:solidFill>
                  <a:srgbClr val="A3292A"/>
                </a:solidFill>
                <a:latin typeface="Arial" pitchFamily="34" charset="0"/>
                <a:ea typeface="Arial" pitchFamily="34" charset="-122"/>
                <a:cs typeface="Arial" pitchFamily="34" charset="-120"/>
              </a:rPr>
              <a:t>5 · ALGEBRAIC SIMPLIFICATION</a:t>
            </a:r>
            <a:endParaRPr lang="en-US" sz="1196" dirty="0"/>
          </a:p>
        </p:txBody>
      </p:sp>
      <p:sp>
        <p:nvSpPr>
          <p:cNvPr id="3" name="Text 1"/>
          <p:cNvSpPr/>
          <p:nvPr/>
        </p:nvSpPr>
        <p:spPr>
          <a:xfrm>
            <a:off x="812800" y="1248817"/>
            <a:ext cx="10883392" cy="460077"/>
          </a:xfrm>
          <a:prstGeom prst="rect">
            <a:avLst/>
          </a:prstGeom>
          <a:noFill/>
          <a:ln/>
        </p:spPr>
        <p:txBody>
          <a:bodyPr wrap="square" lIns="0" tIns="0" rIns="0" bIns="0" rtlCol="0" anchor="t">
            <a:normAutofit/>
          </a:bodyPr>
          <a:lstStyle/>
          <a:p>
            <a:pPr marL="0" indent="0" algn="l">
              <a:lnSpc>
                <a:spcPts val="3421"/>
              </a:lnSpc>
              <a:buNone/>
            </a:pPr>
            <a:r>
              <a:rPr lang="en-US" sz="3110" b="1" dirty="0">
                <a:solidFill>
                  <a:srgbClr val="1F1B18"/>
                </a:solidFill>
                <a:latin typeface="Georgia" pitchFamily="34" charset="0"/>
                <a:ea typeface="Georgia" pitchFamily="34" charset="-122"/>
                <a:cs typeface="Georgia" pitchFamily="34" charset="-120"/>
              </a:rPr>
              <a:t>Simplifying: four moves, two workhorse theorems</a:t>
            </a:r>
            <a:endParaRPr lang="en-US" sz="311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912094"/>
          <a:ext cx="10566400" cy="2001242"/>
        </p:xfrm>
        <a:graphic>
          <a:graphicData uri="http://schemas.openxmlformats.org/drawingml/2006/table">
            <a:tbl>
              <a:tblPr/>
              <a:tblGrid>
                <a:gridCol w="3381248">
                  <a:extLst>
                    <a:ext uri="{9D8B030D-6E8A-4147-A177-3AD203B41FA5}">
                      <a16:colId xmlns:a16="http://schemas.microsoft.com/office/drawing/2014/main" val="20000"/>
                    </a:ext>
                  </a:extLst>
                </a:gridCol>
                <a:gridCol w="7185152">
                  <a:extLst>
                    <a:ext uri="{9D8B030D-6E8A-4147-A177-3AD203B41FA5}">
                      <a16:colId xmlns:a16="http://schemas.microsoft.com/office/drawing/2014/main" val="20001"/>
                    </a:ext>
                  </a:extLst>
                </a:gridCol>
              </a:tblGrid>
              <a:tr h="400248">
                <a:tc>
                  <a:txBody>
                    <a:bodyPr/>
                    <a:lstStyle/>
                    <a:p>
                      <a:pPr marL="0" indent="0">
                        <a:lnSpc>
                          <a:spcPts val="2034"/>
                        </a:lnSpc>
                        <a:buNone/>
                      </a:pPr>
                      <a:r>
                        <a:rPr lang="en-US" sz="1453" b="1" dirty="0">
                          <a:solidFill>
                            <a:srgbClr val="3B3631"/>
                          </a:solidFill>
                          <a:latin typeface="Georgia" pitchFamily="34" charset="0"/>
                          <a:ea typeface="Georgia" pitchFamily="34" charset="-122"/>
                          <a:cs typeface="Georgia" pitchFamily="34" charset="-120"/>
                        </a:rPr>
                        <a:t>Move</a:t>
                      </a:r>
                      <a:endParaRPr lang="en-US" sz="1453" dirty="0">
                        <a:latin typeface="Georgia" charset="0"/>
                        <a:ea typeface="Georgia" charset="0"/>
                        <a:cs typeface="Georgia" charset="0"/>
                      </a:endParaRPr>
                    </a:p>
                  </a:txBody>
                  <a:tcPr marL="64591" marR="64591" marT="64591" marB="64591">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nSpc>
                          <a:spcPts val="2034"/>
                        </a:lnSpc>
                        <a:buNone/>
                      </a:pPr>
                      <a:r>
                        <a:rPr lang="en-US" sz="1453" b="1" dirty="0">
                          <a:solidFill>
                            <a:srgbClr val="3B3631"/>
                          </a:solidFill>
                          <a:latin typeface="Georgia" pitchFamily="34" charset="0"/>
                          <a:ea typeface="Georgia" pitchFamily="34" charset="-122"/>
                          <a:cs typeface="Georgia" pitchFamily="34" charset="-120"/>
                        </a:rPr>
                        <a:t>Example</a:t>
                      </a:r>
                      <a:endParaRPr lang="en-US" sz="1453" dirty="0">
                        <a:latin typeface="Georgia" charset="0"/>
                        <a:ea typeface="Georgia" charset="0"/>
                        <a:cs typeface="Georgia" charset="0"/>
                      </a:endParaRPr>
                    </a:p>
                  </a:txBody>
                  <a:tcPr marL="64591" marR="64591" marT="64591" marB="64591">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extLst>
                  <a:ext uri="{0D108BD9-81ED-4DB2-BD59-A6C34878D82A}">
                    <a16:rowId xmlns:a16="http://schemas.microsoft.com/office/drawing/2014/main" val="10000"/>
                  </a:ext>
                </a:extLst>
              </a:tr>
              <a:tr h="400248">
                <a:tc>
                  <a:txBody>
                    <a:bodyPr/>
                    <a:lstStyle/>
                    <a:p>
                      <a:pPr marL="0" indent="0">
                        <a:lnSpc>
                          <a:spcPts val="2034"/>
                        </a:lnSpc>
                        <a:buNone/>
                      </a:pPr>
                      <a:r>
                        <a:rPr lang="en-US" sz="1453" dirty="0">
                          <a:solidFill>
                            <a:srgbClr val="3B3631"/>
                          </a:solidFill>
                          <a:latin typeface="Georgia" pitchFamily="34" charset="0"/>
                          <a:ea typeface="Georgia" pitchFamily="34" charset="-122"/>
                          <a:cs typeface="Georgia" pitchFamily="34" charset="-120"/>
                        </a:rPr>
                        <a:t>Multiply out</a:t>
                      </a:r>
                      <a:endParaRPr lang="en-US" sz="1453" dirty="0">
                        <a:latin typeface="Georgia" charset="0"/>
                        <a:ea typeface="Georgia" charset="0"/>
                        <a:cs typeface="Georgia" charset="0"/>
                      </a:endParaRPr>
                    </a:p>
                  </a:txBody>
                  <a:tcPr marL="64591" marR="64591" marT="64591" marB="64591">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nSpc>
                          <a:spcPts val="2034"/>
                        </a:lnSpc>
                        <a:buNone/>
                      </a:pPr>
                      <a:r>
                        <a:rPr lang="en-US" sz="1453" dirty="0">
                          <a:solidFill>
                            <a:srgbClr val="3B3631"/>
                          </a:solidFill>
                          <a:latin typeface="Georgia" pitchFamily="34" charset="0"/>
                          <a:ea typeface="Georgia" pitchFamily="34" charset="-122"/>
                          <a:cs typeface="Georgia" pitchFamily="34" charset="-120"/>
                        </a:rPr>
                        <a:t>x(x′ + y) = xx′ + xy = xy (8a)</a:t>
                      </a:r>
                      <a:endParaRPr lang="en-US" sz="1453" dirty="0">
                        <a:latin typeface="Georgia" charset="0"/>
                        <a:ea typeface="Georgia" charset="0"/>
                        <a:cs typeface="Georgia" charset="0"/>
                      </a:endParaRPr>
                    </a:p>
                  </a:txBody>
                  <a:tcPr marL="64591" marR="64591" marT="64591" marB="64591">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1"/>
                  </a:ext>
                </a:extLst>
              </a:tr>
              <a:tr h="400248">
                <a:tc>
                  <a:txBody>
                    <a:bodyPr/>
                    <a:lstStyle/>
                    <a:p>
                      <a:pPr marL="0" indent="0">
                        <a:lnSpc>
                          <a:spcPts val="2034"/>
                        </a:lnSpc>
                        <a:buNone/>
                      </a:pPr>
                      <a:r>
                        <a:rPr lang="en-US" sz="1453" dirty="0">
                          <a:solidFill>
                            <a:srgbClr val="3B3631"/>
                          </a:solidFill>
                          <a:latin typeface="Georgia" pitchFamily="34" charset="0"/>
                          <a:ea typeface="Georgia" pitchFamily="34" charset="-122"/>
                          <a:cs typeface="Georgia" pitchFamily="34" charset="-120"/>
                        </a:rPr>
                        <a:t>Factor</a:t>
                      </a:r>
                      <a:endParaRPr lang="en-US" sz="1453" dirty="0">
                        <a:latin typeface="Georgia" charset="0"/>
                        <a:ea typeface="Georgia" charset="0"/>
                        <a:cs typeface="Georgia" charset="0"/>
                      </a:endParaRPr>
                    </a:p>
                  </a:txBody>
                  <a:tcPr marL="64591" marR="64591" marT="64591" marB="64591">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nSpc>
                          <a:spcPts val="2034"/>
                        </a:lnSpc>
                        <a:buNone/>
                      </a:pPr>
                      <a:r>
                        <a:rPr lang="en-US" sz="1453" dirty="0">
                          <a:solidFill>
                            <a:srgbClr val="3B3631"/>
                          </a:solidFill>
                          <a:latin typeface="Georgia" pitchFamily="34" charset="0"/>
                          <a:ea typeface="Georgia" pitchFamily="34" charset="-122"/>
                          <a:cs typeface="Georgia" pitchFamily="34" charset="-120"/>
                        </a:rPr>
                        <a:t>xy + xy′ = x(y + y′) = x (8b)</a:t>
                      </a:r>
                      <a:endParaRPr lang="en-US" sz="1453" dirty="0">
                        <a:latin typeface="Georgia" charset="0"/>
                        <a:ea typeface="Georgia" charset="0"/>
                        <a:cs typeface="Georgia" charset="0"/>
                      </a:endParaRPr>
                    </a:p>
                  </a:txBody>
                  <a:tcPr marL="64591" marR="64591" marT="64591" marB="64591">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2"/>
                  </a:ext>
                </a:extLst>
              </a:tr>
              <a:tr h="400248">
                <a:tc>
                  <a:txBody>
                    <a:bodyPr/>
                    <a:lstStyle/>
                    <a:p>
                      <a:pPr marL="0" indent="0">
                        <a:lnSpc>
                          <a:spcPts val="2034"/>
                        </a:lnSpc>
                        <a:buNone/>
                      </a:pPr>
                      <a:r>
                        <a:rPr lang="en-US" sz="1453" dirty="0">
                          <a:solidFill>
                            <a:srgbClr val="3B3631"/>
                          </a:solidFill>
                          <a:latin typeface="Georgia" pitchFamily="34" charset="0"/>
                          <a:ea typeface="Georgia" pitchFamily="34" charset="-122"/>
                          <a:cs typeface="Georgia" pitchFamily="34" charset="-120"/>
                        </a:rPr>
                        <a:t>Duplicate a term</a:t>
                      </a:r>
                      <a:endParaRPr lang="en-US" sz="1453" dirty="0">
                        <a:latin typeface="Georgia" charset="0"/>
                        <a:ea typeface="Georgia" charset="0"/>
                        <a:cs typeface="Georgia" charset="0"/>
                      </a:endParaRPr>
                    </a:p>
                  </a:txBody>
                  <a:tcPr marL="64591" marR="64591" marT="64591" marB="64591">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nSpc>
                          <a:spcPts val="2034"/>
                        </a:lnSpc>
                        <a:buNone/>
                      </a:pPr>
                      <a:r>
                        <a:rPr lang="en-US" sz="1453" dirty="0">
                          <a:solidFill>
                            <a:srgbClr val="3B3631"/>
                          </a:solidFill>
                          <a:latin typeface="Georgia" pitchFamily="34" charset="0"/>
                          <a:ea typeface="Georgia" pitchFamily="34" charset="-122"/>
                          <a:cs typeface="Georgia" pitchFamily="34" charset="-120"/>
                        </a:rPr>
                        <a:t>x + x = x, used backwards (Problem 5d)</a:t>
                      </a:r>
                      <a:endParaRPr lang="en-US" sz="1453" dirty="0">
                        <a:latin typeface="Georgia" charset="0"/>
                        <a:ea typeface="Georgia" charset="0"/>
                        <a:cs typeface="Georgia" charset="0"/>
                      </a:endParaRPr>
                    </a:p>
                  </a:txBody>
                  <a:tcPr marL="64591" marR="64591" marT="64591" marB="64591">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3"/>
                  </a:ext>
                </a:extLst>
              </a:tr>
              <a:tr h="400248">
                <a:tc>
                  <a:txBody>
                    <a:bodyPr/>
                    <a:lstStyle/>
                    <a:p>
                      <a:pPr marL="0" indent="0">
                        <a:lnSpc>
                          <a:spcPts val="2034"/>
                        </a:lnSpc>
                        <a:buNone/>
                      </a:pPr>
                      <a:r>
                        <a:rPr lang="en-US" sz="1453" dirty="0">
                          <a:solidFill>
                            <a:srgbClr val="3B3631"/>
                          </a:solidFill>
                          <a:latin typeface="Georgia" pitchFamily="34" charset="0"/>
                          <a:ea typeface="Georgia" pitchFamily="34" charset="-122"/>
                          <a:cs typeface="Georgia" pitchFamily="34" charset="-120"/>
                        </a:rPr>
                        <a:t>Prove both sides</a:t>
                      </a:r>
                      <a:endParaRPr lang="en-US" sz="1453" dirty="0">
                        <a:latin typeface="Georgia" charset="0"/>
                        <a:ea typeface="Georgia" charset="0"/>
                        <a:cs typeface="Georgia" charset="0"/>
                      </a:endParaRPr>
                    </a:p>
                  </a:txBody>
                  <a:tcPr marL="64591" marR="64591" marT="64591" marB="64591">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nSpc>
                          <a:spcPts val="2034"/>
                        </a:lnSpc>
                        <a:buNone/>
                      </a:pPr>
                      <a:r>
                        <a:rPr lang="en-US" sz="1453" dirty="0">
                          <a:solidFill>
                            <a:srgbClr val="3B3631"/>
                          </a:solidFill>
                          <a:latin typeface="Georgia" pitchFamily="34" charset="0"/>
                          <a:ea typeface="Georgia" pitchFamily="34" charset="-122"/>
                          <a:cs typeface="Georgia" pitchFamily="34" charset="-120"/>
                        </a:rPr>
                        <a:t>reduce each side to the same expression</a:t>
                      </a:r>
                      <a:endParaRPr lang="en-US" sz="1453" dirty="0">
                        <a:latin typeface="Georgia" charset="0"/>
                        <a:ea typeface="Georgia" charset="0"/>
                        <a:cs typeface="Georgia" charset="0"/>
                      </a:endParaRPr>
                    </a:p>
                  </a:txBody>
                  <a:tcPr marL="64591" marR="64591" marT="64591" marB="64591">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4154438"/>
            <a:ext cx="10883392" cy="284014"/>
          </a:xfrm>
          <a:prstGeom prst="rect">
            <a:avLst/>
          </a:prstGeom>
          <a:noFill/>
          <a:ln/>
        </p:spPr>
        <p:txBody>
          <a:bodyPr wrap="square" lIns="0" tIns="0" rIns="0" bIns="0" rtlCol="0" anchor="t">
            <a:normAutofit/>
          </a:bodyPr>
          <a:lstStyle/>
          <a:p>
            <a:pPr marL="0" indent="0" algn="l">
              <a:lnSpc>
                <a:spcPts val="2074"/>
              </a:lnSpc>
              <a:buNone/>
            </a:pPr>
            <a:r>
              <a:rPr lang="en-US" sz="1481" dirty="0">
                <a:solidFill>
                  <a:srgbClr val="6F665D"/>
                </a:solidFill>
                <a:latin typeface="Georgia" pitchFamily="34" charset="0"/>
                <a:ea typeface="Georgia" pitchFamily="34" charset="-122"/>
                <a:cs typeface="Georgia" pitchFamily="34" charset="-120"/>
              </a:rPr>
              <a:t>Goal: fewer terms and fewer literals, so fewer gates and gate inputs.</a:t>
            </a:r>
            <a:endParaRPr lang="en-US" sz="1481" dirty="0"/>
          </a:p>
        </p:txBody>
      </p:sp>
      <p:sp>
        <p:nvSpPr>
          <p:cNvPr id="6" name="Shape 3"/>
          <p:cNvSpPr/>
          <p:nvPr/>
        </p:nvSpPr>
        <p:spPr>
          <a:xfrm>
            <a:off x="812800" y="4641652"/>
            <a:ext cx="5156200" cy="1200348"/>
          </a:xfrm>
          <a:prstGeom prst="roundRect">
            <a:avLst>
              <a:gd name="adj" fmla="val 6348"/>
            </a:avLst>
          </a:prstGeom>
          <a:solidFill>
            <a:srgbClr val="EFE8DD"/>
          </a:solidFill>
          <a:ln/>
        </p:spPr>
        <p:txBody>
          <a:bodyPr/>
          <a:lstStyle/>
          <a:p>
            <a:endParaRPr lang="en-US"/>
          </a:p>
        </p:txBody>
      </p:sp>
      <p:sp>
        <p:nvSpPr>
          <p:cNvPr id="7" name="Text 4"/>
          <p:cNvSpPr/>
          <p:nvPr/>
        </p:nvSpPr>
        <p:spPr>
          <a:xfrm>
            <a:off x="1041400" y="4844852"/>
            <a:ext cx="4839970" cy="267940"/>
          </a:xfrm>
          <a:prstGeom prst="rect">
            <a:avLst/>
          </a:prstGeom>
          <a:noFill/>
          <a:ln/>
        </p:spPr>
        <p:txBody>
          <a:bodyPr wrap="square" lIns="0" tIns="0" rIns="0" bIns="0" rtlCol="0" anchor="t">
            <a:normAutofit/>
          </a:bodyPr>
          <a:lstStyle/>
          <a:p>
            <a:pPr marL="0" indent="0" algn="l">
              <a:lnSpc>
                <a:spcPts val="1925"/>
              </a:lnSpc>
              <a:buNone/>
            </a:pPr>
            <a:r>
              <a:rPr lang="en-US" sz="1540" b="1" dirty="0">
                <a:solidFill>
                  <a:srgbClr val="1F1B18"/>
                </a:solidFill>
                <a:latin typeface="Georgia" pitchFamily="34" charset="0"/>
                <a:ea typeface="Georgia" pitchFamily="34" charset="-122"/>
                <a:cs typeface="Georgia" pitchFamily="34" charset="-120"/>
              </a:rPr>
              <a:t>14a: </a:t>
            </a:r>
            <a:r>
              <a:rPr lang="en-US" sz="1540" b="1" i="1" dirty="0">
                <a:solidFill>
                  <a:srgbClr val="1F1B18"/>
                </a:solidFill>
                <a:latin typeface="Georgia" pitchFamily="34" charset="0"/>
                <a:ea typeface="Georgia" pitchFamily="34" charset="-122"/>
                <a:cs typeface="Georgia" pitchFamily="34" charset="-120"/>
              </a:rPr>
              <a:t>xy + xy′ = x</a:t>
            </a:r>
            <a:endParaRPr lang="en-US" sz="1540" dirty="0"/>
          </a:p>
        </p:txBody>
      </p:sp>
      <p:sp>
        <p:nvSpPr>
          <p:cNvPr id="8" name="Text 5"/>
          <p:cNvSpPr/>
          <p:nvPr/>
        </p:nvSpPr>
        <p:spPr>
          <a:xfrm>
            <a:off x="1041400" y="5163592"/>
            <a:ext cx="4839970" cy="500608"/>
          </a:xfrm>
          <a:prstGeom prst="rect">
            <a:avLst/>
          </a:prstGeom>
          <a:noFill/>
          <a:ln/>
        </p:spPr>
        <p:txBody>
          <a:bodyPr wrap="square" lIns="0" tIns="0" rIns="0" bIns="0" rtlCol="0" anchor="t">
            <a:normAutofit/>
          </a:bodyPr>
          <a:lstStyle/>
          <a:p>
            <a:pPr marL="0" indent="0" algn="l">
              <a:lnSpc>
                <a:spcPts val="1886"/>
              </a:lnSpc>
              <a:buNone/>
            </a:pPr>
            <a:r>
              <a:rPr lang="en-US" sz="1347" dirty="0">
                <a:solidFill>
                  <a:srgbClr val="3B3631"/>
                </a:solidFill>
                <a:latin typeface="Georgia" pitchFamily="34" charset="0"/>
                <a:ea typeface="Georgia" pitchFamily="34" charset="-122"/>
                <a:cs typeface="Georgia" pitchFamily="34" charset="-120"/>
              </a:rPr>
              <a:t>Two terms differ only in one variable, plain in one and primed in the other. That variable disappears.</a:t>
            </a:r>
            <a:endParaRPr lang="en-US" sz="1347" dirty="0"/>
          </a:p>
        </p:txBody>
      </p:sp>
      <p:sp>
        <p:nvSpPr>
          <p:cNvPr id="9" name="Shape 6"/>
          <p:cNvSpPr/>
          <p:nvPr/>
        </p:nvSpPr>
        <p:spPr>
          <a:xfrm>
            <a:off x="6223000" y="4641652"/>
            <a:ext cx="5156200" cy="1200348"/>
          </a:xfrm>
          <a:prstGeom prst="roundRect">
            <a:avLst>
              <a:gd name="adj" fmla="val 6348"/>
            </a:avLst>
          </a:prstGeom>
          <a:solidFill>
            <a:srgbClr val="EFE8DD"/>
          </a:solidFill>
          <a:ln/>
        </p:spPr>
        <p:txBody>
          <a:bodyPr/>
          <a:lstStyle/>
          <a:p>
            <a:endParaRPr lang="en-US"/>
          </a:p>
        </p:txBody>
      </p:sp>
      <p:sp>
        <p:nvSpPr>
          <p:cNvPr id="10" name="Text 7"/>
          <p:cNvSpPr/>
          <p:nvPr/>
        </p:nvSpPr>
        <p:spPr>
          <a:xfrm>
            <a:off x="6451600" y="4844852"/>
            <a:ext cx="4839970" cy="267940"/>
          </a:xfrm>
          <a:prstGeom prst="rect">
            <a:avLst/>
          </a:prstGeom>
          <a:noFill/>
          <a:ln/>
        </p:spPr>
        <p:txBody>
          <a:bodyPr wrap="square" lIns="0" tIns="0" rIns="0" bIns="0" rtlCol="0" anchor="t">
            <a:normAutofit/>
          </a:bodyPr>
          <a:lstStyle/>
          <a:p>
            <a:pPr marL="0" indent="0" algn="l">
              <a:lnSpc>
                <a:spcPts val="1925"/>
              </a:lnSpc>
              <a:buNone/>
            </a:pPr>
            <a:r>
              <a:rPr lang="en-US" sz="1540" b="1" dirty="0">
                <a:solidFill>
                  <a:srgbClr val="1F1B18"/>
                </a:solidFill>
                <a:latin typeface="Georgia" pitchFamily="34" charset="0"/>
                <a:ea typeface="Georgia" pitchFamily="34" charset="-122"/>
                <a:cs typeface="Georgia" pitchFamily="34" charset="-120"/>
              </a:rPr>
              <a:t>16a: </a:t>
            </a:r>
            <a:r>
              <a:rPr lang="en-US" sz="1540" b="1" i="1" dirty="0">
                <a:solidFill>
                  <a:srgbClr val="1F1B18"/>
                </a:solidFill>
                <a:latin typeface="Georgia" pitchFamily="34" charset="0"/>
                <a:ea typeface="Georgia" pitchFamily="34" charset="-122"/>
                <a:cs typeface="Georgia" pitchFamily="34" charset="-120"/>
              </a:rPr>
              <a:t>x + x′y = x + y</a:t>
            </a:r>
            <a:endParaRPr lang="en-US" sz="1540" dirty="0"/>
          </a:p>
        </p:txBody>
      </p:sp>
      <p:sp>
        <p:nvSpPr>
          <p:cNvPr id="11" name="Text 8"/>
          <p:cNvSpPr/>
          <p:nvPr/>
        </p:nvSpPr>
        <p:spPr>
          <a:xfrm>
            <a:off x="6451600" y="5163592"/>
            <a:ext cx="4839970" cy="500608"/>
          </a:xfrm>
          <a:prstGeom prst="rect">
            <a:avLst/>
          </a:prstGeom>
          <a:noFill/>
          <a:ln/>
        </p:spPr>
        <p:txBody>
          <a:bodyPr wrap="square" lIns="0" tIns="0" rIns="0" bIns="0" rtlCol="0" anchor="t">
            <a:normAutofit/>
          </a:bodyPr>
          <a:lstStyle/>
          <a:p>
            <a:pPr marL="0" indent="0" algn="l">
              <a:lnSpc>
                <a:spcPts val="1886"/>
              </a:lnSpc>
              <a:buNone/>
            </a:pPr>
            <a:r>
              <a:rPr lang="en-US" sz="1347" dirty="0">
                <a:solidFill>
                  <a:srgbClr val="3B3631"/>
                </a:solidFill>
                <a:latin typeface="Georgia" pitchFamily="34" charset="0"/>
                <a:ea typeface="Georgia" pitchFamily="34" charset="-122"/>
                <a:cs typeface="Georgia" pitchFamily="34" charset="-120"/>
              </a:rPr>
              <a:t>The </a:t>
            </a:r>
            <a:r>
              <a:rPr lang="en-US" sz="1347" i="1" dirty="0">
                <a:solidFill>
                  <a:srgbClr val="3B3631"/>
                </a:solidFill>
                <a:latin typeface="Georgia" pitchFamily="34" charset="0"/>
                <a:ea typeface="Georgia" pitchFamily="34" charset="-122"/>
                <a:cs typeface="Georgia" pitchFamily="34" charset="-120"/>
              </a:rPr>
              <a:t>x′</a:t>
            </a:r>
            <a:r>
              <a:rPr lang="en-US" sz="1347" dirty="0">
                <a:solidFill>
                  <a:srgbClr val="3B3631"/>
                </a:solidFill>
                <a:latin typeface="Georgia" pitchFamily="34" charset="0"/>
                <a:ea typeface="Georgia" pitchFamily="34" charset="-122"/>
                <a:cs typeface="Georgia" pitchFamily="34" charset="-120"/>
              </a:rPr>
              <a:t> in the second term is redundant: whenever it matters, x already covers the case.</a:t>
            </a:r>
            <a:endParaRPr lang="en-US" sz="1347" dirty="0"/>
          </a:p>
        </p:txBody>
      </p:sp>
      <p:sp>
        <p:nvSpPr>
          <p:cNvPr id="12" name="Text 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13" name="Text 1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EE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5 · ALGEBRAIC SIMPLIFICATION</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Problem 5: proofs and minimisation</a:t>
            </a:r>
            <a:endParaRPr lang="en-US" sz="3200" dirty="0"/>
          </a:p>
        </p:txBody>
      </p:sp>
      <p:sp>
        <p:nvSpPr>
          <p:cNvPr id="4" name="Text 2"/>
          <p:cNvSpPr/>
          <p:nvPr/>
        </p:nvSpPr>
        <p:spPr>
          <a:xfrm>
            <a:off x="812800" y="19303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a.</a:t>
            </a:r>
            <a:r>
              <a:rPr lang="en-US" sz="1500" dirty="0">
                <a:solidFill>
                  <a:srgbClr val="3B3631"/>
                </a:solidFill>
                <a:latin typeface="Georgia" pitchFamily="34" charset="0"/>
                <a:ea typeface="Georgia" pitchFamily="34" charset="-122"/>
                <a:cs typeface="Georgia" pitchFamily="34" charset="-120"/>
              </a:rPr>
              <a:t> Prove </a:t>
            </a:r>
            <a:r>
              <a:rPr lang="en-US" sz="1500" i="1" dirty="0">
                <a:solidFill>
                  <a:srgbClr val="3B3631"/>
                </a:solidFill>
                <a:latin typeface="Georgia" pitchFamily="34" charset="0"/>
                <a:ea typeface="Georgia" pitchFamily="34" charset="-122"/>
                <a:cs typeface="Georgia" pitchFamily="34" charset="-120"/>
              </a:rPr>
              <a:t>(x₁ + x₃)(x₁′ + x₃′) = x₁x₃′ + x₁′x₃</a:t>
            </a:r>
            <a:r>
              <a:rPr lang="en-US" sz="1500" dirty="0">
                <a:solidFill>
                  <a:srgbClr val="3B3631"/>
                </a:solidFill>
                <a:latin typeface="Georgia" pitchFamily="34" charset="0"/>
                <a:ea typeface="Georgia" pitchFamily="34" charset="-122"/>
                <a:cs typeface="Georgia" pitchFamily="34" charset="-120"/>
              </a:rPr>
              <a:t>.</a:t>
            </a:r>
            <a:endParaRPr lang="en-US" sz="1500" dirty="0"/>
          </a:p>
        </p:txBody>
      </p:sp>
      <p:sp>
        <p:nvSpPr>
          <p:cNvPr id="5" name="Text 3"/>
          <p:cNvSpPr/>
          <p:nvPr/>
        </p:nvSpPr>
        <p:spPr>
          <a:xfrm>
            <a:off x="812800" y="23113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b.</a:t>
            </a:r>
            <a:r>
              <a:rPr lang="en-US" sz="1500" dirty="0">
                <a:solidFill>
                  <a:srgbClr val="3B3631"/>
                </a:solidFill>
                <a:latin typeface="Georgia" pitchFamily="34" charset="0"/>
                <a:ea typeface="Georgia" pitchFamily="34" charset="-122"/>
                <a:cs typeface="Georgia" pitchFamily="34" charset="-120"/>
              </a:rPr>
              <a:t> What familiar two-input function is this?</a:t>
            </a:r>
            <a:endParaRPr lang="en-US" sz="1500" dirty="0"/>
          </a:p>
        </p:txBody>
      </p:sp>
      <p:sp>
        <p:nvSpPr>
          <p:cNvPr id="6" name="Text 4"/>
          <p:cNvSpPr/>
          <p:nvPr/>
        </p:nvSpPr>
        <p:spPr>
          <a:xfrm>
            <a:off x="812800" y="26923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c.</a:t>
            </a:r>
            <a:r>
              <a:rPr lang="en-US" sz="1500" dirty="0">
                <a:solidFill>
                  <a:srgbClr val="3B3631"/>
                </a:solidFill>
                <a:latin typeface="Georgia" pitchFamily="34" charset="0"/>
                <a:ea typeface="Georgia" pitchFamily="34" charset="-122"/>
                <a:cs typeface="Georgia" pitchFamily="34" charset="-120"/>
              </a:rPr>
              <a:t> Prove by reducing each side: </a:t>
            </a:r>
            <a:r>
              <a:rPr lang="en-US" sz="1500" i="1" dirty="0">
                <a:solidFill>
                  <a:srgbClr val="3B3631"/>
                </a:solidFill>
                <a:latin typeface="Georgia" pitchFamily="34" charset="0"/>
                <a:ea typeface="Georgia" pitchFamily="34" charset="-122"/>
                <a:cs typeface="Georgia" pitchFamily="34" charset="-120"/>
              </a:rPr>
              <a:t>x₁x₃′ + x₂′x₃′ + x₁x₃ + x₂′x₃ = x₁′x₂′ + x₁x₂ + x₁x₂′</a:t>
            </a:r>
            <a:endParaRPr lang="en-US" sz="1500" dirty="0"/>
          </a:p>
        </p:txBody>
      </p:sp>
      <p:sp>
        <p:nvSpPr>
          <p:cNvPr id="7" name="Text 5"/>
          <p:cNvSpPr/>
          <p:nvPr/>
        </p:nvSpPr>
        <p:spPr>
          <a:xfrm>
            <a:off x="812800" y="30733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d.</a:t>
            </a:r>
            <a:r>
              <a:rPr lang="en-US" sz="1500" dirty="0">
                <a:solidFill>
                  <a:srgbClr val="3B3631"/>
                </a:solidFill>
                <a:latin typeface="Georgia" pitchFamily="34" charset="0"/>
                <a:ea typeface="Georgia" pitchFamily="34" charset="-122"/>
                <a:cs typeface="Georgia" pitchFamily="34" charset="-120"/>
              </a:rPr>
              <a:t> Minimise </a:t>
            </a:r>
            <a:r>
              <a:rPr lang="en-US" sz="1500" i="1" dirty="0">
                <a:solidFill>
                  <a:srgbClr val="3B3631"/>
                </a:solidFill>
                <a:latin typeface="Georgia" pitchFamily="34" charset="0"/>
                <a:ea typeface="Georgia" pitchFamily="34" charset="-122"/>
                <a:cs typeface="Georgia" pitchFamily="34" charset="-120"/>
              </a:rPr>
              <a:t>f = x₁x₂ + x₁′x₂′ + x₁′x₂</a:t>
            </a:r>
            <a:r>
              <a:rPr lang="en-US" sz="1500" dirty="0">
                <a:solidFill>
                  <a:srgbClr val="3B3631"/>
                </a:solidFill>
                <a:latin typeface="Georgia" pitchFamily="34" charset="0"/>
                <a:ea typeface="Georgia" pitchFamily="34" charset="-122"/>
                <a:cs typeface="Georgia" pitchFamily="34" charset="-120"/>
              </a:rPr>
              <a:t> and check with a truth table.</a:t>
            </a:r>
            <a:endParaRPr lang="en-US" sz="1500" dirty="0"/>
          </a:p>
        </p:txBody>
      </p:sp>
      <p:sp>
        <p:nvSpPr>
          <p:cNvPr id="8" name="Text 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9" name="Text 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EE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5 · ALGEBRAIC SIMPLIFICATION</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Problem 5: answers</a:t>
            </a:r>
            <a:endParaRPr lang="en-US" sz="3200" dirty="0"/>
          </a:p>
        </p:txBody>
      </p:sp>
      <p:sp>
        <p:nvSpPr>
          <p:cNvPr id="4" name="Text 2"/>
          <p:cNvSpPr/>
          <p:nvPr/>
        </p:nvSpPr>
        <p:spPr>
          <a:xfrm>
            <a:off x="812800" y="19303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a.</a:t>
            </a:r>
            <a:r>
              <a:rPr lang="en-US" sz="1500" dirty="0">
                <a:solidFill>
                  <a:srgbClr val="3B3631"/>
                </a:solidFill>
                <a:latin typeface="Georgia" pitchFamily="34" charset="0"/>
                <a:ea typeface="Georgia" pitchFamily="34" charset="-122"/>
                <a:cs typeface="Georgia" pitchFamily="34" charset="-120"/>
              </a:rPr>
              <a:t> Expand with 12a; </a:t>
            </a:r>
            <a:r>
              <a:rPr lang="en-US" sz="1500" i="1" dirty="0">
                <a:solidFill>
                  <a:srgbClr val="3B3631"/>
                </a:solidFill>
                <a:latin typeface="Georgia" pitchFamily="34" charset="0"/>
                <a:ea typeface="Georgia" pitchFamily="34" charset="-122"/>
                <a:cs typeface="Georgia" pitchFamily="34" charset="-120"/>
              </a:rPr>
              <a:t>x₁x₁′</a:t>
            </a:r>
            <a:r>
              <a:rPr lang="en-US" sz="1500" dirty="0">
                <a:solidFill>
                  <a:srgbClr val="3B3631"/>
                </a:solidFill>
                <a:latin typeface="Georgia" pitchFamily="34" charset="0"/>
                <a:ea typeface="Georgia" pitchFamily="34" charset="-122"/>
                <a:cs typeface="Georgia" pitchFamily="34" charset="-120"/>
              </a:rPr>
              <a:t> and </a:t>
            </a:r>
            <a:r>
              <a:rPr lang="en-US" sz="1500" i="1" dirty="0">
                <a:solidFill>
                  <a:srgbClr val="3B3631"/>
                </a:solidFill>
                <a:latin typeface="Georgia" pitchFamily="34" charset="0"/>
                <a:ea typeface="Georgia" pitchFamily="34" charset="-122"/>
                <a:cs typeface="Georgia" pitchFamily="34" charset="-120"/>
              </a:rPr>
              <a:t>x₃x₃′</a:t>
            </a:r>
            <a:r>
              <a:rPr lang="en-US" sz="1500" dirty="0">
                <a:solidFill>
                  <a:srgbClr val="3B3631"/>
                </a:solidFill>
                <a:latin typeface="Georgia" pitchFamily="34" charset="0"/>
                <a:ea typeface="Georgia" pitchFamily="34" charset="-122"/>
                <a:cs typeface="Georgia" pitchFamily="34" charset="-120"/>
              </a:rPr>
              <a:t> are 0, leaving </a:t>
            </a:r>
            <a:r>
              <a:rPr lang="en-US" sz="1500" i="1" dirty="0">
                <a:solidFill>
                  <a:srgbClr val="3B3631"/>
                </a:solidFill>
                <a:latin typeface="Georgia" pitchFamily="34" charset="0"/>
                <a:ea typeface="Georgia" pitchFamily="34" charset="-122"/>
                <a:cs typeface="Georgia" pitchFamily="34" charset="-120"/>
              </a:rPr>
              <a:t>x₁x₃′ + x₁′x₃</a:t>
            </a:r>
            <a:r>
              <a:rPr lang="en-US" sz="1500" dirty="0">
                <a:solidFill>
                  <a:srgbClr val="3B3631"/>
                </a:solidFill>
                <a:latin typeface="Georgia" pitchFamily="34" charset="0"/>
                <a:ea typeface="Georgia" pitchFamily="34" charset="-122"/>
                <a:cs typeface="Georgia" pitchFamily="34" charset="-120"/>
              </a:rPr>
              <a:t>.</a:t>
            </a:r>
            <a:endParaRPr lang="en-US" sz="1500" dirty="0"/>
          </a:p>
        </p:txBody>
      </p:sp>
      <p:sp>
        <p:nvSpPr>
          <p:cNvPr id="5" name="Text 3"/>
          <p:cNvSpPr/>
          <p:nvPr/>
        </p:nvSpPr>
        <p:spPr>
          <a:xfrm>
            <a:off x="812800" y="23367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b.</a:t>
            </a:r>
            <a:r>
              <a:rPr lang="en-US" sz="1500" dirty="0">
                <a:solidFill>
                  <a:srgbClr val="3B3631"/>
                </a:solidFill>
                <a:latin typeface="Georgia" pitchFamily="34" charset="0"/>
                <a:ea typeface="Georgia" pitchFamily="34" charset="-122"/>
                <a:cs typeface="Georgia" pitchFamily="34" charset="-120"/>
              </a:rPr>
              <a:t> XOR.</a:t>
            </a:r>
            <a:endParaRPr lang="en-US" sz="1500" dirty="0"/>
          </a:p>
        </p:txBody>
      </p:sp>
      <p:sp>
        <p:nvSpPr>
          <p:cNvPr id="6" name="Text 4"/>
          <p:cNvSpPr/>
          <p:nvPr/>
        </p:nvSpPr>
        <p:spPr>
          <a:xfrm>
            <a:off x="812800" y="27431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c.</a:t>
            </a:r>
            <a:r>
              <a:rPr lang="en-US" sz="1500" dirty="0">
                <a:solidFill>
                  <a:srgbClr val="3B3631"/>
                </a:solidFill>
                <a:latin typeface="Georgia" pitchFamily="34" charset="0"/>
                <a:ea typeface="Georgia" pitchFamily="34" charset="-122"/>
                <a:cs typeface="Georgia" pitchFamily="34" charset="-120"/>
              </a:rPr>
              <a:t> Both sides reduce to </a:t>
            </a:r>
            <a:r>
              <a:rPr lang="en-US" sz="1500" i="1" dirty="0">
                <a:solidFill>
                  <a:srgbClr val="3B3631"/>
                </a:solidFill>
                <a:latin typeface="Georgia" pitchFamily="34" charset="0"/>
                <a:ea typeface="Georgia" pitchFamily="34" charset="-122"/>
                <a:cs typeface="Georgia" pitchFamily="34" charset="-120"/>
              </a:rPr>
              <a:t>x₁ + x₂′</a:t>
            </a:r>
            <a:r>
              <a:rPr lang="en-US" sz="1500" dirty="0">
                <a:solidFill>
                  <a:srgbClr val="3B3631"/>
                </a:solidFill>
                <a:latin typeface="Georgia" pitchFamily="34" charset="0"/>
                <a:ea typeface="Georgia" pitchFamily="34" charset="-122"/>
                <a:cs typeface="Georgia" pitchFamily="34" charset="-120"/>
              </a:rPr>
              <a:t>. Left: pair the terms and factor (8b, 6a). Right: </a:t>
            </a:r>
            <a:r>
              <a:rPr lang="en-US" sz="1500" i="1" dirty="0">
                <a:solidFill>
                  <a:srgbClr val="3B3631"/>
                </a:solidFill>
                <a:latin typeface="Georgia" pitchFamily="34" charset="0"/>
                <a:ea typeface="Georgia" pitchFamily="34" charset="-122"/>
                <a:cs typeface="Georgia" pitchFamily="34" charset="-120"/>
              </a:rPr>
              <a:t>x₁x₂ + x₁x₂′ = x₁</a:t>
            </a:r>
            <a:r>
              <a:rPr lang="en-US" sz="1500" dirty="0">
                <a:solidFill>
                  <a:srgbClr val="3B3631"/>
                </a:solidFill>
                <a:latin typeface="Georgia" pitchFamily="34" charset="0"/>
                <a:ea typeface="Georgia" pitchFamily="34" charset="-122"/>
                <a:cs typeface="Georgia" pitchFamily="34" charset="-120"/>
              </a:rPr>
              <a:t>, then 16a.</a:t>
            </a:r>
            <a:endParaRPr lang="en-US" sz="1500" dirty="0"/>
          </a:p>
        </p:txBody>
      </p:sp>
      <p:sp>
        <p:nvSpPr>
          <p:cNvPr id="7" name="Text 5"/>
          <p:cNvSpPr/>
          <p:nvPr/>
        </p:nvSpPr>
        <p:spPr>
          <a:xfrm>
            <a:off x="812800" y="31495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d.</a:t>
            </a:r>
            <a:r>
              <a:rPr lang="en-US" sz="1500" dirty="0">
                <a:solidFill>
                  <a:srgbClr val="3B3631"/>
                </a:solidFill>
                <a:latin typeface="Georgia" pitchFamily="34" charset="0"/>
                <a:ea typeface="Georgia" pitchFamily="34" charset="-122"/>
                <a:cs typeface="Georgia" pitchFamily="34" charset="-120"/>
              </a:rPr>
              <a:t> </a:t>
            </a:r>
            <a:r>
              <a:rPr lang="en-US" sz="1500" i="1" dirty="0">
                <a:solidFill>
                  <a:srgbClr val="3B3631"/>
                </a:solidFill>
                <a:latin typeface="Georgia" pitchFamily="34" charset="0"/>
                <a:ea typeface="Georgia" pitchFamily="34" charset="-122"/>
                <a:cs typeface="Georgia" pitchFamily="34" charset="-120"/>
              </a:rPr>
              <a:t>f = x₂ + x₁′</a:t>
            </a:r>
            <a:r>
              <a:rPr lang="en-US" sz="1500" dirty="0">
                <a:solidFill>
                  <a:srgbClr val="3B3631"/>
                </a:solidFill>
                <a:latin typeface="Georgia" pitchFamily="34" charset="0"/>
                <a:ea typeface="Georgia" pitchFamily="34" charset="-122"/>
                <a:cs typeface="Georgia" pitchFamily="34" charset="-120"/>
              </a:rPr>
              <a:t>, by 14a then 16a (or duplicate </a:t>
            </a:r>
            <a:r>
              <a:rPr lang="en-US" sz="1500" i="1" dirty="0">
                <a:solidFill>
                  <a:srgbClr val="3B3631"/>
                </a:solidFill>
                <a:latin typeface="Georgia" pitchFamily="34" charset="0"/>
                <a:ea typeface="Georgia" pitchFamily="34" charset="-122"/>
                <a:cs typeface="Georgia" pitchFamily="34" charset="-120"/>
              </a:rPr>
              <a:t>x₁′x₂</a:t>
            </a:r>
            <a:r>
              <a:rPr lang="en-US" sz="1500" dirty="0">
                <a:solidFill>
                  <a:srgbClr val="3B3631"/>
                </a:solidFill>
                <a:latin typeface="Georgia" pitchFamily="34" charset="0"/>
                <a:ea typeface="Georgia" pitchFamily="34" charset="-122"/>
                <a:cs typeface="Georgia" pitchFamily="34" charset="-120"/>
              </a:rPr>
              <a:t> with 7b). It is 0 only at </a:t>
            </a:r>
            <a:r>
              <a:rPr lang="en-US" sz="1500" i="1" dirty="0">
                <a:solidFill>
                  <a:srgbClr val="3B3631"/>
                </a:solidFill>
                <a:latin typeface="Georgia" pitchFamily="34" charset="0"/>
                <a:ea typeface="Georgia" pitchFamily="34" charset="-122"/>
                <a:cs typeface="Georgia" pitchFamily="34" charset="-120"/>
              </a:rPr>
              <a:t>x₁ = 1</a:t>
            </a:r>
            <a:r>
              <a:rPr lang="en-US" sz="1500" dirty="0">
                <a:solidFill>
                  <a:srgbClr val="3B3631"/>
                </a:solidFill>
                <a:latin typeface="Georgia" pitchFamily="34" charset="0"/>
                <a:ea typeface="Georgia" pitchFamily="34" charset="-122"/>
                <a:cs typeface="Georgia" pitchFamily="34" charset="-120"/>
              </a:rPr>
              <a:t>, </a:t>
            </a:r>
            <a:r>
              <a:rPr lang="en-US" sz="1500" i="1" dirty="0">
                <a:solidFill>
                  <a:srgbClr val="3B3631"/>
                </a:solidFill>
                <a:latin typeface="Georgia" pitchFamily="34" charset="0"/>
                <a:ea typeface="Georgia" pitchFamily="34" charset="-122"/>
                <a:cs typeface="Georgia" pitchFamily="34" charset="-120"/>
              </a:rPr>
              <a:t>x₂ = 0</a:t>
            </a:r>
            <a:r>
              <a:rPr lang="en-US" sz="1500" dirty="0">
                <a:solidFill>
                  <a:srgbClr val="3B3631"/>
                </a:solidFill>
                <a:latin typeface="Georgia" pitchFamily="34" charset="0"/>
                <a:ea typeface="Georgia" pitchFamily="34" charset="-122"/>
                <a:cs typeface="Georgia" pitchFamily="34" charset="-120"/>
              </a:rPr>
              <a:t>.</a:t>
            </a:r>
            <a:endParaRPr lang="en-US" sz="1500" dirty="0"/>
          </a:p>
        </p:txBody>
      </p:sp>
      <p:sp>
        <p:nvSpPr>
          <p:cNvPr id="8" name="Text 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9" name="Text 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6 · SOP AND POS</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From a truth table to an expression</a:t>
            </a:r>
            <a:endParaRPr lang="en-US" sz="3200" dirty="0"/>
          </a:p>
        </p:txBody>
      </p:sp>
      <p:sp>
        <p:nvSpPr>
          <p:cNvPr id="4" name="Text 2"/>
          <p:cNvSpPr/>
          <p:nvPr/>
        </p:nvSpPr>
        <p:spPr>
          <a:xfrm>
            <a:off x="812800" y="193035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F1B18"/>
                </a:solidFill>
                <a:latin typeface="Georgia" pitchFamily="34" charset="0"/>
                <a:ea typeface="Georgia" pitchFamily="34" charset="-122"/>
                <a:cs typeface="Georgia" pitchFamily="34" charset="-120"/>
              </a:rPr>
              <a:t>So far: expression → table. Design goes the other way: table → expression → circuit.</a:t>
            </a:r>
            <a:endParaRPr lang="en-US" sz="1600" dirty="0"/>
          </a:p>
        </p:txBody>
      </p:sp>
      <p:sp>
        <p:nvSpPr>
          <p:cNvPr id="5" name="Shape 3"/>
          <p:cNvSpPr/>
          <p:nvPr/>
        </p:nvSpPr>
        <p:spPr>
          <a:xfrm>
            <a:off x="812800" y="2468811"/>
            <a:ext cx="5156200" cy="1234380"/>
          </a:xfrm>
          <a:prstGeom prst="roundRect">
            <a:avLst>
              <a:gd name="adj" fmla="val 6173"/>
            </a:avLst>
          </a:prstGeom>
          <a:solidFill>
            <a:srgbClr val="EFE8DD"/>
          </a:solidFill>
          <a:ln/>
        </p:spPr>
        <p:txBody>
          <a:bodyPr/>
          <a:lstStyle/>
          <a:p>
            <a:endParaRPr lang="en-US"/>
          </a:p>
        </p:txBody>
      </p:sp>
      <p:sp>
        <p:nvSpPr>
          <p:cNvPr id="6" name="Text 4"/>
          <p:cNvSpPr/>
          <p:nvPr/>
        </p:nvSpPr>
        <p:spPr>
          <a:xfrm>
            <a:off x="1041400" y="2672011"/>
            <a:ext cx="4839970"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F1B18"/>
                </a:solidFill>
                <a:latin typeface="Georgia" pitchFamily="34" charset="0"/>
                <a:ea typeface="Georgia" pitchFamily="34" charset="-122"/>
                <a:cs typeface="Georgia" pitchFamily="34" charset="-120"/>
              </a:rPr>
              <a:t>SOP: sum of products</a:t>
            </a:r>
            <a:endParaRPr lang="en-US" sz="1600" dirty="0"/>
          </a:p>
        </p:txBody>
      </p:sp>
      <p:sp>
        <p:nvSpPr>
          <p:cNvPr id="7" name="Text 5"/>
          <p:cNvSpPr/>
          <p:nvPr/>
        </p:nvSpPr>
        <p:spPr>
          <a:xfrm>
            <a:off x="1041400" y="3002211"/>
            <a:ext cx="4839970"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3631"/>
                </a:solidFill>
                <a:latin typeface="Georgia" pitchFamily="34" charset="0"/>
                <a:ea typeface="Georgia" pitchFamily="34" charset="-122"/>
                <a:cs typeface="Georgia" pitchFamily="34" charset="-120"/>
              </a:rPr>
              <a:t>One product per row where the output is 1. A variable is plain if it is 1 in that row, primed if it is 0. OR the products.</a:t>
            </a:r>
            <a:endParaRPr lang="en-US" sz="1400" dirty="0"/>
          </a:p>
        </p:txBody>
      </p:sp>
      <p:sp>
        <p:nvSpPr>
          <p:cNvPr id="8" name="Shape 6"/>
          <p:cNvSpPr/>
          <p:nvPr/>
        </p:nvSpPr>
        <p:spPr>
          <a:xfrm>
            <a:off x="6223000" y="2468811"/>
            <a:ext cx="5156200" cy="1234380"/>
          </a:xfrm>
          <a:prstGeom prst="roundRect">
            <a:avLst>
              <a:gd name="adj" fmla="val 6173"/>
            </a:avLst>
          </a:prstGeom>
          <a:solidFill>
            <a:srgbClr val="EFE8DD"/>
          </a:solidFill>
          <a:ln/>
        </p:spPr>
        <p:txBody>
          <a:bodyPr/>
          <a:lstStyle/>
          <a:p>
            <a:endParaRPr lang="en-US"/>
          </a:p>
        </p:txBody>
      </p:sp>
      <p:sp>
        <p:nvSpPr>
          <p:cNvPr id="9" name="Text 7"/>
          <p:cNvSpPr/>
          <p:nvPr/>
        </p:nvSpPr>
        <p:spPr>
          <a:xfrm>
            <a:off x="6451600" y="2672011"/>
            <a:ext cx="4839970"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F1B18"/>
                </a:solidFill>
                <a:latin typeface="Georgia" pitchFamily="34" charset="0"/>
                <a:ea typeface="Georgia" pitchFamily="34" charset="-122"/>
                <a:cs typeface="Georgia" pitchFamily="34" charset="-120"/>
              </a:rPr>
              <a:t>POS: product of sums</a:t>
            </a:r>
            <a:endParaRPr lang="en-US" sz="1600" dirty="0"/>
          </a:p>
        </p:txBody>
      </p:sp>
      <p:sp>
        <p:nvSpPr>
          <p:cNvPr id="10" name="Text 8"/>
          <p:cNvSpPr/>
          <p:nvPr/>
        </p:nvSpPr>
        <p:spPr>
          <a:xfrm>
            <a:off x="6451600" y="3002211"/>
            <a:ext cx="4839970"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3631"/>
                </a:solidFill>
                <a:latin typeface="Georgia" pitchFamily="34" charset="0"/>
                <a:ea typeface="Georgia" pitchFamily="34" charset="-122"/>
                <a:cs typeface="Georgia" pitchFamily="34" charset="-120"/>
              </a:rPr>
              <a:t>One sum per row where the output is 0. A variable is plain if it is 0 in that row, primed if it is 1. AND the sums.</a:t>
            </a:r>
            <a:endParaRPr lang="en-US" sz="1400" dirty="0"/>
          </a:p>
        </p:txBody>
      </p:sp>
      <p:sp>
        <p:nvSpPr>
          <p:cNvPr id="11" name="Text 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12" name="Text 1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6 · SOP AND POS</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One table, two expressions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930350"/>
          <a:ext cx="5207000" cy="2330450"/>
        </p:xfrm>
        <a:graphic>
          <a:graphicData uri="http://schemas.openxmlformats.org/drawingml/2006/table">
            <a:tbl>
              <a:tblPr/>
              <a:tblGrid>
                <a:gridCol w="1041400">
                  <a:extLst>
                    <a:ext uri="{9D8B030D-6E8A-4147-A177-3AD203B41FA5}">
                      <a16:colId xmlns:a16="http://schemas.microsoft.com/office/drawing/2014/main" val="20000"/>
                    </a:ext>
                  </a:extLst>
                </a:gridCol>
                <a:gridCol w="1041400">
                  <a:extLst>
                    <a:ext uri="{9D8B030D-6E8A-4147-A177-3AD203B41FA5}">
                      <a16:colId xmlns:a16="http://schemas.microsoft.com/office/drawing/2014/main" val="20001"/>
                    </a:ext>
                  </a:extLst>
                </a:gridCol>
                <a:gridCol w="1041400">
                  <a:extLst>
                    <a:ext uri="{9D8B030D-6E8A-4147-A177-3AD203B41FA5}">
                      <a16:colId xmlns:a16="http://schemas.microsoft.com/office/drawing/2014/main" val="20002"/>
                    </a:ext>
                  </a:extLst>
                </a:gridCol>
                <a:gridCol w="1041400">
                  <a:extLst>
                    <a:ext uri="{9D8B030D-6E8A-4147-A177-3AD203B41FA5}">
                      <a16:colId xmlns:a16="http://schemas.microsoft.com/office/drawing/2014/main" val="20003"/>
                    </a:ext>
                  </a:extLst>
                </a:gridCol>
                <a:gridCol w="1041400">
                  <a:extLst>
                    <a:ext uri="{9D8B030D-6E8A-4147-A177-3AD203B41FA5}">
                      <a16:colId xmlns:a16="http://schemas.microsoft.com/office/drawing/2014/main" val="20004"/>
                    </a:ext>
                  </a:extLst>
                </a:gridCol>
              </a:tblGrid>
              <a:tr h="679450">
                <a:tc>
                  <a:txBody>
                    <a:bodyPr/>
                    <a:lstStyle/>
                    <a:p>
                      <a:pPr marL="0" indent="0" algn="ctr">
                        <a:lnSpc>
                          <a:spcPts val="2100"/>
                        </a:lnSpc>
                        <a:buNone/>
                      </a:pPr>
                      <a:r>
                        <a:rPr lang="en-US" sz="1500" b="1" dirty="0">
                          <a:solidFill>
                            <a:srgbClr val="3B3631"/>
                          </a:solidFill>
                          <a:latin typeface="Georgia" pitchFamily="34" charset="0"/>
                          <a:ea typeface="Georgia" pitchFamily="34" charset="-122"/>
                          <a:cs typeface="Georgia" pitchFamily="34" charset="-120"/>
                        </a:rPr>
                        <a:t>A</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2100"/>
                        </a:lnSpc>
                        <a:buNone/>
                      </a:pPr>
                      <a:r>
                        <a:rPr lang="en-US" sz="1500" b="1" dirty="0">
                          <a:solidFill>
                            <a:srgbClr val="3B3631"/>
                          </a:solidFill>
                          <a:latin typeface="Georgia" pitchFamily="34" charset="0"/>
                          <a:ea typeface="Georgia" pitchFamily="34" charset="-122"/>
                          <a:cs typeface="Georgia" pitchFamily="34" charset="-120"/>
                        </a:rPr>
                        <a:t>B</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2100"/>
                        </a:lnSpc>
                        <a:buNone/>
                      </a:pPr>
                      <a:r>
                        <a:rPr lang="en-US" sz="1500" b="1" dirty="0">
                          <a:solidFill>
                            <a:srgbClr val="3B3631"/>
                          </a:solidFill>
                          <a:latin typeface="Georgia" pitchFamily="34" charset="0"/>
                          <a:ea typeface="Georgia" pitchFamily="34" charset="-122"/>
                          <a:cs typeface="Georgia" pitchFamily="34" charset="-120"/>
                        </a:rPr>
                        <a:t>F</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2100"/>
                        </a:lnSpc>
                        <a:buNone/>
                      </a:pPr>
                      <a:r>
                        <a:rPr lang="en-US" sz="1500" b="1" dirty="0">
                          <a:solidFill>
                            <a:srgbClr val="3B3631"/>
                          </a:solidFill>
                          <a:latin typeface="Georgia" pitchFamily="34" charset="0"/>
                          <a:ea typeface="Georgia" pitchFamily="34" charset="-122"/>
                          <a:cs typeface="Georgia" pitchFamily="34" charset="-120"/>
                        </a:rPr>
                        <a:t>SOP term</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2100"/>
                        </a:lnSpc>
                        <a:buNone/>
                      </a:pPr>
                      <a:r>
                        <a:rPr lang="en-US" sz="1500" b="1" dirty="0">
                          <a:solidFill>
                            <a:srgbClr val="3B3631"/>
                          </a:solidFill>
                          <a:latin typeface="Georgia" pitchFamily="34" charset="0"/>
                          <a:ea typeface="Georgia" pitchFamily="34" charset="-122"/>
                          <a:cs typeface="Georgia" pitchFamily="34" charset="-120"/>
                        </a:rPr>
                        <a:t>POS term</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extLst>
                  <a:ext uri="{0D108BD9-81ED-4DB2-BD59-A6C34878D82A}">
                    <a16:rowId xmlns:a16="http://schemas.microsoft.com/office/drawing/2014/main" val="10000"/>
                  </a:ext>
                </a:extLst>
              </a:tr>
              <a:tr h="412750">
                <a:tc>
                  <a:txBody>
                    <a:bodyPr/>
                    <a:lstStyle/>
                    <a:p>
                      <a:pPr marL="0" indent="0" algn="ctr">
                        <a:lnSpc>
                          <a:spcPts val="2100"/>
                        </a:lnSpc>
                        <a:buNone/>
                      </a:pPr>
                      <a:r>
                        <a:rPr lang="en-US" sz="1500" dirty="0">
                          <a:solidFill>
                            <a:srgbClr val="3B3631"/>
                          </a:solidFill>
                          <a:latin typeface="Georgia" pitchFamily="34" charset="0"/>
                          <a:ea typeface="Georgia" pitchFamily="34" charset="-122"/>
                          <a:cs typeface="Georgia" pitchFamily="34" charset="-120"/>
                        </a:rPr>
                        <a:t>0</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2100"/>
                        </a:lnSpc>
                        <a:buNone/>
                      </a:pPr>
                      <a:r>
                        <a:rPr lang="en-US" sz="1500" dirty="0">
                          <a:solidFill>
                            <a:srgbClr val="3B3631"/>
                          </a:solidFill>
                          <a:latin typeface="Georgia" pitchFamily="34" charset="0"/>
                          <a:ea typeface="Georgia" pitchFamily="34" charset="-122"/>
                          <a:cs typeface="Georgia" pitchFamily="34" charset="-120"/>
                        </a:rPr>
                        <a:t>0</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2100"/>
                        </a:lnSpc>
                        <a:buNone/>
                      </a:pPr>
                      <a:r>
                        <a:rPr lang="en-US" sz="1500" dirty="0">
                          <a:solidFill>
                            <a:srgbClr val="3B3631"/>
                          </a:solidFill>
                          <a:latin typeface="Georgia" pitchFamily="34" charset="0"/>
                          <a:ea typeface="Georgia" pitchFamily="34" charset="-122"/>
                          <a:cs typeface="Georgia" pitchFamily="34" charset="-120"/>
                        </a:rPr>
                        <a:t>1</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2100"/>
                        </a:lnSpc>
                        <a:buNone/>
                      </a:pPr>
                      <a:r>
                        <a:rPr lang="en-US" sz="1500" dirty="0">
                          <a:solidFill>
                            <a:srgbClr val="3B3631"/>
                          </a:solidFill>
                          <a:latin typeface="Georgia" pitchFamily="34" charset="0"/>
                          <a:ea typeface="Georgia" pitchFamily="34" charset="-122"/>
                          <a:cs typeface="Georgia" pitchFamily="34" charset="-120"/>
                        </a:rPr>
                        <a:t>A′B′</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2100"/>
                        </a:lnSpc>
                        <a:buNone/>
                      </a:pP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gn="ctr">
                        <a:lnSpc>
                          <a:spcPts val="2100"/>
                        </a:lnSpc>
                        <a:buNone/>
                      </a:pPr>
                      <a:r>
                        <a:rPr lang="en-US" sz="1500" dirty="0">
                          <a:solidFill>
                            <a:srgbClr val="3B3631"/>
                          </a:solidFill>
                          <a:latin typeface="Georgia" pitchFamily="34" charset="0"/>
                          <a:ea typeface="Georgia" pitchFamily="34" charset="-122"/>
                          <a:cs typeface="Georgia" pitchFamily="34" charset="-120"/>
                        </a:rPr>
                        <a:t>0</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2100"/>
                        </a:lnSpc>
                        <a:buNone/>
                      </a:pPr>
                      <a:r>
                        <a:rPr lang="en-US" sz="1500" dirty="0">
                          <a:solidFill>
                            <a:srgbClr val="3B3631"/>
                          </a:solidFill>
                          <a:latin typeface="Georgia" pitchFamily="34" charset="0"/>
                          <a:ea typeface="Georgia" pitchFamily="34" charset="-122"/>
                          <a:cs typeface="Georgia" pitchFamily="34" charset="-120"/>
                        </a:rPr>
                        <a:t>1</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2100"/>
                        </a:lnSpc>
                        <a:buNone/>
                      </a:pPr>
                      <a:r>
                        <a:rPr lang="en-US" sz="1500" dirty="0">
                          <a:solidFill>
                            <a:srgbClr val="3B3631"/>
                          </a:solidFill>
                          <a:latin typeface="Georgia" pitchFamily="34" charset="0"/>
                          <a:ea typeface="Georgia" pitchFamily="34" charset="-122"/>
                          <a:cs typeface="Georgia" pitchFamily="34" charset="-120"/>
                        </a:rPr>
                        <a:t>0</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2100"/>
                        </a:lnSpc>
                        <a:buNone/>
                      </a:pP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2100"/>
                        </a:lnSpc>
                        <a:buNone/>
                      </a:pPr>
                      <a:r>
                        <a:rPr lang="en-US" sz="1500" dirty="0">
                          <a:solidFill>
                            <a:srgbClr val="3B3631"/>
                          </a:solidFill>
                          <a:latin typeface="Georgia" pitchFamily="34" charset="0"/>
                          <a:ea typeface="Georgia" pitchFamily="34" charset="-122"/>
                          <a:cs typeface="Georgia" pitchFamily="34" charset="-120"/>
                        </a:rPr>
                        <a:t>A + B′</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gn="ctr">
                        <a:lnSpc>
                          <a:spcPts val="2100"/>
                        </a:lnSpc>
                        <a:buNone/>
                      </a:pPr>
                      <a:r>
                        <a:rPr lang="en-US" sz="1500" dirty="0">
                          <a:solidFill>
                            <a:srgbClr val="3B3631"/>
                          </a:solidFill>
                          <a:latin typeface="Georgia" pitchFamily="34" charset="0"/>
                          <a:ea typeface="Georgia" pitchFamily="34" charset="-122"/>
                          <a:cs typeface="Georgia" pitchFamily="34" charset="-120"/>
                        </a:rPr>
                        <a:t>1</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2100"/>
                        </a:lnSpc>
                        <a:buNone/>
                      </a:pPr>
                      <a:r>
                        <a:rPr lang="en-US" sz="1500" dirty="0">
                          <a:solidFill>
                            <a:srgbClr val="3B3631"/>
                          </a:solidFill>
                          <a:latin typeface="Georgia" pitchFamily="34" charset="0"/>
                          <a:ea typeface="Georgia" pitchFamily="34" charset="-122"/>
                          <a:cs typeface="Georgia" pitchFamily="34" charset="-120"/>
                        </a:rPr>
                        <a:t>0</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2100"/>
                        </a:lnSpc>
                        <a:buNone/>
                      </a:pPr>
                      <a:r>
                        <a:rPr lang="en-US" sz="1500" dirty="0">
                          <a:solidFill>
                            <a:srgbClr val="3B3631"/>
                          </a:solidFill>
                          <a:latin typeface="Georgia" pitchFamily="34" charset="0"/>
                          <a:ea typeface="Georgia" pitchFamily="34" charset="-122"/>
                          <a:cs typeface="Georgia" pitchFamily="34" charset="-120"/>
                        </a:rPr>
                        <a:t>0</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2100"/>
                        </a:lnSpc>
                        <a:buNone/>
                      </a:pP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2100"/>
                        </a:lnSpc>
                        <a:buNone/>
                      </a:pPr>
                      <a:r>
                        <a:rPr lang="en-US" sz="1500" dirty="0">
                          <a:solidFill>
                            <a:srgbClr val="3B3631"/>
                          </a:solidFill>
                          <a:latin typeface="Georgia" pitchFamily="34" charset="0"/>
                          <a:ea typeface="Georgia" pitchFamily="34" charset="-122"/>
                          <a:cs typeface="Georgia" pitchFamily="34" charset="-120"/>
                        </a:rPr>
                        <a:t>A′ + B</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gn="ctr">
                        <a:lnSpc>
                          <a:spcPts val="2100"/>
                        </a:lnSpc>
                        <a:buNone/>
                      </a:pPr>
                      <a:r>
                        <a:rPr lang="en-US" sz="1500" dirty="0">
                          <a:solidFill>
                            <a:srgbClr val="3B3631"/>
                          </a:solidFill>
                          <a:latin typeface="Georgia" pitchFamily="34" charset="0"/>
                          <a:ea typeface="Georgia" pitchFamily="34" charset="-122"/>
                          <a:cs typeface="Georgia" pitchFamily="34" charset="-120"/>
                        </a:rPr>
                        <a:t>1</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2100"/>
                        </a:lnSpc>
                        <a:buNone/>
                      </a:pPr>
                      <a:r>
                        <a:rPr lang="en-US" sz="1500" dirty="0">
                          <a:solidFill>
                            <a:srgbClr val="3B3631"/>
                          </a:solidFill>
                          <a:latin typeface="Georgia" pitchFamily="34" charset="0"/>
                          <a:ea typeface="Georgia" pitchFamily="34" charset="-122"/>
                          <a:cs typeface="Georgia" pitchFamily="34" charset="-120"/>
                        </a:rPr>
                        <a:t>1</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2100"/>
                        </a:lnSpc>
                        <a:buNone/>
                      </a:pPr>
                      <a:r>
                        <a:rPr lang="en-US" sz="1500" dirty="0">
                          <a:solidFill>
                            <a:srgbClr val="3B3631"/>
                          </a:solidFill>
                          <a:latin typeface="Georgia" pitchFamily="34" charset="0"/>
                          <a:ea typeface="Georgia" pitchFamily="34" charset="-122"/>
                          <a:cs typeface="Georgia" pitchFamily="34" charset="-120"/>
                        </a:rPr>
                        <a:t>1</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2100"/>
                        </a:lnSpc>
                        <a:buNone/>
                      </a:pPr>
                      <a:r>
                        <a:rPr lang="en-US" sz="1500" dirty="0">
                          <a:solidFill>
                            <a:srgbClr val="3B3631"/>
                          </a:solidFill>
                          <a:latin typeface="Georgia" pitchFamily="34" charset="0"/>
                          <a:ea typeface="Georgia" pitchFamily="34" charset="-122"/>
                          <a:cs typeface="Georgia" pitchFamily="34" charset="-120"/>
                        </a:rPr>
                        <a:t>AB</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2100"/>
                        </a:lnSpc>
                        <a:buNone/>
                      </a:pP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6426200" y="1930350"/>
            <a:ext cx="4953000" cy="985490"/>
          </a:xfrm>
          <a:prstGeom prst="roundRect">
            <a:avLst>
              <a:gd name="adj" fmla="val 7732"/>
            </a:avLst>
          </a:prstGeom>
          <a:solidFill>
            <a:srgbClr val="EFE8DD"/>
          </a:solidFill>
          <a:ln/>
        </p:spPr>
        <p:txBody>
          <a:bodyPr/>
          <a:lstStyle/>
          <a:p>
            <a:endParaRPr lang="en-US"/>
          </a:p>
        </p:txBody>
      </p:sp>
      <p:sp>
        <p:nvSpPr>
          <p:cNvPr id="6" name="Text 3"/>
          <p:cNvSpPr/>
          <p:nvPr/>
        </p:nvSpPr>
        <p:spPr>
          <a:xfrm>
            <a:off x="6654800" y="2133550"/>
            <a:ext cx="463067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F1B18"/>
                </a:solidFill>
                <a:latin typeface="Georgia" pitchFamily="34" charset="0"/>
                <a:ea typeface="Georgia" pitchFamily="34" charset="-122"/>
                <a:cs typeface="Georgia" pitchFamily="34" charset="-120"/>
              </a:rPr>
              <a:t>SOP</a:t>
            </a:r>
            <a:endParaRPr lang="en-US" sz="1600" dirty="0"/>
          </a:p>
        </p:txBody>
      </p:sp>
      <p:sp>
        <p:nvSpPr>
          <p:cNvPr id="7" name="Text 4"/>
          <p:cNvSpPr/>
          <p:nvPr/>
        </p:nvSpPr>
        <p:spPr>
          <a:xfrm>
            <a:off x="6654800" y="2463750"/>
            <a:ext cx="4630674" cy="274290"/>
          </a:xfrm>
          <a:prstGeom prst="rect">
            <a:avLst/>
          </a:prstGeom>
          <a:noFill/>
          <a:ln/>
        </p:spPr>
        <p:txBody>
          <a:bodyPr wrap="square" lIns="0" tIns="0" rIns="0" bIns="0" rtlCol="0" anchor="t">
            <a:normAutofit/>
          </a:bodyPr>
          <a:lstStyle/>
          <a:p>
            <a:pPr marL="0" indent="0" algn="l">
              <a:lnSpc>
                <a:spcPts val="1960"/>
              </a:lnSpc>
              <a:buNone/>
            </a:pPr>
            <a:r>
              <a:rPr lang="en-US" sz="1400" i="1" dirty="0">
                <a:solidFill>
                  <a:srgbClr val="3B3631"/>
                </a:solidFill>
                <a:latin typeface="Georgia" pitchFamily="34" charset="0"/>
                <a:ea typeface="Georgia" pitchFamily="34" charset="-122"/>
                <a:cs typeface="Georgia" pitchFamily="34" charset="-120"/>
              </a:rPr>
              <a:t>F = A′B′ + AB</a:t>
            </a:r>
            <a:r>
              <a:rPr lang="en-US" sz="1400" dirty="0">
                <a:solidFill>
                  <a:srgbClr val="3B3631"/>
                </a:solidFill>
                <a:latin typeface="Georgia" pitchFamily="34" charset="0"/>
                <a:ea typeface="Georgia" pitchFamily="34" charset="-122"/>
                <a:cs typeface="Georgia" pitchFamily="34" charset="-120"/>
              </a:rPr>
              <a:t>: ANDs feeding an OR</a:t>
            </a:r>
            <a:endParaRPr lang="en-US" sz="1400" dirty="0"/>
          </a:p>
        </p:txBody>
      </p:sp>
      <p:sp>
        <p:nvSpPr>
          <p:cNvPr id="8" name="Shape 5"/>
          <p:cNvSpPr/>
          <p:nvPr/>
        </p:nvSpPr>
        <p:spPr>
          <a:xfrm>
            <a:off x="6426200" y="3042841"/>
            <a:ext cx="4953000" cy="985490"/>
          </a:xfrm>
          <a:prstGeom prst="roundRect">
            <a:avLst>
              <a:gd name="adj" fmla="val 7732"/>
            </a:avLst>
          </a:prstGeom>
          <a:solidFill>
            <a:srgbClr val="EFE8DD"/>
          </a:solidFill>
          <a:ln/>
        </p:spPr>
        <p:txBody>
          <a:bodyPr/>
          <a:lstStyle/>
          <a:p>
            <a:endParaRPr lang="en-US"/>
          </a:p>
        </p:txBody>
      </p:sp>
      <p:sp>
        <p:nvSpPr>
          <p:cNvPr id="9" name="Text 6"/>
          <p:cNvSpPr/>
          <p:nvPr/>
        </p:nvSpPr>
        <p:spPr>
          <a:xfrm>
            <a:off x="6654800" y="3246041"/>
            <a:ext cx="4630674"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F1B18"/>
                </a:solidFill>
                <a:latin typeface="Georgia" pitchFamily="34" charset="0"/>
                <a:ea typeface="Georgia" pitchFamily="34" charset="-122"/>
                <a:cs typeface="Georgia" pitchFamily="34" charset="-120"/>
              </a:rPr>
              <a:t>POS</a:t>
            </a:r>
            <a:endParaRPr lang="en-US" sz="1600" dirty="0"/>
          </a:p>
        </p:txBody>
      </p:sp>
      <p:sp>
        <p:nvSpPr>
          <p:cNvPr id="10" name="Text 7"/>
          <p:cNvSpPr/>
          <p:nvPr/>
        </p:nvSpPr>
        <p:spPr>
          <a:xfrm>
            <a:off x="6654800" y="3576241"/>
            <a:ext cx="4630674" cy="274290"/>
          </a:xfrm>
          <a:prstGeom prst="rect">
            <a:avLst/>
          </a:prstGeom>
          <a:noFill/>
          <a:ln/>
        </p:spPr>
        <p:txBody>
          <a:bodyPr wrap="square" lIns="0" tIns="0" rIns="0" bIns="0" rtlCol="0" anchor="t">
            <a:normAutofit/>
          </a:bodyPr>
          <a:lstStyle/>
          <a:p>
            <a:pPr marL="0" indent="0" algn="l">
              <a:lnSpc>
                <a:spcPts val="1960"/>
              </a:lnSpc>
              <a:buNone/>
            </a:pPr>
            <a:r>
              <a:rPr lang="en-US" sz="1400" i="1" dirty="0">
                <a:solidFill>
                  <a:srgbClr val="3B3631"/>
                </a:solidFill>
                <a:latin typeface="Georgia" pitchFamily="34" charset="0"/>
                <a:ea typeface="Georgia" pitchFamily="34" charset="-122"/>
                <a:cs typeface="Georgia" pitchFamily="34" charset="-120"/>
              </a:rPr>
              <a:t>F = (A + B′)(A′ + B)</a:t>
            </a:r>
            <a:r>
              <a:rPr lang="en-US" sz="1400" dirty="0">
                <a:solidFill>
                  <a:srgbClr val="3B3631"/>
                </a:solidFill>
                <a:latin typeface="Georgia" pitchFamily="34" charset="0"/>
                <a:ea typeface="Georgia" pitchFamily="34" charset="-122"/>
                <a:cs typeface="Georgia" pitchFamily="34" charset="-120"/>
              </a:rPr>
              <a:t>: ORs feeding an AND</a:t>
            </a:r>
            <a:endParaRPr lang="en-US" sz="1400" dirty="0"/>
          </a:p>
        </p:txBody>
      </p:sp>
      <p:sp>
        <p:nvSpPr>
          <p:cNvPr id="11" name="Text 8"/>
          <p:cNvSpPr/>
          <p:nvPr/>
        </p:nvSpPr>
        <p:spPr>
          <a:xfrm>
            <a:off x="6426200" y="4155331"/>
            <a:ext cx="5101590"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6F665D"/>
                </a:solidFill>
                <a:latin typeface="Georgia" pitchFamily="34" charset="0"/>
                <a:ea typeface="Georgia" pitchFamily="34" charset="-122"/>
                <a:cs typeface="Georgia" pitchFamily="34" charset="-120"/>
              </a:rPr>
              <a:t>Same function (XNOR: 1 when the inputs are equal), two different circuits.</a:t>
            </a:r>
            <a:endParaRPr lang="en-US" sz="1400" dirty="0"/>
          </a:p>
        </p:txBody>
      </p:sp>
      <p:sp>
        <p:nvSpPr>
          <p:cNvPr id="12" name="Shape 9"/>
          <p:cNvSpPr/>
          <p:nvPr/>
        </p:nvSpPr>
        <p:spPr>
          <a:xfrm>
            <a:off x="812800" y="4881711"/>
            <a:ext cx="10566400" cy="863600"/>
          </a:xfrm>
          <a:prstGeom prst="rect">
            <a:avLst/>
          </a:prstGeom>
          <a:solidFill>
            <a:srgbClr val="EFE8DD"/>
          </a:solidFill>
          <a:ln/>
        </p:spPr>
        <p:txBody>
          <a:bodyPr/>
          <a:lstStyle/>
          <a:p>
            <a:endParaRPr lang="en-US"/>
          </a:p>
        </p:txBody>
      </p:sp>
      <p:sp>
        <p:nvSpPr>
          <p:cNvPr id="13" name="Shape 10"/>
          <p:cNvSpPr/>
          <p:nvPr/>
        </p:nvSpPr>
        <p:spPr>
          <a:xfrm>
            <a:off x="838200" y="4881711"/>
            <a:ext cx="0" cy="863600"/>
          </a:xfrm>
          <a:prstGeom prst="line">
            <a:avLst/>
          </a:prstGeom>
          <a:noFill/>
          <a:ln w="50800">
            <a:solidFill>
              <a:srgbClr val="A3292A"/>
            </a:solidFill>
            <a:prstDash val="solid"/>
          </a:ln>
        </p:spPr>
        <p:txBody>
          <a:bodyPr/>
          <a:lstStyle/>
          <a:p>
            <a:endParaRPr lang="en-US"/>
          </a:p>
        </p:txBody>
      </p:sp>
      <p:sp>
        <p:nvSpPr>
          <p:cNvPr id="14" name="Text 11"/>
          <p:cNvSpPr/>
          <p:nvPr/>
        </p:nvSpPr>
        <p:spPr>
          <a:xfrm>
            <a:off x="1092200" y="5046811"/>
            <a:ext cx="10360152"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Careful:</a:t>
            </a:r>
            <a:r>
              <a:rPr lang="en-US" sz="1500" dirty="0">
                <a:solidFill>
                  <a:srgbClr val="3B3631"/>
                </a:solidFill>
                <a:latin typeface="Georgia" pitchFamily="34" charset="0"/>
                <a:ea typeface="Georgia" pitchFamily="34" charset="-122"/>
                <a:cs typeface="Georgia" pitchFamily="34" charset="-120"/>
              </a:rPr>
              <a:t> the literal rules for the two forms are opposite. Plug each term back into its own row: a product must give 1 there, a sum must give 0.</a:t>
            </a:r>
            <a:endParaRPr lang="en-US" sz="1500" dirty="0"/>
          </a:p>
        </p:txBody>
      </p:sp>
      <p:sp>
        <p:nvSpPr>
          <p:cNvPr id="15" name="Text 1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16" name="Text 1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6 · SOP AND POS</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Inverse logic: write the shorter list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930350"/>
          <a:ext cx="8255000" cy="825500"/>
        </p:xfrm>
        <a:graphic>
          <a:graphicData uri="http://schemas.openxmlformats.org/drawingml/2006/table">
            <a:tbl>
              <a:tblPr/>
              <a:tblGrid>
                <a:gridCol w="917222">
                  <a:extLst>
                    <a:ext uri="{9D8B030D-6E8A-4147-A177-3AD203B41FA5}">
                      <a16:colId xmlns:a16="http://schemas.microsoft.com/office/drawing/2014/main" val="20000"/>
                    </a:ext>
                  </a:extLst>
                </a:gridCol>
                <a:gridCol w="917222">
                  <a:extLst>
                    <a:ext uri="{9D8B030D-6E8A-4147-A177-3AD203B41FA5}">
                      <a16:colId xmlns:a16="http://schemas.microsoft.com/office/drawing/2014/main" val="20001"/>
                    </a:ext>
                  </a:extLst>
                </a:gridCol>
                <a:gridCol w="917222">
                  <a:extLst>
                    <a:ext uri="{9D8B030D-6E8A-4147-A177-3AD203B41FA5}">
                      <a16:colId xmlns:a16="http://schemas.microsoft.com/office/drawing/2014/main" val="20002"/>
                    </a:ext>
                  </a:extLst>
                </a:gridCol>
                <a:gridCol w="917222">
                  <a:extLst>
                    <a:ext uri="{9D8B030D-6E8A-4147-A177-3AD203B41FA5}">
                      <a16:colId xmlns:a16="http://schemas.microsoft.com/office/drawing/2014/main" val="20003"/>
                    </a:ext>
                  </a:extLst>
                </a:gridCol>
                <a:gridCol w="917222">
                  <a:extLst>
                    <a:ext uri="{9D8B030D-6E8A-4147-A177-3AD203B41FA5}">
                      <a16:colId xmlns:a16="http://schemas.microsoft.com/office/drawing/2014/main" val="20004"/>
                    </a:ext>
                  </a:extLst>
                </a:gridCol>
                <a:gridCol w="917222">
                  <a:extLst>
                    <a:ext uri="{9D8B030D-6E8A-4147-A177-3AD203B41FA5}">
                      <a16:colId xmlns:a16="http://schemas.microsoft.com/office/drawing/2014/main" val="20005"/>
                    </a:ext>
                  </a:extLst>
                </a:gridCol>
                <a:gridCol w="917222">
                  <a:extLst>
                    <a:ext uri="{9D8B030D-6E8A-4147-A177-3AD203B41FA5}">
                      <a16:colId xmlns:a16="http://schemas.microsoft.com/office/drawing/2014/main" val="20006"/>
                    </a:ext>
                  </a:extLst>
                </a:gridCol>
                <a:gridCol w="917222">
                  <a:extLst>
                    <a:ext uri="{9D8B030D-6E8A-4147-A177-3AD203B41FA5}">
                      <a16:colId xmlns:a16="http://schemas.microsoft.com/office/drawing/2014/main" val="20007"/>
                    </a:ext>
                  </a:extLst>
                </a:gridCol>
                <a:gridCol w="917222">
                  <a:extLst>
                    <a:ext uri="{9D8B030D-6E8A-4147-A177-3AD203B41FA5}">
                      <a16:colId xmlns:a16="http://schemas.microsoft.com/office/drawing/2014/main" val="20008"/>
                    </a:ext>
                  </a:extLst>
                </a:gridCol>
              </a:tblGrid>
              <a:tr h="412750">
                <a:tc>
                  <a:txBody>
                    <a:bodyPr/>
                    <a:lstStyle/>
                    <a:p>
                      <a:pPr marL="0" indent="0" algn="ctr">
                        <a:lnSpc>
                          <a:spcPts val="2100"/>
                        </a:lnSpc>
                        <a:buNone/>
                      </a:pPr>
                      <a:r>
                        <a:rPr lang="en-US" sz="1500" b="1" dirty="0">
                          <a:solidFill>
                            <a:srgbClr val="3B3631"/>
                          </a:solidFill>
                          <a:latin typeface="Georgia" pitchFamily="34" charset="0"/>
                          <a:ea typeface="Georgia" pitchFamily="34" charset="-122"/>
                          <a:cs typeface="Georgia" pitchFamily="34" charset="-120"/>
                        </a:rPr>
                        <a:t>ABC</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2100"/>
                        </a:lnSpc>
                        <a:buNone/>
                      </a:pPr>
                      <a:r>
                        <a:rPr lang="en-US" sz="1500" b="1" dirty="0">
                          <a:solidFill>
                            <a:srgbClr val="3B3631"/>
                          </a:solidFill>
                          <a:latin typeface="Georgia" pitchFamily="34" charset="0"/>
                          <a:ea typeface="Georgia" pitchFamily="34" charset="-122"/>
                          <a:cs typeface="Georgia" pitchFamily="34" charset="-120"/>
                        </a:rPr>
                        <a:t>000</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2100"/>
                        </a:lnSpc>
                        <a:buNone/>
                      </a:pPr>
                      <a:r>
                        <a:rPr lang="en-US" sz="1500" b="1" dirty="0">
                          <a:solidFill>
                            <a:srgbClr val="3B3631"/>
                          </a:solidFill>
                          <a:latin typeface="Georgia" pitchFamily="34" charset="0"/>
                          <a:ea typeface="Georgia" pitchFamily="34" charset="-122"/>
                          <a:cs typeface="Georgia" pitchFamily="34" charset="-120"/>
                        </a:rPr>
                        <a:t>001</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2100"/>
                        </a:lnSpc>
                        <a:buNone/>
                      </a:pPr>
                      <a:r>
                        <a:rPr lang="en-US" sz="1500" b="1" dirty="0">
                          <a:solidFill>
                            <a:srgbClr val="3B3631"/>
                          </a:solidFill>
                          <a:latin typeface="Georgia" pitchFamily="34" charset="0"/>
                          <a:ea typeface="Georgia" pitchFamily="34" charset="-122"/>
                          <a:cs typeface="Georgia" pitchFamily="34" charset="-120"/>
                        </a:rPr>
                        <a:t>010</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2100"/>
                        </a:lnSpc>
                        <a:buNone/>
                      </a:pPr>
                      <a:r>
                        <a:rPr lang="en-US" sz="1500" b="1" dirty="0">
                          <a:solidFill>
                            <a:srgbClr val="3B3631"/>
                          </a:solidFill>
                          <a:latin typeface="Georgia" pitchFamily="34" charset="0"/>
                          <a:ea typeface="Georgia" pitchFamily="34" charset="-122"/>
                          <a:cs typeface="Georgia" pitchFamily="34" charset="-120"/>
                        </a:rPr>
                        <a:t>011</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2100"/>
                        </a:lnSpc>
                        <a:buNone/>
                      </a:pPr>
                      <a:r>
                        <a:rPr lang="en-US" sz="1500" b="1" dirty="0">
                          <a:solidFill>
                            <a:srgbClr val="3B3631"/>
                          </a:solidFill>
                          <a:latin typeface="Georgia" pitchFamily="34" charset="0"/>
                          <a:ea typeface="Georgia" pitchFamily="34" charset="-122"/>
                          <a:cs typeface="Georgia" pitchFamily="34" charset="-120"/>
                        </a:rPr>
                        <a:t>100</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2100"/>
                        </a:lnSpc>
                        <a:buNone/>
                      </a:pPr>
                      <a:r>
                        <a:rPr lang="en-US" sz="1500" b="1" dirty="0">
                          <a:solidFill>
                            <a:srgbClr val="3B3631"/>
                          </a:solidFill>
                          <a:latin typeface="Georgia" pitchFamily="34" charset="0"/>
                          <a:ea typeface="Georgia" pitchFamily="34" charset="-122"/>
                          <a:cs typeface="Georgia" pitchFamily="34" charset="-120"/>
                        </a:rPr>
                        <a:t>101</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2100"/>
                        </a:lnSpc>
                        <a:buNone/>
                      </a:pPr>
                      <a:r>
                        <a:rPr lang="en-US" sz="1500" b="1" dirty="0">
                          <a:solidFill>
                            <a:srgbClr val="3B3631"/>
                          </a:solidFill>
                          <a:latin typeface="Georgia" pitchFamily="34" charset="0"/>
                          <a:ea typeface="Georgia" pitchFamily="34" charset="-122"/>
                          <a:cs typeface="Georgia" pitchFamily="34" charset="-120"/>
                        </a:rPr>
                        <a:t>110</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tc>
                  <a:txBody>
                    <a:bodyPr/>
                    <a:lstStyle/>
                    <a:p>
                      <a:pPr marL="0" indent="0" algn="ctr">
                        <a:lnSpc>
                          <a:spcPts val="2100"/>
                        </a:lnSpc>
                        <a:buNone/>
                      </a:pPr>
                      <a:r>
                        <a:rPr lang="en-US" sz="1500" b="1" dirty="0">
                          <a:solidFill>
                            <a:srgbClr val="3B3631"/>
                          </a:solidFill>
                          <a:latin typeface="Georgia" pitchFamily="34" charset="0"/>
                          <a:ea typeface="Georgia" pitchFamily="34" charset="-122"/>
                          <a:cs typeface="Georgia" pitchFamily="34" charset="-120"/>
                        </a:rPr>
                        <a:t>111</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solidFill>
                      <a:srgbClr val="EBE8E3"/>
                    </a:solidFill>
                  </a:tcPr>
                </a:tc>
                <a:extLst>
                  <a:ext uri="{0D108BD9-81ED-4DB2-BD59-A6C34878D82A}">
                    <a16:rowId xmlns:a16="http://schemas.microsoft.com/office/drawing/2014/main" val="10000"/>
                  </a:ext>
                </a:extLst>
              </a:tr>
              <a:tr h="412750">
                <a:tc>
                  <a:txBody>
                    <a:bodyPr/>
                    <a:lstStyle/>
                    <a:p>
                      <a:pPr marL="0" indent="0" algn="ctr">
                        <a:lnSpc>
                          <a:spcPts val="2100"/>
                        </a:lnSpc>
                        <a:buNone/>
                      </a:pPr>
                      <a:r>
                        <a:rPr lang="en-US" sz="1500" dirty="0">
                          <a:solidFill>
                            <a:srgbClr val="3B3631"/>
                          </a:solidFill>
                          <a:latin typeface="Georgia" pitchFamily="34" charset="0"/>
                          <a:ea typeface="Georgia" pitchFamily="34" charset="-122"/>
                          <a:cs typeface="Georgia" pitchFamily="34" charset="-120"/>
                        </a:rPr>
                        <a:t>F</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2100"/>
                        </a:lnSpc>
                        <a:buNone/>
                      </a:pPr>
                      <a:r>
                        <a:rPr lang="en-US" sz="1500" dirty="0">
                          <a:solidFill>
                            <a:srgbClr val="3B3631"/>
                          </a:solidFill>
                          <a:latin typeface="Georgia" pitchFamily="34" charset="0"/>
                          <a:ea typeface="Georgia" pitchFamily="34" charset="-122"/>
                          <a:cs typeface="Georgia" pitchFamily="34" charset="-120"/>
                        </a:rPr>
                        <a:t>1</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2100"/>
                        </a:lnSpc>
                        <a:buNone/>
                      </a:pPr>
                      <a:r>
                        <a:rPr lang="en-US" sz="1500" dirty="0">
                          <a:solidFill>
                            <a:srgbClr val="3B3631"/>
                          </a:solidFill>
                          <a:latin typeface="Georgia" pitchFamily="34" charset="0"/>
                          <a:ea typeface="Georgia" pitchFamily="34" charset="-122"/>
                          <a:cs typeface="Georgia" pitchFamily="34" charset="-120"/>
                        </a:rPr>
                        <a:t>0</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2100"/>
                        </a:lnSpc>
                        <a:buNone/>
                      </a:pPr>
                      <a:r>
                        <a:rPr lang="en-US" sz="1500" dirty="0">
                          <a:solidFill>
                            <a:srgbClr val="3B3631"/>
                          </a:solidFill>
                          <a:latin typeface="Georgia" pitchFamily="34" charset="0"/>
                          <a:ea typeface="Georgia" pitchFamily="34" charset="-122"/>
                          <a:cs typeface="Georgia" pitchFamily="34" charset="-120"/>
                        </a:rPr>
                        <a:t>1</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2100"/>
                        </a:lnSpc>
                        <a:buNone/>
                      </a:pPr>
                      <a:r>
                        <a:rPr lang="en-US" sz="1500" dirty="0">
                          <a:solidFill>
                            <a:srgbClr val="3B3631"/>
                          </a:solidFill>
                          <a:latin typeface="Georgia" pitchFamily="34" charset="0"/>
                          <a:ea typeface="Georgia" pitchFamily="34" charset="-122"/>
                          <a:cs typeface="Georgia" pitchFamily="34" charset="-120"/>
                        </a:rPr>
                        <a:t>1</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2100"/>
                        </a:lnSpc>
                        <a:buNone/>
                      </a:pPr>
                      <a:r>
                        <a:rPr lang="en-US" sz="1500" dirty="0">
                          <a:solidFill>
                            <a:srgbClr val="3B3631"/>
                          </a:solidFill>
                          <a:latin typeface="Georgia" pitchFamily="34" charset="0"/>
                          <a:ea typeface="Georgia" pitchFamily="34" charset="-122"/>
                          <a:cs typeface="Georgia" pitchFamily="34" charset="-120"/>
                        </a:rPr>
                        <a:t>1</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2100"/>
                        </a:lnSpc>
                        <a:buNone/>
                      </a:pPr>
                      <a:r>
                        <a:rPr lang="en-US" sz="1500" dirty="0">
                          <a:solidFill>
                            <a:srgbClr val="3B3631"/>
                          </a:solidFill>
                          <a:latin typeface="Georgia" pitchFamily="34" charset="0"/>
                          <a:ea typeface="Georgia" pitchFamily="34" charset="-122"/>
                          <a:cs typeface="Georgia" pitchFamily="34" charset="-120"/>
                        </a:rPr>
                        <a:t>0</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2100"/>
                        </a:lnSpc>
                        <a:buNone/>
                      </a:pPr>
                      <a:r>
                        <a:rPr lang="en-US" sz="1500" dirty="0">
                          <a:solidFill>
                            <a:srgbClr val="3B3631"/>
                          </a:solidFill>
                          <a:latin typeface="Georgia" pitchFamily="34" charset="0"/>
                          <a:ea typeface="Georgia" pitchFamily="34" charset="-122"/>
                          <a:cs typeface="Georgia" pitchFamily="34" charset="-120"/>
                        </a:rPr>
                        <a:t>1</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tc>
                  <a:txBody>
                    <a:bodyPr/>
                    <a:lstStyle/>
                    <a:p>
                      <a:pPr marL="0" indent="0" algn="ctr">
                        <a:lnSpc>
                          <a:spcPts val="2100"/>
                        </a:lnSpc>
                        <a:buNone/>
                      </a:pPr>
                      <a:r>
                        <a:rPr lang="en-US" sz="1500" dirty="0">
                          <a:solidFill>
                            <a:srgbClr val="3B3631"/>
                          </a:solidFill>
                          <a:latin typeface="Georgia" pitchFamily="34" charset="0"/>
                          <a:ea typeface="Georgia" pitchFamily="34" charset="-122"/>
                          <a:cs typeface="Georgia" pitchFamily="34" charset="-120"/>
                        </a:rPr>
                        <a:t>1</a:t>
                      </a:r>
                      <a:endParaRPr lang="en-US" sz="1500" dirty="0">
                        <a:latin typeface="Georgia" charset="0"/>
                        <a:ea typeface="Georgia" charset="0"/>
                        <a:cs typeface="Georgia" charset="0"/>
                      </a:endParaRPr>
                    </a:p>
                  </a:txBody>
                  <a:tcPr marL="66675" marR="66675" marT="66675" marB="66675">
                    <a:lnL w="12700" cap="flat" cmpd="sng" algn="ctr">
                      <a:solidFill>
                        <a:srgbClr val="D0CDC8"/>
                      </a:solidFill>
                      <a:prstDash val="solid"/>
                      <a:round/>
                      <a:headEnd type="none" w="med" len="med"/>
                      <a:tailEnd type="none" w="med" len="med"/>
                    </a:lnL>
                    <a:lnR w="12700" cap="flat" cmpd="sng" algn="ctr">
                      <a:solidFill>
                        <a:srgbClr val="D0CDC8"/>
                      </a:solidFill>
                      <a:prstDash val="solid"/>
                      <a:round/>
                      <a:headEnd type="none" w="med" len="med"/>
                      <a:tailEnd type="none" w="med" len="med"/>
                    </a:lnR>
                    <a:lnT w="12700" cap="flat" cmpd="sng" algn="ctr">
                      <a:solidFill>
                        <a:srgbClr val="D0CDC8"/>
                      </a:solidFill>
                      <a:prstDash val="solid"/>
                      <a:round/>
                      <a:headEnd type="none" w="med" len="med"/>
                      <a:tailEnd type="none" w="med" len="med"/>
                    </a:lnT>
                    <a:lnB w="12700" cap="flat" cmpd="sng" algn="ctr">
                      <a:solidFill>
                        <a:srgbClr val="D0CDC8"/>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5" name="Shape 2"/>
          <p:cNvSpPr/>
          <p:nvPr/>
        </p:nvSpPr>
        <p:spPr>
          <a:xfrm>
            <a:off x="812800" y="2997150"/>
            <a:ext cx="5156200" cy="985490"/>
          </a:xfrm>
          <a:prstGeom prst="roundRect">
            <a:avLst>
              <a:gd name="adj" fmla="val 7732"/>
            </a:avLst>
          </a:prstGeom>
          <a:solidFill>
            <a:srgbClr val="EFE8DD"/>
          </a:solidFill>
          <a:ln/>
        </p:spPr>
        <p:txBody>
          <a:bodyPr/>
          <a:lstStyle/>
          <a:p>
            <a:endParaRPr lang="en-US"/>
          </a:p>
        </p:txBody>
      </p:sp>
      <p:sp>
        <p:nvSpPr>
          <p:cNvPr id="6" name="Text 3"/>
          <p:cNvSpPr/>
          <p:nvPr/>
        </p:nvSpPr>
        <p:spPr>
          <a:xfrm>
            <a:off x="1041400" y="3200350"/>
            <a:ext cx="4839970"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F1B18"/>
                </a:solidFill>
                <a:latin typeface="Georgia" pitchFamily="34" charset="0"/>
                <a:ea typeface="Georgia" pitchFamily="34" charset="-122"/>
                <a:cs typeface="Georgia" pitchFamily="34" charset="-120"/>
              </a:rPr>
              <a:t>POS: two 0s, two terms</a:t>
            </a:r>
            <a:endParaRPr lang="en-US" sz="1600" dirty="0"/>
          </a:p>
        </p:txBody>
      </p:sp>
      <p:sp>
        <p:nvSpPr>
          <p:cNvPr id="7" name="Text 4"/>
          <p:cNvSpPr/>
          <p:nvPr/>
        </p:nvSpPr>
        <p:spPr>
          <a:xfrm>
            <a:off x="1041400" y="3530550"/>
            <a:ext cx="4839970" cy="274290"/>
          </a:xfrm>
          <a:prstGeom prst="rect">
            <a:avLst/>
          </a:prstGeom>
          <a:noFill/>
          <a:ln/>
        </p:spPr>
        <p:txBody>
          <a:bodyPr wrap="square" lIns="0" tIns="0" rIns="0" bIns="0" rtlCol="0" anchor="t">
            <a:normAutofit/>
          </a:bodyPr>
          <a:lstStyle/>
          <a:p>
            <a:pPr marL="0" indent="0" algn="l">
              <a:lnSpc>
                <a:spcPts val="1960"/>
              </a:lnSpc>
              <a:buNone/>
            </a:pPr>
            <a:r>
              <a:rPr lang="en-US" sz="1400" i="1" dirty="0">
                <a:solidFill>
                  <a:srgbClr val="3B3631"/>
                </a:solidFill>
                <a:latin typeface="Georgia" pitchFamily="34" charset="0"/>
                <a:ea typeface="Georgia" pitchFamily="34" charset="-122"/>
                <a:cs typeface="Georgia" pitchFamily="34" charset="-120"/>
              </a:rPr>
              <a:t>F = (A + B + C′)(A′ + B + C′) = B + C′</a:t>
            </a:r>
            <a:r>
              <a:rPr lang="en-US" sz="1400" dirty="0">
                <a:solidFill>
                  <a:srgbClr val="3B3631"/>
                </a:solidFill>
                <a:latin typeface="Georgia" pitchFamily="34" charset="0"/>
                <a:ea typeface="Georgia" pitchFamily="34" charset="-122"/>
                <a:cs typeface="Georgia" pitchFamily="34" charset="-120"/>
              </a:rPr>
              <a:t> by 14b</a:t>
            </a:r>
            <a:endParaRPr lang="en-US" sz="1400" dirty="0"/>
          </a:p>
        </p:txBody>
      </p:sp>
      <p:sp>
        <p:nvSpPr>
          <p:cNvPr id="8" name="Shape 5"/>
          <p:cNvSpPr/>
          <p:nvPr/>
        </p:nvSpPr>
        <p:spPr>
          <a:xfrm>
            <a:off x="6223000" y="2997150"/>
            <a:ext cx="5156200" cy="985490"/>
          </a:xfrm>
          <a:prstGeom prst="roundRect">
            <a:avLst>
              <a:gd name="adj" fmla="val 7732"/>
            </a:avLst>
          </a:prstGeom>
          <a:solidFill>
            <a:srgbClr val="EFE8DD"/>
          </a:solidFill>
          <a:ln/>
        </p:spPr>
        <p:txBody>
          <a:bodyPr/>
          <a:lstStyle/>
          <a:p>
            <a:endParaRPr lang="en-US"/>
          </a:p>
        </p:txBody>
      </p:sp>
      <p:sp>
        <p:nvSpPr>
          <p:cNvPr id="9" name="Text 6"/>
          <p:cNvSpPr/>
          <p:nvPr/>
        </p:nvSpPr>
        <p:spPr>
          <a:xfrm>
            <a:off x="6451600" y="3200350"/>
            <a:ext cx="4839970"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F1B18"/>
                </a:solidFill>
                <a:latin typeface="Georgia" pitchFamily="34" charset="0"/>
                <a:ea typeface="Georgia" pitchFamily="34" charset="-122"/>
                <a:cs typeface="Georgia" pitchFamily="34" charset="-120"/>
              </a:rPr>
              <a:t>Or through the complement</a:t>
            </a:r>
            <a:endParaRPr lang="en-US" sz="1600" dirty="0"/>
          </a:p>
        </p:txBody>
      </p:sp>
      <p:sp>
        <p:nvSpPr>
          <p:cNvPr id="10" name="Text 7"/>
          <p:cNvSpPr/>
          <p:nvPr/>
        </p:nvSpPr>
        <p:spPr>
          <a:xfrm>
            <a:off x="6451600" y="3530550"/>
            <a:ext cx="4839970" cy="274290"/>
          </a:xfrm>
          <a:prstGeom prst="rect">
            <a:avLst/>
          </a:prstGeom>
          <a:noFill/>
          <a:ln/>
        </p:spPr>
        <p:txBody>
          <a:bodyPr wrap="square" lIns="0" tIns="0" rIns="0" bIns="0" rtlCol="0" anchor="t">
            <a:normAutofit/>
          </a:bodyPr>
          <a:lstStyle/>
          <a:p>
            <a:pPr marL="0" indent="0" algn="l">
              <a:lnSpc>
                <a:spcPts val="1960"/>
              </a:lnSpc>
              <a:buNone/>
            </a:pPr>
            <a:r>
              <a:rPr lang="en-US" sz="1400" i="1" dirty="0">
                <a:solidFill>
                  <a:srgbClr val="3B3631"/>
                </a:solidFill>
                <a:latin typeface="Georgia" pitchFamily="34" charset="0"/>
                <a:ea typeface="Georgia" pitchFamily="34" charset="-122"/>
                <a:cs typeface="Georgia" pitchFamily="34" charset="-120"/>
              </a:rPr>
              <a:t>F′ = A′B′C + AB′C = B′C</a:t>
            </a:r>
            <a:r>
              <a:rPr lang="en-US" sz="1400" dirty="0">
                <a:solidFill>
                  <a:srgbClr val="3B3631"/>
                </a:solidFill>
                <a:latin typeface="Georgia" pitchFamily="34" charset="0"/>
                <a:ea typeface="Georgia" pitchFamily="34" charset="-122"/>
                <a:cs typeface="Georgia" pitchFamily="34" charset="-120"/>
              </a:rPr>
              <a:t>, so </a:t>
            </a:r>
            <a:r>
              <a:rPr lang="en-US" sz="1400" i="1" dirty="0">
                <a:solidFill>
                  <a:srgbClr val="3B3631"/>
                </a:solidFill>
                <a:latin typeface="Georgia" pitchFamily="34" charset="0"/>
                <a:ea typeface="Georgia" pitchFamily="34" charset="-122"/>
                <a:cs typeface="Georgia" pitchFamily="34" charset="-120"/>
              </a:rPr>
              <a:t>F = B + C′</a:t>
            </a:r>
            <a:endParaRPr lang="en-US" sz="1400" dirty="0"/>
          </a:p>
        </p:txBody>
      </p:sp>
      <p:sp>
        <p:nvSpPr>
          <p:cNvPr id="11" name="Text 8"/>
          <p:cNvSpPr/>
          <p:nvPr/>
        </p:nvSpPr>
        <p:spPr>
          <a:xfrm>
            <a:off x="812800" y="421124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B3631"/>
                </a:solidFill>
                <a:latin typeface="Georgia" pitchFamily="34" charset="0"/>
                <a:ea typeface="Georgia" pitchFamily="34" charset="-122"/>
                <a:cs typeface="Georgia" pitchFamily="34" charset="-120"/>
              </a:rPr>
              <a:t>Check: F is 0 only when B = 0 and C = 1, exactly rows 001 and 101.</a:t>
            </a:r>
            <a:endParaRPr lang="en-US" sz="1500" dirty="0"/>
          </a:p>
        </p:txBody>
      </p:sp>
      <p:sp>
        <p:nvSpPr>
          <p:cNvPr id="12" name="Text 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13" name="Text 1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EE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6 · SOP AND POS</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Problem 6: SOP and POS</a:t>
            </a:r>
            <a:endParaRPr lang="en-US" sz="3200" dirty="0"/>
          </a:p>
        </p:txBody>
      </p:sp>
      <p:sp>
        <p:nvSpPr>
          <p:cNvPr id="4" name="Text 2"/>
          <p:cNvSpPr/>
          <p:nvPr/>
        </p:nvSpPr>
        <p:spPr>
          <a:xfrm>
            <a:off x="812800" y="19303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a.</a:t>
            </a:r>
            <a:r>
              <a:rPr lang="en-US" sz="1500" dirty="0">
                <a:solidFill>
                  <a:srgbClr val="3B3631"/>
                </a:solidFill>
                <a:latin typeface="Georgia" pitchFamily="34" charset="0"/>
                <a:ea typeface="Georgia" pitchFamily="34" charset="-122"/>
                <a:cs typeface="Georgia" pitchFamily="34" charset="-120"/>
              </a:rPr>
              <a:t> For XOR (0 1 1 0 on rows 00, 01, 10, 11), write the SOP and the POS. Which gates does the SOP need?</a:t>
            </a:r>
            <a:endParaRPr lang="en-US" sz="1500" dirty="0"/>
          </a:p>
        </p:txBody>
      </p:sp>
      <p:sp>
        <p:nvSpPr>
          <p:cNvPr id="5" name="Text 3"/>
          <p:cNvSpPr/>
          <p:nvPr/>
        </p:nvSpPr>
        <p:spPr>
          <a:xfrm>
            <a:off x="812800" y="23113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b.</a:t>
            </a:r>
            <a:r>
              <a:rPr lang="en-US" sz="1500" dirty="0">
                <a:solidFill>
                  <a:srgbClr val="3B3631"/>
                </a:solidFill>
                <a:latin typeface="Georgia" pitchFamily="34" charset="0"/>
                <a:ea typeface="Georgia" pitchFamily="34" charset="-122"/>
                <a:cs typeface="Georgia" pitchFamily="34" charset="-120"/>
              </a:rPr>
              <a:t> Write the full SOP of </a:t>
            </a:r>
            <a:r>
              <a:rPr lang="en-US" sz="1500" i="1" dirty="0">
                <a:solidFill>
                  <a:srgbClr val="3B3631"/>
                </a:solidFill>
                <a:latin typeface="Georgia" pitchFamily="34" charset="0"/>
                <a:ea typeface="Georgia" pitchFamily="34" charset="-122"/>
                <a:cs typeface="Georgia" pitchFamily="34" charset="-120"/>
              </a:rPr>
              <a:t>F = AB + B′C′</a:t>
            </a:r>
            <a:r>
              <a:rPr lang="en-US" sz="1500" dirty="0">
                <a:solidFill>
                  <a:srgbClr val="3B3631"/>
                </a:solidFill>
                <a:latin typeface="Georgia" pitchFamily="34" charset="0"/>
                <a:ea typeface="Georgia" pitchFamily="34" charset="-122"/>
                <a:cs typeface="Georgia" pitchFamily="34" charset="-120"/>
              </a:rPr>
              <a:t> from your table in Problem 2a, one product per 1, and simplify it back.</a:t>
            </a:r>
            <a:endParaRPr lang="en-US" sz="1500" dirty="0"/>
          </a:p>
        </p:txBody>
      </p:sp>
      <p:sp>
        <p:nvSpPr>
          <p:cNvPr id="6" name="Text 4"/>
          <p:cNvSpPr/>
          <p:nvPr/>
        </p:nvSpPr>
        <p:spPr>
          <a:xfrm>
            <a:off x="812800" y="26923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c.</a:t>
            </a:r>
            <a:r>
              <a:rPr lang="en-US" sz="1500" dirty="0">
                <a:solidFill>
                  <a:srgbClr val="3B3631"/>
                </a:solidFill>
                <a:latin typeface="Georgia" pitchFamily="34" charset="0"/>
                <a:ea typeface="Georgia" pitchFamily="34" charset="-122"/>
                <a:cs typeface="Georgia" pitchFamily="34" charset="-120"/>
              </a:rPr>
              <a:t> A three-input function is 0 only on rows 011 and 111. Use inverse logic and simplify. Which single gate is it?</a:t>
            </a:r>
            <a:endParaRPr lang="en-US" sz="1500" dirty="0"/>
          </a:p>
        </p:txBody>
      </p:sp>
      <p:sp>
        <p:nvSpPr>
          <p:cNvPr id="7" name="Text 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8" name="Text 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EE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6 · SOP AND POS</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Problem 6: answers</a:t>
            </a:r>
            <a:endParaRPr lang="en-US" sz="3200" dirty="0"/>
          </a:p>
        </p:txBody>
      </p:sp>
      <p:sp>
        <p:nvSpPr>
          <p:cNvPr id="4" name="Text 2"/>
          <p:cNvSpPr/>
          <p:nvPr/>
        </p:nvSpPr>
        <p:spPr>
          <a:xfrm>
            <a:off x="812800" y="19303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a.</a:t>
            </a:r>
            <a:r>
              <a:rPr lang="en-US" sz="1500" dirty="0">
                <a:solidFill>
                  <a:srgbClr val="3B3631"/>
                </a:solidFill>
                <a:latin typeface="Georgia" pitchFamily="34" charset="0"/>
                <a:ea typeface="Georgia" pitchFamily="34" charset="-122"/>
                <a:cs typeface="Georgia" pitchFamily="34" charset="-120"/>
              </a:rPr>
              <a:t> SOP </a:t>
            </a:r>
            <a:r>
              <a:rPr lang="en-US" sz="1500" i="1" dirty="0">
                <a:solidFill>
                  <a:srgbClr val="3B3631"/>
                </a:solidFill>
                <a:latin typeface="Georgia" pitchFamily="34" charset="0"/>
                <a:ea typeface="Georgia" pitchFamily="34" charset="-122"/>
                <a:cs typeface="Georgia" pitchFamily="34" charset="-120"/>
              </a:rPr>
              <a:t>A′B + AB′</a:t>
            </a:r>
            <a:r>
              <a:rPr lang="en-US" sz="1500" dirty="0">
                <a:solidFill>
                  <a:srgbClr val="3B3631"/>
                </a:solidFill>
                <a:latin typeface="Georgia" pitchFamily="34" charset="0"/>
                <a:ea typeface="Georgia" pitchFamily="34" charset="-122"/>
                <a:cs typeface="Georgia" pitchFamily="34" charset="-120"/>
              </a:rPr>
              <a:t>, POS </a:t>
            </a:r>
            <a:r>
              <a:rPr lang="en-US" sz="1500" i="1" dirty="0">
                <a:solidFill>
                  <a:srgbClr val="3B3631"/>
                </a:solidFill>
                <a:latin typeface="Georgia" pitchFamily="34" charset="0"/>
                <a:ea typeface="Georgia" pitchFamily="34" charset="-122"/>
                <a:cs typeface="Georgia" pitchFamily="34" charset="-120"/>
              </a:rPr>
              <a:t>(A + B)(A′ + B′)</a:t>
            </a:r>
            <a:r>
              <a:rPr lang="en-US" sz="1500" dirty="0">
                <a:solidFill>
                  <a:srgbClr val="3B3631"/>
                </a:solidFill>
                <a:latin typeface="Georgia" pitchFamily="34" charset="0"/>
                <a:ea typeface="Georgia" pitchFamily="34" charset="-122"/>
                <a:cs typeface="Georgia" pitchFamily="34" charset="-120"/>
              </a:rPr>
              <a:t>. The SOP needs two inverters, two ANDs and one OR.</a:t>
            </a:r>
            <a:endParaRPr lang="en-US" sz="1500" dirty="0"/>
          </a:p>
        </p:txBody>
      </p:sp>
      <p:sp>
        <p:nvSpPr>
          <p:cNvPr id="5" name="Text 3"/>
          <p:cNvSpPr/>
          <p:nvPr/>
        </p:nvSpPr>
        <p:spPr>
          <a:xfrm>
            <a:off x="812800" y="23367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b.</a:t>
            </a:r>
            <a:r>
              <a:rPr lang="en-US" sz="1500" dirty="0">
                <a:solidFill>
                  <a:srgbClr val="3B3631"/>
                </a:solidFill>
                <a:latin typeface="Georgia" pitchFamily="34" charset="0"/>
                <a:ea typeface="Georgia" pitchFamily="34" charset="-122"/>
                <a:cs typeface="Georgia" pitchFamily="34" charset="-120"/>
              </a:rPr>
              <a:t> </a:t>
            </a:r>
            <a:r>
              <a:rPr lang="en-US" sz="1500" i="1" dirty="0">
                <a:solidFill>
                  <a:srgbClr val="3B3631"/>
                </a:solidFill>
                <a:latin typeface="Georgia" pitchFamily="34" charset="0"/>
                <a:ea typeface="Georgia" pitchFamily="34" charset="-122"/>
                <a:cs typeface="Georgia" pitchFamily="34" charset="-120"/>
              </a:rPr>
              <a:t>A′B′C′ + AB′C′ + ABC′ + ABC</a:t>
            </a:r>
            <a:r>
              <a:rPr lang="en-US" sz="1500" dirty="0">
                <a:solidFill>
                  <a:srgbClr val="3B3631"/>
                </a:solidFill>
                <a:latin typeface="Georgia" pitchFamily="34" charset="0"/>
                <a:ea typeface="Georgia" pitchFamily="34" charset="-122"/>
                <a:cs typeface="Georgia" pitchFamily="34" charset="-120"/>
              </a:rPr>
              <a:t>. Merge each pair with 14a: </a:t>
            </a:r>
            <a:r>
              <a:rPr lang="en-US" sz="1500" i="1" dirty="0">
                <a:solidFill>
                  <a:srgbClr val="3B3631"/>
                </a:solidFill>
                <a:latin typeface="Georgia" pitchFamily="34" charset="0"/>
                <a:ea typeface="Georgia" pitchFamily="34" charset="-122"/>
                <a:cs typeface="Georgia" pitchFamily="34" charset="-120"/>
              </a:rPr>
              <a:t>B′C′ + AB</a:t>
            </a:r>
            <a:r>
              <a:rPr lang="en-US" sz="1500" dirty="0">
                <a:solidFill>
                  <a:srgbClr val="3B3631"/>
                </a:solidFill>
                <a:latin typeface="Georgia" pitchFamily="34" charset="0"/>
                <a:ea typeface="Georgia" pitchFamily="34" charset="-122"/>
                <a:cs typeface="Georgia" pitchFamily="34" charset="-120"/>
              </a:rPr>
              <a:t>.</a:t>
            </a:r>
            <a:endParaRPr lang="en-US" sz="1500" dirty="0"/>
          </a:p>
        </p:txBody>
      </p:sp>
      <p:sp>
        <p:nvSpPr>
          <p:cNvPr id="6" name="Text 4"/>
          <p:cNvSpPr/>
          <p:nvPr/>
        </p:nvSpPr>
        <p:spPr>
          <a:xfrm>
            <a:off x="812800" y="27431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c.</a:t>
            </a:r>
            <a:r>
              <a:rPr lang="en-US" sz="1500" dirty="0">
                <a:solidFill>
                  <a:srgbClr val="3B3631"/>
                </a:solidFill>
                <a:latin typeface="Georgia" pitchFamily="34" charset="0"/>
                <a:ea typeface="Georgia" pitchFamily="34" charset="-122"/>
                <a:cs typeface="Georgia" pitchFamily="34" charset="-120"/>
              </a:rPr>
              <a:t> </a:t>
            </a:r>
            <a:r>
              <a:rPr lang="en-US" sz="1500" i="1" dirty="0">
                <a:solidFill>
                  <a:srgbClr val="3B3631"/>
                </a:solidFill>
                <a:latin typeface="Georgia" pitchFamily="34" charset="0"/>
                <a:ea typeface="Georgia" pitchFamily="34" charset="-122"/>
                <a:cs typeface="Georgia" pitchFamily="34" charset="-120"/>
              </a:rPr>
              <a:t>F′ = A′BC + ABC = BC</a:t>
            </a:r>
            <a:r>
              <a:rPr lang="en-US" sz="1500" dirty="0">
                <a:solidFill>
                  <a:srgbClr val="3B3631"/>
                </a:solidFill>
                <a:latin typeface="Georgia" pitchFamily="34" charset="0"/>
                <a:ea typeface="Georgia" pitchFamily="34" charset="-122"/>
                <a:cs typeface="Georgia" pitchFamily="34" charset="-120"/>
              </a:rPr>
              <a:t>, so </a:t>
            </a:r>
            <a:r>
              <a:rPr lang="en-US" sz="1500" i="1" dirty="0">
                <a:solidFill>
                  <a:srgbClr val="3B3631"/>
                </a:solidFill>
                <a:latin typeface="Georgia" pitchFamily="34" charset="0"/>
                <a:ea typeface="Georgia" pitchFamily="34" charset="-122"/>
                <a:cs typeface="Georgia" pitchFamily="34" charset="-120"/>
              </a:rPr>
              <a:t>F = (BC)′ = B′ + C′</a:t>
            </a:r>
            <a:r>
              <a:rPr lang="en-US" sz="1500" dirty="0">
                <a:solidFill>
                  <a:srgbClr val="3B3631"/>
                </a:solidFill>
                <a:latin typeface="Georgia" pitchFamily="34" charset="0"/>
                <a:ea typeface="Georgia" pitchFamily="34" charset="-122"/>
                <a:cs typeface="Georgia" pitchFamily="34" charset="-120"/>
              </a:rPr>
              <a:t>: one NAND of B and C.</a:t>
            </a:r>
            <a:endParaRPr lang="en-US" sz="1500" dirty="0"/>
          </a:p>
        </p:txBody>
      </p:sp>
      <p:sp>
        <p:nvSpPr>
          <p:cNvPr id="7" name="Text 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8" name="Text 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7 · NAND AND NOR</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Each basic gate, as a formula and as NANDs</a:t>
            </a:r>
            <a:endParaRPr lang="en-US" sz="3200" dirty="0"/>
          </a:p>
        </p:txBody>
      </p:sp>
      <p:sp>
        <p:nvSpPr>
          <p:cNvPr id="4" name="Text 2"/>
          <p:cNvSpPr/>
          <p:nvPr/>
        </p:nvSpPr>
        <p:spPr>
          <a:xfrm>
            <a:off x="812800" y="2130971"/>
            <a:ext cx="10033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B18"/>
                </a:solidFill>
                <a:latin typeface="Georgia" pitchFamily="34" charset="0"/>
                <a:ea typeface="Georgia" pitchFamily="34" charset="-122"/>
                <a:cs typeface="Georgia" pitchFamily="34" charset="-120"/>
              </a:rPr>
              <a:t>NOT</a:t>
            </a:r>
            <a:endParaRPr lang="en-US" sz="1500" dirty="0"/>
          </a:p>
        </p:txBody>
      </p:sp>
      <p:pic>
        <p:nvPicPr>
          <p:cNvPr id="5" name="Image 0" descr="One NAND with its two inputs tied together"/>
          <p:cNvPicPr>
            <a:picLocks noChangeAspect="1"/>
          </p:cNvPicPr>
          <p:nvPr/>
        </p:nvPicPr>
        <p:blipFill>
          <a:blip r:embed="rId3"/>
          <a:srcRect/>
          <a:stretch/>
        </p:blipFill>
        <p:spPr>
          <a:xfrm>
            <a:off x="1765300" y="1993850"/>
            <a:ext cx="2590800" cy="520700"/>
          </a:xfrm>
          <a:prstGeom prst="rect">
            <a:avLst/>
          </a:prstGeom>
        </p:spPr>
      </p:pic>
      <p:sp>
        <p:nvSpPr>
          <p:cNvPr id="6" name="Text 3"/>
          <p:cNvSpPr/>
          <p:nvPr/>
        </p:nvSpPr>
        <p:spPr>
          <a:xfrm>
            <a:off x="1765300" y="2114500"/>
            <a:ext cx="23495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a</a:t>
            </a:r>
            <a:endParaRPr lang="en-US" sz="1200" dirty="0"/>
          </a:p>
        </p:txBody>
      </p:sp>
      <p:sp>
        <p:nvSpPr>
          <p:cNvPr id="7" name="Text 4"/>
          <p:cNvSpPr/>
          <p:nvPr/>
        </p:nvSpPr>
        <p:spPr>
          <a:xfrm>
            <a:off x="3562350" y="2114500"/>
            <a:ext cx="7493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a′</a:t>
            </a:r>
            <a:endParaRPr lang="en-US" sz="1200" dirty="0"/>
          </a:p>
        </p:txBody>
      </p:sp>
      <p:sp>
        <p:nvSpPr>
          <p:cNvPr id="8" name="Text 5"/>
          <p:cNvSpPr/>
          <p:nvPr/>
        </p:nvSpPr>
        <p:spPr>
          <a:xfrm>
            <a:off x="5702300" y="1993850"/>
            <a:ext cx="5847207" cy="309860"/>
          </a:xfrm>
          <a:prstGeom prst="rect">
            <a:avLst/>
          </a:prstGeom>
          <a:noFill/>
          <a:ln/>
        </p:spPr>
        <p:txBody>
          <a:bodyPr wrap="square" lIns="0" tIns="0" rIns="0" bIns="0" rtlCol="0" anchor="t">
            <a:normAutofit/>
          </a:bodyPr>
          <a:lstStyle/>
          <a:p>
            <a:pPr marL="0" indent="0" algn="l">
              <a:lnSpc>
                <a:spcPts val="2240"/>
              </a:lnSpc>
              <a:buNone/>
            </a:pPr>
            <a:r>
              <a:rPr lang="en-US" sz="1600" i="1" dirty="0">
                <a:solidFill>
                  <a:srgbClr val="1F1B18"/>
                </a:solidFill>
                <a:latin typeface="Georgia" pitchFamily="34" charset="0"/>
                <a:ea typeface="Georgia" pitchFamily="34" charset="-122"/>
                <a:cs typeface="Georgia" pitchFamily="34" charset="-120"/>
              </a:rPr>
              <a:t>(a·a)′ = a′</a:t>
            </a:r>
            <a:endParaRPr lang="en-US" sz="1600" dirty="0"/>
          </a:p>
        </p:txBody>
      </p:sp>
      <p:sp>
        <p:nvSpPr>
          <p:cNvPr id="9" name="Text 6"/>
          <p:cNvSpPr/>
          <p:nvPr/>
        </p:nvSpPr>
        <p:spPr>
          <a:xfrm>
            <a:off x="5702300" y="2303711"/>
            <a:ext cx="5847207"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B3631"/>
                </a:solidFill>
                <a:latin typeface="Georgia" pitchFamily="34" charset="0"/>
                <a:ea typeface="Georgia" pitchFamily="34" charset="-122"/>
                <a:cs typeface="Georgia" pitchFamily="34" charset="-120"/>
              </a:rPr>
              <a:t>tie both inputs to a: </a:t>
            </a:r>
            <a:r>
              <a:rPr lang="en-US" sz="1300" i="1" dirty="0">
                <a:solidFill>
                  <a:srgbClr val="3B3631"/>
                </a:solidFill>
                <a:latin typeface="Georgia" pitchFamily="34" charset="0"/>
                <a:ea typeface="Georgia" pitchFamily="34" charset="-122"/>
                <a:cs typeface="Georgia" pitchFamily="34" charset="-120"/>
              </a:rPr>
              <a:t>a·a = a</a:t>
            </a:r>
            <a:r>
              <a:rPr lang="en-US" sz="1300" dirty="0">
                <a:solidFill>
                  <a:srgbClr val="3B3631"/>
                </a:solidFill>
                <a:latin typeface="Georgia" pitchFamily="34" charset="0"/>
                <a:ea typeface="Georgia" pitchFamily="34" charset="-122"/>
                <a:cs typeface="Georgia" pitchFamily="34" charset="-120"/>
              </a:rPr>
              <a:t> by 7a, so the NAND gives </a:t>
            </a:r>
            <a:r>
              <a:rPr lang="en-US" sz="1300" i="1" dirty="0">
                <a:solidFill>
                  <a:srgbClr val="3B3631"/>
                </a:solidFill>
                <a:latin typeface="Georgia" pitchFamily="34" charset="0"/>
                <a:ea typeface="Georgia" pitchFamily="34" charset="-122"/>
                <a:cs typeface="Georgia" pitchFamily="34" charset="-120"/>
              </a:rPr>
              <a:t>a′</a:t>
            </a:r>
            <a:endParaRPr lang="en-US" sz="1300" dirty="0"/>
          </a:p>
        </p:txBody>
      </p:sp>
      <p:sp>
        <p:nvSpPr>
          <p:cNvPr id="10" name="Shape 7"/>
          <p:cNvSpPr/>
          <p:nvPr/>
        </p:nvSpPr>
        <p:spPr>
          <a:xfrm>
            <a:off x="812800" y="2639616"/>
            <a:ext cx="10566400" cy="0"/>
          </a:xfrm>
          <a:prstGeom prst="line">
            <a:avLst/>
          </a:prstGeom>
          <a:noFill/>
          <a:ln w="6350">
            <a:solidFill>
              <a:srgbClr val="D9D0C4"/>
            </a:solidFill>
            <a:prstDash val="solid"/>
          </a:ln>
        </p:spPr>
        <p:txBody>
          <a:bodyPr/>
          <a:lstStyle/>
          <a:p>
            <a:endParaRPr lang="en-US"/>
          </a:p>
        </p:txBody>
      </p:sp>
      <p:sp>
        <p:nvSpPr>
          <p:cNvPr id="11" name="Text 8"/>
          <p:cNvSpPr/>
          <p:nvPr/>
        </p:nvSpPr>
        <p:spPr>
          <a:xfrm>
            <a:off x="812800" y="2843411"/>
            <a:ext cx="10033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B18"/>
                </a:solidFill>
                <a:latin typeface="Georgia" pitchFamily="34" charset="0"/>
                <a:ea typeface="Georgia" pitchFamily="34" charset="-122"/>
                <a:cs typeface="Georgia" pitchFamily="34" charset="-120"/>
              </a:rPr>
              <a:t>AND</a:t>
            </a:r>
            <a:endParaRPr lang="en-US" sz="1500" dirty="0"/>
          </a:p>
        </p:txBody>
      </p:sp>
      <p:pic>
        <p:nvPicPr>
          <p:cNvPr id="12" name="Image 1" descr="A NAND followed by a second NAND with its inputs tied"/>
          <p:cNvPicPr>
            <a:picLocks noChangeAspect="1"/>
          </p:cNvPicPr>
          <p:nvPr/>
        </p:nvPicPr>
        <p:blipFill>
          <a:blip r:embed="rId4"/>
          <a:srcRect/>
          <a:stretch/>
        </p:blipFill>
        <p:spPr>
          <a:xfrm>
            <a:off x="1765300" y="2706291"/>
            <a:ext cx="3657600" cy="520700"/>
          </a:xfrm>
          <a:prstGeom prst="rect">
            <a:avLst/>
          </a:prstGeom>
        </p:spPr>
      </p:pic>
      <p:sp>
        <p:nvSpPr>
          <p:cNvPr id="13" name="Text 9"/>
          <p:cNvSpPr/>
          <p:nvPr/>
        </p:nvSpPr>
        <p:spPr>
          <a:xfrm>
            <a:off x="1765300" y="2738041"/>
            <a:ext cx="23495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a</a:t>
            </a:r>
            <a:endParaRPr lang="en-US" sz="1200" dirty="0"/>
          </a:p>
        </p:txBody>
      </p:sp>
      <p:sp>
        <p:nvSpPr>
          <p:cNvPr id="14" name="Text 10"/>
          <p:cNvSpPr/>
          <p:nvPr/>
        </p:nvSpPr>
        <p:spPr>
          <a:xfrm>
            <a:off x="1765300" y="2922191"/>
            <a:ext cx="23495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b</a:t>
            </a:r>
            <a:endParaRPr lang="en-US" sz="1200" dirty="0"/>
          </a:p>
        </p:txBody>
      </p:sp>
      <p:sp>
        <p:nvSpPr>
          <p:cNvPr id="15" name="Text 11"/>
          <p:cNvSpPr/>
          <p:nvPr/>
        </p:nvSpPr>
        <p:spPr>
          <a:xfrm>
            <a:off x="4540250" y="2826941"/>
            <a:ext cx="9017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a·b</a:t>
            </a:r>
            <a:endParaRPr lang="en-US" sz="1200" dirty="0"/>
          </a:p>
        </p:txBody>
      </p:sp>
      <p:sp>
        <p:nvSpPr>
          <p:cNvPr id="16" name="Text 12"/>
          <p:cNvSpPr/>
          <p:nvPr/>
        </p:nvSpPr>
        <p:spPr>
          <a:xfrm>
            <a:off x="5702300" y="2706291"/>
            <a:ext cx="5847207" cy="309860"/>
          </a:xfrm>
          <a:prstGeom prst="rect">
            <a:avLst/>
          </a:prstGeom>
          <a:noFill/>
          <a:ln/>
        </p:spPr>
        <p:txBody>
          <a:bodyPr wrap="square" lIns="0" tIns="0" rIns="0" bIns="0" rtlCol="0" anchor="t">
            <a:normAutofit/>
          </a:bodyPr>
          <a:lstStyle/>
          <a:p>
            <a:pPr marL="0" indent="0" algn="l">
              <a:lnSpc>
                <a:spcPts val="2240"/>
              </a:lnSpc>
              <a:buNone/>
            </a:pPr>
            <a:r>
              <a:rPr lang="en-US" sz="1600" i="1" dirty="0">
                <a:solidFill>
                  <a:srgbClr val="1F1B18"/>
                </a:solidFill>
                <a:latin typeface="Georgia" pitchFamily="34" charset="0"/>
                <a:ea typeface="Georgia" pitchFamily="34" charset="-122"/>
                <a:cs typeface="Georgia" pitchFamily="34" charset="-120"/>
              </a:rPr>
              <a:t>((ab)′·(ab)′)′ = ((ab)′)′ = ab</a:t>
            </a:r>
            <a:endParaRPr lang="en-US" sz="1600" dirty="0"/>
          </a:p>
        </p:txBody>
      </p:sp>
      <p:sp>
        <p:nvSpPr>
          <p:cNvPr id="17" name="Text 13"/>
          <p:cNvSpPr/>
          <p:nvPr/>
        </p:nvSpPr>
        <p:spPr>
          <a:xfrm>
            <a:off x="5702300" y="3016151"/>
            <a:ext cx="5847207"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B3631"/>
                </a:solidFill>
                <a:latin typeface="Georgia" pitchFamily="34" charset="0"/>
                <a:ea typeface="Georgia" pitchFamily="34" charset="-122"/>
                <a:cs typeface="Georgia" pitchFamily="34" charset="-120"/>
              </a:rPr>
              <a:t>first NAND gives </a:t>
            </a:r>
            <a:r>
              <a:rPr lang="en-US" sz="1300" i="1" dirty="0">
                <a:solidFill>
                  <a:srgbClr val="3B3631"/>
                </a:solidFill>
                <a:latin typeface="Georgia" pitchFamily="34" charset="0"/>
                <a:ea typeface="Georgia" pitchFamily="34" charset="-122"/>
                <a:cs typeface="Georgia" pitchFamily="34" charset="-120"/>
              </a:rPr>
              <a:t>(ab)′</a:t>
            </a:r>
            <a:r>
              <a:rPr lang="en-US" sz="1300" dirty="0">
                <a:solidFill>
                  <a:srgbClr val="3B3631"/>
                </a:solidFill>
                <a:latin typeface="Georgia" pitchFamily="34" charset="0"/>
                <a:ea typeface="Georgia" pitchFamily="34" charset="-122"/>
                <a:cs typeface="Georgia" pitchFamily="34" charset="-120"/>
              </a:rPr>
              <a:t>; the second one inverts it back, by 7a and 9</a:t>
            </a:r>
            <a:endParaRPr lang="en-US" sz="1300" dirty="0"/>
          </a:p>
        </p:txBody>
      </p:sp>
      <p:sp>
        <p:nvSpPr>
          <p:cNvPr id="18" name="Shape 14"/>
          <p:cNvSpPr/>
          <p:nvPr/>
        </p:nvSpPr>
        <p:spPr>
          <a:xfrm>
            <a:off x="812800" y="3352056"/>
            <a:ext cx="10566400" cy="0"/>
          </a:xfrm>
          <a:prstGeom prst="line">
            <a:avLst/>
          </a:prstGeom>
          <a:noFill/>
          <a:ln w="6350">
            <a:solidFill>
              <a:srgbClr val="D9D0C4"/>
            </a:solidFill>
            <a:prstDash val="solid"/>
          </a:ln>
        </p:spPr>
        <p:txBody>
          <a:bodyPr/>
          <a:lstStyle/>
          <a:p>
            <a:endParaRPr lang="en-US"/>
          </a:p>
        </p:txBody>
      </p:sp>
      <p:sp>
        <p:nvSpPr>
          <p:cNvPr id="19" name="Text 15"/>
          <p:cNvSpPr/>
          <p:nvPr/>
        </p:nvSpPr>
        <p:spPr>
          <a:xfrm>
            <a:off x="812800" y="3863231"/>
            <a:ext cx="10033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1B18"/>
                </a:solidFill>
                <a:latin typeface="Georgia" pitchFamily="34" charset="0"/>
                <a:ea typeface="Georgia" pitchFamily="34" charset="-122"/>
                <a:cs typeface="Georgia" pitchFamily="34" charset="-120"/>
              </a:rPr>
              <a:t>OR</a:t>
            </a:r>
            <a:endParaRPr lang="en-US" sz="1500" dirty="0"/>
          </a:p>
        </p:txBody>
      </p:sp>
      <p:pic>
        <p:nvPicPr>
          <p:cNvPr id="20" name="Image 2" descr="Two NANDs inverting the inputs, feeding a third NAND"/>
          <p:cNvPicPr>
            <a:picLocks noChangeAspect="1"/>
          </p:cNvPicPr>
          <p:nvPr/>
        </p:nvPicPr>
        <p:blipFill>
          <a:blip r:embed="rId5"/>
          <a:srcRect/>
          <a:stretch/>
        </p:blipFill>
        <p:spPr>
          <a:xfrm>
            <a:off x="1765300" y="3418731"/>
            <a:ext cx="3810000" cy="1155700"/>
          </a:xfrm>
          <a:prstGeom prst="rect">
            <a:avLst/>
          </a:prstGeom>
        </p:spPr>
      </p:pic>
      <p:sp>
        <p:nvSpPr>
          <p:cNvPr id="21" name="Text 16"/>
          <p:cNvSpPr/>
          <p:nvPr/>
        </p:nvSpPr>
        <p:spPr>
          <a:xfrm>
            <a:off x="1765300" y="3539381"/>
            <a:ext cx="23495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a</a:t>
            </a:r>
            <a:endParaRPr lang="en-US" sz="1200" dirty="0"/>
          </a:p>
        </p:txBody>
      </p:sp>
      <p:sp>
        <p:nvSpPr>
          <p:cNvPr id="22" name="Text 17"/>
          <p:cNvSpPr/>
          <p:nvPr/>
        </p:nvSpPr>
        <p:spPr>
          <a:xfrm>
            <a:off x="1765300" y="4117231"/>
            <a:ext cx="23495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b</a:t>
            </a:r>
            <a:endParaRPr lang="en-US" sz="1200" dirty="0"/>
          </a:p>
        </p:txBody>
      </p:sp>
      <p:sp>
        <p:nvSpPr>
          <p:cNvPr id="23" name="Text 18"/>
          <p:cNvSpPr/>
          <p:nvPr/>
        </p:nvSpPr>
        <p:spPr>
          <a:xfrm>
            <a:off x="4692650" y="3831481"/>
            <a:ext cx="9017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a + b</a:t>
            </a:r>
            <a:endParaRPr lang="en-US" sz="1200" dirty="0"/>
          </a:p>
        </p:txBody>
      </p:sp>
      <p:sp>
        <p:nvSpPr>
          <p:cNvPr id="24" name="Text 19"/>
          <p:cNvSpPr/>
          <p:nvPr/>
        </p:nvSpPr>
        <p:spPr>
          <a:xfrm>
            <a:off x="5702300" y="3726061"/>
            <a:ext cx="5847207" cy="309860"/>
          </a:xfrm>
          <a:prstGeom prst="rect">
            <a:avLst/>
          </a:prstGeom>
          <a:noFill/>
          <a:ln/>
        </p:spPr>
        <p:txBody>
          <a:bodyPr wrap="square" lIns="0" tIns="0" rIns="0" bIns="0" rtlCol="0" anchor="t">
            <a:normAutofit/>
          </a:bodyPr>
          <a:lstStyle/>
          <a:p>
            <a:pPr marL="0" indent="0" algn="l">
              <a:lnSpc>
                <a:spcPts val="2240"/>
              </a:lnSpc>
              <a:buNone/>
            </a:pPr>
            <a:r>
              <a:rPr lang="en-US" sz="1600" i="1" dirty="0">
                <a:solidFill>
                  <a:srgbClr val="1F1B18"/>
                </a:solidFill>
                <a:latin typeface="Georgia" pitchFamily="34" charset="0"/>
                <a:ea typeface="Georgia" pitchFamily="34" charset="-122"/>
                <a:cs typeface="Georgia" pitchFamily="34" charset="-120"/>
              </a:rPr>
              <a:t>(a′·b′)′ = a + b</a:t>
            </a:r>
            <a:endParaRPr lang="en-US" sz="1600" dirty="0"/>
          </a:p>
        </p:txBody>
      </p:sp>
      <p:sp>
        <p:nvSpPr>
          <p:cNvPr id="25" name="Text 20"/>
          <p:cNvSpPr/>
          <p:nvPr/>
        </p:nvSpPr>
        <p:spPr>
          <a:xfrm>
            <a:off x="5702300" y="4035921"/>
            <a:ext cx="5847207"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B3631"/>
                </a:solidFill>
                <a:latin typeface="Georgia" pitchFamily="34" charset="0"/>
                <a:ea typeface="Georgia" pitchFamily="34" charset="-122"/>
                <a:cs typeface="Georgia" pitchFamily="34" charset="-120"/>
              </a:rPr>
              <a:t>invert a and b with tied NANDs, then NAND them: 15a and 9 give </a:t>
            </a:r>
            <a:r>
              <a:rPr lang="en-US" sz="1300" i="1" dirty="0">
                <a:solidFill>
                  <a:srgbClr val="3B3631"/>
                </a:solidFill>
                <a:latin typeface="Georgia" pitchFamily="34" charset="0"/>
                <a:ea typeface="Georgia" pitchFamily="34" charset="-122"/>
                <a:cs typeface="Georgia" pitchFamily="34" charset="-120"/>
              </a:rPr>
              <a:t>a + b</a:t>
            </a:r>
            <a:endParaRPr lang="en-US" sz="1300" dirty="0"/>
          </a:p>
        </p:txBody>
      </p:sp>
      <p:sp>
        <p:nvSpPr>
          <p:cNvPr id="26" name="Text 21"/>
          <p:cNvSpPr/>
          <p:nvPr/>
        </p:nvSpPr>
        <p:spPr>
          <a:xfrm>
            <a:off x="812800" y="4676031"/>
            <a:ext cx="10883392"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3631"/>
                </a:solidFill>
                <a:latin typeface="Georgia" pitchFamily="34" charset="0"/>
                <a:ea typeface="Georgia" pitchFamily="34" charset="-122"/>
                <a:cs typeface="Georgia" pitchFamily="34" charset="-120"/>
              </a:rPr>
              <a:t>A sum of products needs only NOT, AND and OR, and all three are here, so NANDs alone can build any circuit. One 74LS00 chip holds four of them.</a:t>
            </a:r>
            <a:endParaRPr lang="en-US" sz="1400" dirty="0"/>
          </a:p>
        </p:txBody>
      </p:sp>
      <p:sp>
        <p:nvSpPr>
          <p:cNvPr id="27" name="Text 2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28" name="Text 2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7 · NAND AND NOR</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From the formula to a NAND circuit</a:t>
            </a:r>
            <a:endParaRPr lang="en-US" sz="3200" dirty="0"/>
          </a:p>
        </p:txBody>
      </p:sp>
      <p:sp>
        <p:nvSpPr>
          <p:cNvPr id="4" name="Text 2"/>
          <p:cNvSpPr/>
          <p:nvPr/>
        </p:nvSpPr>
        <p:spPr>
          <a:xfrm>
            <a:off x="812800" y="2684512"/>
            <a:ext cx="3810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A3292A"/>
                </a:solidFill>
                <a:latin typeface="Georgia" pitchFamily="34" charset="0"/>
                <a:ea typeface="Georgia" pitchFamily="34" charset="-122"/>
                <a:cs typeface="Georgia" pitchFamily="34" charset="-120"/>
              </a:rPr>
              <a:t>1</a:t>
            </a:r>
            <a:endParaRPr lang="en-US" sz="1500" dirty="0"/>
          </a:p>
        </p:txBody>
      </p:sp>
      <p:sp>
        <p:nvSpPr>
          <p:cNvPr id="5" name="Text 3"/>
          <p:cNvSpPr/>
          <p:nvPr/>
        </p:nvSpPr>
        <p:spPr>
          <a:xfrm>
            <a:off x="1143000" y="2694037"/>
            <a:ext cx="6854444" cy="283170"/>
          </a:xfrm>
          <a:prstGeom prst="rect">
            <a:avLst/>
          </a:prstGeom>
          <a:noFill/>
          <a:ln/>
        </p:spPr>
        <p:txBody>
          <a:bodyPr wrap="square" lIns="0" tIns="0" rIns="0" bIns="0" rtlCol="0" anchor="t">
            <a:normAutofit/>
          </a:bodyPr>
          <a:lstStyle/>
          <a:p>
            <a:pPr marL="0" indent="0" algn="l">
              <a:lnSpc>
                <a:spcPts val="2030"/>
              </a:lnSpc>
              <a:buNone/>
            </a:pPr>
            <a:r>
              <a:rPr lang="en-US" sz="1450" dirty="0">
                <a:solidFill>
                  <a:srgbClr val="3B3631"/>
                </a:solidFill>
                <a:latin typeface="Georgia" pitchFamily="34" charset="0"/>
                <a:ea typeface="Georgia" pitchFamily="34" charset="-122"/>
                <a:cs typeface="Georgia" pitchFamily="34" charset="-120"/>
              </a:rPr>
              <a:t>Start from the function: </a:t>
            </a:r>
            <a:r>
              <a:rPr lang="en-US" sz="1450" i="1" dirty="0">
                <a:solidFill>
                  <a:srgbClr val="3B3631"/>
                </a:solidFill>
                <a:latin typeface="Georgia" pitchFamily="34" charset="0"/>
                <a:ea typeface="Georgia" pitchFamily="34" charset="-122"/>
                <a:cs typeface="Georgia" pitchFamily="34" charset="-120"/>
              </a:rPr>
              <a:t>F = AB + B′C</a:t>
            </a:r>
            <a:r>
              <a:rPr lang="en-US" sz="1450" dirty="0">
                <a:solidFill>
                  <a:srgbClr val="3B3631"/>
                </a:solidFill>
                <a:latin typeface="Georgia" pitchFamily="34" charset="0"/>
                <a:ea typeface="Georgia" pitchFamily="34" charset="-122"/>
                <a:cs typeface="Georgia" pitchFamily="34" charset="-120"/>
              </a:rPr>
              <a:t>.</a:t>
            </a:r>
            <a:endParaRPr lang="en-US" sz="1450" dirty="0"/>
          </a:p>
        </p:txBody>
      </p:sp>
      <p:sp>
        <p:nvSpPr>
          <p:cNvPr id="6" name="Text 4"/>
          <p:cNvSpPr/>
          <p:nvPr/>
        </p:nvSpPr>
        <p:spPr>
          <a:xfrm>
            <a:off x="812800" y="3028007"/>
            <a:ext cx="3810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A3292A"/>
                </a:solidFill>
                <a:latin typeface="Georgia" pitchFamily="34" charset="0"/>
                <a:ea typeface="Georgia" pitchFamily="34" charset="-122"/>
                <a:cs typeface="Georgia" pitchFamily="34" charset="-120"/>
              </a:rPr>
              <a:t>2</a:t>
            </a:r>
            <a:endParaRPr lang="en-US" sz="1500" dirty="0"/>
          </a:p>
        </p:txBody>
      </p:sp>
      <p:sp>
        <p:nvSpPr>
          <p:cNvPr id="7" name="Text 5"/>
          <p:cNvSpPr/>
          <p:nvPr/>
        </p:nvSpPr>
        <p:spPr>
          <a:xfrm>
            <a:off x="1143000" y="3037532"/>
            <a:ext cx="6854444" cy="283170"/>
          </a:xfrm>
          <a:prstGeom prst="rect">
            <a:avLst/>
          </a:prstGeom>
          <a:noFill/>
          <a:ln/>
        </p:spPr>
        <p:txBody>
          <a:bodyPr wrap="square" lIns="0" tIns="0" rIns="0" bIns="0" rtlCol="0" anchor="t">
            <a:normAutofit/>
          </a:bodyPr>
          <a:lstStyle/>
          <a:p>
            <a:pPr marL="0" indent="0" algn="l">
              <a:lnSpc>
                <a:spcPts val="2030"/>
              </a:lnSpc>
              <a:buNone/>
            </a:pPr>
            <a:r>
              <a:rPr lang="en-US" sz="1450" dirty="0">
                <a:solidFill>
                  <a:srgbClr val="3B3631"/>
                </a:solidFill>
                <a:latin typeface="Georgia" pitchFamily="34" charset="0"/>
                <a:ea typeface="Georgia" pitchFamily="34" charset="-122"/>
                <a:cs typeface="Georgia" pitchFamily="34" charset="-120"/>
              </a:rPr>
              <a:t>Complement it twice. By 9 that changes nothing: </a:t>
            </a:r>
            <a:r>
              <a:rPr lang="en-US" sz="1450" i="1" dirty="0">
                <a:solidFill>
                  <a:srgbClr val="3B3631"/>
                </a:solidFill>
                <a:latin typeface="Georgia" pitchFamily="34" charset="0"/>
                <a:ea typeface="Georgia" pitchFamily="34" charset="-122"/>
                <a:cs typeface="Georgia" pitchFamily="34" charset="-120"/>
              </a:rPr>
              <a:t>F = ((AB + B′C)′)′</a:t>
            </a:r>
            <a:r>
              <a:rPr lang="en-US" sz="1450" dirty="0">
                <a:solidFill>
                  <a:srgbClr val="3B3631"/>
                </a:solidFill>
                <a:latin typeface="Georgia" pitchFamily="34" charset="0"/>
                <a:ea typeface="Georgia" pitchFamily="34" charset="-122"/>
                <a:cs typeface="Georgia" pitchFamily="34" charset="-120"/>
              </a:rPr>
              <a:t>.</a:t>
            </a:r>
            <a:endParaRPr lang="en-US" sz="1450" dirty="0"/>
          </a:p>
        </p:txBody>
      </p:sp>
      <p:sp>
        <p:nvSpPr>
          <p:cNvPr id="8" name="Text 6"/>
          <p:cNvSpPr/>
          <p:nvPr/>
        </p:nvSpPr>
        <p:spPr>
          <a:xfrm>
            <a:off x="812800" y="3371503"/>
            <a:ext cx="3810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A3292A"/>
                </a:solidFill>
                <a:latin typeface="Georgia" pitchFamily="34" charset="0"/>
                <a:ea typeface="Georgia" pitchFamily="34" charset="-122"/>
                <a:cs typeface="Georgia" pitchFamily="34" charset="-120"/>
              </a:rPr>
              <a:t>3</a:t>
            </a:r>
            <a:endParaRPr lang="en-US" sz="1500" dirty="0"/>
          </a:p>
        </p:txBody>
      </p:sp>
      <p:sp>
        <p:nvSpPr>
          <p:cNvPr id="9" name="Text 7"/>
          <p:cNvSpPr/>
          <p:nvPr/>
        </p:nvSpPr>
        <p:spPr>
          <a:xfrm>
            <a:off x="1143000" y="3381028"/>
            <a:ext cx="6854444" cy="540941"/>
          </a:xfrm>
          <a:prstGeom prst="rect">
            <a:avLst/>
          </a:prstGeom>
          <a:noFill/>
          <a:ln/>
        </p:spPr>
        <p:txBody>
          <a:bodyPr wrap="square" lIns="0" tIns="0" rIns="0" bIns="0" rtlCol="0" anchor="t">
            <a:normAutofit/>
          </a:bodyPr>
          <a:lstStyle/>
          <a:p>
            <a:pPr marL="0" indent="0" algn="l">
              <a:lnSpc>
                <a:spcPts val="2030"/>
              </a:lnSpc>
              <a:buNone/>
            </a:pPr>
            <a:r>
              <a:rPr lang="en-US" sz="1450" dirty="0">
                <a:solidFill>
                  <a:srgbClr val="3B3631"/>
                </a:solidFill>
                <a:latin typeface="Georgia" pitchFamily="34" charset="0"/>
                <a:ea typeface="Georgia" pitchFamily="34" charset="-122"/>
                <a:cs typeface="Georgia" pitchFamily="34" charset="-120"/>
              </a:rPr>
              <a:t>The inner complement sits over a sum, so 15b splits it into a product: </a:t>
            </a:r>
            <a:r>
              <a:rPr lang="en-US" sz="1450" i="1" dirty="0">
                <a:solidFill>
                  <a:srgbClr val="3B3631"/>
                </a:solidFill>
                <a:latin typeface="Georgia" pitchFamily="34" charset="0"/>
                <a:ea typeface="Georgia" pitchFamily="34" charset="-122"/>
                <a:cs typeface="Georgia" pitchFamily="34" charset="-120"/>
              </a:rPr>
              <a:t>(AB + B′C)′ = (AB)′·(B′C)′</a:t>
            </a:r>
            <a:r>
              <a:rPr lang="en-US" sz="1450" dirty="0">
                <a:solidFill>
                  <a:srgbClr val="3B3631"/>
                </a:solidFill>
                <a:latin typeface="Georgia" pitchFamily="34" charset="0"/>
                <a:ea typeface="Georgia" pitchFamily="34" charset="-122"/>
                <a:cs typeface="Georgia" pitchFamily="34" charset="-120"/>
              </a:rPr>
              <a:t>.</a:t>
            </a:r>
            <a:endParaRPr lang="en-US" sz="1450" dirty="0"/>
          </a:p>
        </p:txBody>
      </p:sp>
      <p:sp>
        <p:nvSpPr>
          <p:cNvPr id="10" name="Text 8"/>
          <p:cNvSpPr/>
          <p:nvPr/>
        </p:nvSpPr>
        <p:spPr>
          <a:xfrm>
            <a:off x="812800" y="3972768"/>
            <a:ext cx="3810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A3292A"/>
                </a:solidFill>
                <a:latin typeface="Georgia" pitchFamily="34" charset="0"/>
                <a:ea typeface="Georgia" pitchFamily="34" charset="-122"/>
                <a:cs typeface="Georgia" pitchFamily="34" charset="-120"/>
              </a:rPr>
              <a:t>4</a:t>
            </a:r>
            <a:endParaRPr lang="en-US" sz="1500" dirty="0"/>
          </a:p>
        </p:txBody>
      </p:sp>
      <p:sp>
        <p:nvSpPr>
          <p:cNvPr id="11" name="Text 9"/>
          <p:cNvSpPr/>
          <p:nvPr/>
        </p:nvSpPr>
        <p:spPr>
          <a:xfrm>
            <a:off x="1143000" y="3982293"/>
            <a:ext cx="6854444" cy="283170"/>
          </a:xfrm>
          <a:prstGeom prst="rect">
            <a:avLst/>
          </a:prstGeom>
          <a:noFill/>
          <a:ln/>
        </p:spPr>
        <p:txBody>
          <a:bodyPr wrap="square" lIns="0" tIns="0" rIns="0" bIns="0" rtlCol="0" anchor="t">
            <a:normAutofit/>
          </a:bodyPr>
          <a:lstStyle/>
          <a:p>
            <a:pPr marL="0" indent="0" algn="l">
              <a:lnSpc>
                <a:spcPts val="2030"/>
              </a:lnSpc>
              <a:buNone/>
            </a:pPr>
            <a:r>
              <a:rPr lang="en-US" sz="1450" dirty="0">
                <a:solidFill>
                  <a:srgbClr val="3B3631"/>
                </a:solidFill>
                <a:latin typeface="Georgia" pitchFamily="34" charset="0"/>
                <a:ea typeface="Georgia" pitchFamily="34" charset="-122"/>
                <a:cs typeface="Georgia" pitchFamily="34" charset="-120"/>
              </a:rPr>
              <a:t>Put it back: </a:t>
            </a:r>
            <a:r>
              <a:rPr lang="en-US" sz="1450" i="1" dirty="0">
                <a:solidFill>
                  <a:srgbClr val="3B3631"/>
                </a:solidFill>
                <a:latin typeface="Georgia" pitchFamily="34" charset="0"/>
                <a:ea typeface="Georgia" pitchFamily="34" charset="-122"/>
                <a:cs typeface="Georgia" pitchFamily="34" charset="-120"/>
              </a:rPr>
              <a:t>F = ((AB)′·(B′C)′)′</a:t>
            </a:r>
            <a:r>
              <a:rPr lang="en-US" sz="1450" dirty="0">
                <a:solidFill>
                  <a:srgbClr val="3B3631"/>
                </a:solidFill>
                <a:latin typeface="Georgia" pitchFamily="34" charset="0"/>
                <a:ea typeface="Georgia" pitchFamily="34" charset="-122"/>
                <a:cs typeface="Georgia" pitchFamily="34" charset="-120"/>
              </a:rPr>
              <a:t>.</a:t>
            </a:r>
            <a:endParaRPr lang="en-US" sz="1450" dirty="0"/>
          </a:p>
        </p:txBody>
      </p:sp>
      <p:sp>
        <p:nvSpPr>
          <p:cNvPr id="12" name="Text 10"/>
          <p:cNvSpPr/>
          <p:nvPr/>
        </p:nvSpPr>
        <p:spPr>
          <a:xfrm>
            <a:off x="812800" y="4316264"/>
            <a:ext cx="3810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A3292A"/>
                </a:solidFill>
                <a:latin typeface="Georgia" pitchFamily="34" charset="0"/>
                <a:ea typeface="Georgia" pitchFamily="34" charset="-122"/>
                <a:cs typeface="Georgia" pitchFamily="34" charset="-120"/>
              </a:rPr>
              <a:t>5</a:t>
            </a:r>
            <a:endParaRPr lang="en-US" sz="1500" dirty="0"/>
          </a:p>
        </p:txBody>
      </p:sp>
      <p:sp>
        <p:nvSpPr>
          <p:cNvPr id="13" name="Text 11"/>
          <p:cNvSpPr/>
          <p:nvPr/>
        </p:nvSpPr>
        <p:spPr>
          <a:xfrm>
            <a:off x="1143000" y="4325789"/>
            <a:ext cx="6854444" cy="540941"/>
          </a:xfrm>
          <a:prstGeom prst="rect">
            <a:avLst/>
          </a:prstGeom>
          <a:noFill/>
          <a:ln/>
        </p:spPr>
        <p:txBody>
          <a:bodyPr wrap="square" lIns="0" tIns="0" rIns="0" bIns="0" rtlCol="0" anchor="t">
            <a:normAutofit/>
          </a:bodyPr>
          <a:lstStyle/>
          <a:p>
            <a:pPr marL="0" indent="0" algn="l">
              <a:lnSpc>
                <a:spcPts val="2030"/>
              </a:lnSpc>
              <a:buNone/>
            </a:pPr>
            <a:r>
              <a:rPr lang="en-US" sz="1450" dirty="0">
                <a:solidFill>
                  <a:srgbClr val="3B3631"/>
                </a:solidFill>
                <a:latin typeface="Georgia" pitchFamily="34" charset="0"/>
                <a:ea typeface="Georgia" pitchFamily="34" charset="-122"/>
                <a:cs typeface="Georgia" pitchFamily="34" charset="-120"/>
              </a:rPr>
              <a:t>Now read the three complements as gates: </a:t>
            </a:r>
            <a:r>
              <a:rPr lang="en-US" sz="1450" i="1" dirty="0">
                <a:solidFill>
                  <a:srgbClr val="3B3631"/>
                </a:solidFill>
                <a:latin typeface="Georgia" pitchFamily="34" charset="0"/>
                <a:ea typeface="Georgia" pitchFamily="34" charset="-122"/>
                <a:cs typeface="Georgia" pitchFamily="34" charset="-120"/>
              </a:rPr>
              <a:t>(AB)′</a:t>
            </a:r>
            <a:r>
              <a:rPr lang="en-US" sz="1450" dirty="0">
                <a:solidFill>
                  <a:srgbClr val="3B3631"/>
                </a:solidFill>
                <a:latin typeface="Georgia" pitchFamily="34" charset="0"/>
                <a:ea typeface="Georgia" pitchFamily="34" charset="-122"/>
                <a:cs typeface="Georgia" pitchFamily="34" charset="-120"/>
              </a:rPr>
              <a:t> is a NAND of A and B, </a:t>
            </a:r>
            <a:r>
              <a:rPr lang="en-US" sz="1450" i="1" dirty="0">
                <a:solidFill>
                  <a:srgbClr val="3B3631"/>
                </a:solidFill>
                <a:latin typeface="Georgia" pitchFamily="34" charset="0"/>
                <a:ea typeface="Georgia" pitchFamily="34" charset="-122"/>
                <a:cs typeface="Georgia" pitchFamily="34" charset="-120"/>
              </a:rPr>
              <a:t>(B′C)′</a:t>
            </a:r>
            <a:r>
              <a:rPr lang="en-US" sz="1450" dirty="0">
                <a:solidFill>
                  <a:srgbClr val="3B3631"/>
                </a:solidFill>
                <a:latin typeface="Georgia" pitchFamily="34" charset="0"/>
                <a:ea typeface="Georgia" pitchFamily="34" charset="-122"/>
                <a:cs typeface="Georgia" pitchFamily="34" charset="-120"/>
              </a:rPr>
              <a:t> is a NAND of </a:t>
            </a:r>
            <a:r>
              <a:rPr lang="en-US" sz="1450" i="1" dirty="0">
                <a:solidFill>
                  <a:srgbClr val="3B3631"/>
                </a:solidFill>
                <a:latin typeface="Georgia" pitchFamily="34" charset="0"/>
                <a:ea typeface="Georgia" pitchFamily="34" charset="-122"/>
                <a:cs typeface="Georgia" pitchFamily="34" charset="-120"/>
              </a:rPr>
              <a:t>B′</a:t>
            </a:r>
            <a:r>
              <a:rPr lang="en-US" sz="1450" dirty="0">
                <a:solidFill>
                  <a:srgbClr val="3B3631"/>
                </a:solidFill>
                <a:latin typeface="Georgia" pitchFamily="34" charset="0"/>
                <a:ea typeface="Georgia" pitchFamily="34" charset="-122"/>
                <a:cs typeface="Georgia" pitchFamily="34" charset="-120"/>
              </a:rPr>
              <a:t> and C, and the outer one is a NAND of those two outputs.</a:t>
            </a:r>
            <a:endParaRPr lang="en-US" sz="1450" dirty="0"/>
          </a:p>
        </p:txBody>
      </p:sp>
      <p:pic>
        <p:nvPicPr>
          <p:cNvPr id="14" name="Image 0" descr="AND-OR circuit for AB plus B-prime C"/>
          <p:cNvPicPr>
            <a:picLocks noChangeAspect="1"/>
          </p:cNvPicPr>
          <p:nvPr/>
        </p:nvPicPr>
        <p:blipFill>
          <a:blip r:embed="rId3"/>
          <a:srcRect/>
          <a:stretch/>
        </p:blipFill>
        <p:spPr>
          <a:xfrm>
            <a:off x="8102600" y="1930350"/>
            <a:ext cx="3276600" cy="1492250"/>
          </a:xfrm>
          <a:prstGeom prst="rect">
            <a:avLst/>
          </a:prstGeom>
        </p:spPr>
      </p:pic>
      <p:sp>
        <p:nvSpPr>
          <p:cNvPr id="15" name="Text 12"/>
          <p:cNvSpPr/>
          <p:nvPr/>
        </p:nvSpPr>
        <p:spPr>
          <a:xfrm>
            <a:off x="8166100" y="2070050"/>
            <a:ext cx="2032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A</a:t>
            </a:r>
            <a:endParaRPr lang="en-US" sz="1200" dirty="0"/>
          </a:p>
        </p:txBody>
      </p:sp>
      <p:sp>
        <p:nvSpPr>
          <p:cNvPr id="16" name="Text 13"/>
          <p:cNvSpPr/>
          <p:nvPr/>
        </p:nvSpPr>
        <p:spPr>
          <a:xfrm>
            <a:off x="8166100" y="2247850"/>
            <a:ext cx="2032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B</a:t>
            </a:r>
            <a:endParaRPr lang="en-US" sz="1200" dirty="0"/>
          </a:p>
        </p:txBody>
      </p:sp>
      <p:sp>
        <p:nvSpPr>
          <p:cNvPr id="17" name="Text 14"/>
          <p:cNvSpPr/>
          <p:nvPr/>
        </p:nvSpPr>
        <p:spPr>
          <a:xfrm>
            <a:off x="8166100" y="3009850"/>
            <a:ext cx="2032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C</a:t>
            </a:r>
            <a:endParaRPr lang="en-US" sz="1200" dirty="0"/>
          </a:p>
        </p:txBody>
      </p:sp>
      <p:sp>
        <p:nvSpPr>
          <p:cNvPr id="18" name="Text 15"/>
          <p:cNvSpPr/>
          <p:nvPr/>
        </p:nvSpPr>
        <p:spPr>
          <a:xfrm>
            <a:off x="11137900" y="2539950"/>
            <a:ext cx="2667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F</a:t>
            </a:r>
            <a:endParaRPr lang="en-US" sz="1200" dirty="0"/>
          </a:p>
        </p:txBody>
      </p:sp>
      <p:sp>
        <p:nvSpPr>
          <p:cNvPr id="19" name="Text 16"/>
          <p:cNvSpPr/>
          <p:nvPr/>
        </p:nvSpPr>
        <p:spPr>
          <a:xfrm>
            <a:off x="9049296" y="3498800"/>
            <a:ext cx="1383209" cy="238720"/>
          </a:xfrm>
          <a:prstGeom prst="rect">
            <a:avLst/>
          </a:prstGeom>
          <a:noFill/>
          <a:ln/>
        </p:spPr>
        <p:txBody>
          <a:bodyPr wrap="square" lIns="0" tIns="0" rIns="0" bIns="0" rtlCol="0" anchor="t">
            <a:normAutofit/>
          </a:bodyPr>
          <a:lstStyle/>
          <a:p>
            <a:pPr marL="0" indent="0" algn="ctr">
              <a:lnSpc>
                <a:spcPts val="1680"/>
              </a:lnSpc>
              <a:buNone/>
            </a:pPr>
            <a:r>
              <a:rPr lang="en-US" sz="1200" i="1" dirty="0">
                <a:solidFill>
                  <a:srgbClr val="6F665D"/>
                </a:solidFill>
                <a:latin typeface="Georgia" pitchFamily="34" charset="0"/>
                <a:ea typeface="Georgia" pitchFamily="34" charset="-122"/>
                <a:cs typeface="Georgia" pitchFamily="34" charset="-120"/>
              </a:rPr>
              <a:t>the AND-OR circuit</a:t>
            </a:r>
            <a:endParaRPr lang="en-US" sz="1200" dirty="0"/>
          </a:p>
        </p:txBody>
      </p:sp>
      <p:pic>
        <p:nvPicPr>
          <p:cNvPr id="20" name="Image 1" descr="The same function built from four NAND gates"/>
          <p:cNvPicPr>
            <a:picLocks noChangeAspect="1"/>
          </p:cNvPicPr>
          <p:nvPr/>
        </p:nvPicPr>
        <p:blipFill>
          <a:blip r:embed="rId4"/>
          <a:srcRect/>
          <a:stretch/>
        </p:blipFill>
        <p:spPr>
          <a:xfrm>
            <a:off x="8102600" y="3813721"/>
            <a:ext cx="3276600" cy="1492250"/>
          </a:xfrm>
          <a:prstGeom prst="rect">
            <a:avLst/>
          </a:prstGeom>
        </p:spPr>
      </p:pic>
      <p:sp>
        <p:nvSpPr>
          <p:cNvPr id="21" name="Text 17"/>
          <p:cNvSpPr/>
          <p:nvPr/>
        </p:nvSpPr>
        <p:spPr>
          <a:xfrm>
            <a:off x="8166100" y="3953421"/>
            <a:ext cx="2032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A</a:t>
            </a:r>
            <a:endParaRPr lang="en-US" sz="1200" dirty="0"/>
          </a:p>
        </p:txBody>
      </p:sp>
      <p:sp>
        <p:nvSpPr>
          <p:cNvPr id="22" name="Text 18"/>
          <p:cNvSpPr/>
          <p:nvPr/>
        </p:nvSpPr>
        <p:spPr>
          <a:xfrm>
            <a:off x="8166100" y="4131221"/>
            <a:ext cx="2032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B</a:t>
            </a:r>
            <a:endParaRPr lang="en-US" sz="1200" dirty="0"/>
          </a:p>
        </p:txBody>
      </p:sp>
      <p:sp>
        <p:nvSpPr>
          <p:cNvPr id="23" name="Text 19"/>
          <p:cNvSpPr/>
          <p:nvPr/>
        </p:nvSpPr>
        <p:spPr>
          <a:xfrm>
            <a:off x="8166100" y="4893221"/>
            <a:ext cx="2032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C</a:t>
            </a:r>
            <a:endParaRPr lang="en-US" sz="1200" dirty="0"/>
          </a:p>
        </p:txBody>
      </p:sp>
      <p:sp>
        <p:nvSpPr>
          <p:cNvPr id="24" name="Text 20"/>
          <p:cNvSpPr/>
          <p:nvPr/>
        </p:nvSpPr>
        <p:spPr>
          <a:xfrm>
            <a:off x="11195050" y="4423321"/>
            <a:ext cx="23495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F</a:t>
            </a:r>
            <a:endParaRPr lang="en-US" sz="1200" dirty="0"/>
          </a:p>
        </p:txBody>
      </p:sp>
      <p:sp>
        <p:nvSpPr>
          <p:cNvPr id="25" name="Text 21"/>
          <p:cNvSpPr/>
          <p:nvPr/>
        </p:nvSpPr>
        <p:spPr>
          <a:xfrm>
            <a:off x="8709698" y="5382171"/>
            <a:ext cx="2062404" cy="238720"/>
          </a:xfrm>
          <a:prstGeom prst="rect">
            <a:avLst/>
          </a:prstGeom>
          <a:noFill/>
          <a:ln/>
        </p:spPr>
        <p:txBody>
          <a:bodyPr wrap="square" lIns="0" tIns="0" rIns="0" bIns="0" rtlCol="0" anchor="t">
            <a:normAutofit/>
          </a:bodyPr>
          <a:lstStyle/>
          <a:p>
            <a:pPr marL="0" indent="0" algn="ctr">
              <a:lnSpc>
                <a:spcPts val="1680"/>
              </a:lnSpc>
              <a:buNone/>
            </a:pPr>
            <a:r>
              <a:rPr lang="en-US" sz="1200" i="1" dirty="0">
                <a:solidFill>
                  <a:srgbClr val="6F665D"/>
                </a:solidFill>
                <a:latin typeface="Georgia" pitchFamily="34" charset="0"/>
                <a:ea typeface="Georgia" pitchFamily="34" charset="-122"/>
                <a:cs typeface="Georgia" pitchFamily="34" charset="-120"/>
              </a:rPr>
              <a:t>the same formula, all NANDs</a:t>
            </a:r>
            <a:endParaRPr lang="en-US" sz="1200" dirty="0"/>
          </a:p>
        </p:txBody>
      </p:sp>
      <p:sp>
        <p:nvSpPr>
          <p:cNvPr id="26" name="Text 2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27" name="Text 2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1712"/>
          </a:xfrm>
          <a:prstGeom prst="rect">
            <a:avLst/>
          </a:prstGeom>
          <a:noFill/>
          <a:ln/>
        </p:spPr>
        <p:txBody>
          <a:bodyPr wrap="square" lIns="0" tIns="0" rIns="0" bIns="0" rtlCol="0" anchor="t">
            <a:normAutofit/>
          </a:bodyPr>
          <a:lstStyle/>
          <a:p>
            <a:pPr marL="0" indent="0" algn="l">
              <a:lnSpc>
                <a:spcPts val="1423"/>
              </a:lnSpc>
              <a:buNone/>
            </a:pPr>
            <a:r>
              <a:rPr lang="en-US" sz="1016" b="1" kern="0" spc="150" dirty="0">
                <a:solidFill>
                  <a:srgbClr val="A3292A"/>
                </a:solidFill>
                <a:latin typeface="Arial" pitchFamily="34" charset="0"/>
                <a:ea typeface="Arial" pitchFamily="34" charset="-122"/>
                <a:cs typeface="Arial" pitchFamily="34" charset="-120"/>
              </a:rPr>
              <a:t>7 · NAND AND NOR</a:t>
            </a:r>
            <a:endParaRPr lang="en-US" sz="1016" dirty="0"/>
          </a:p>
        </p:txBody>
      </p:sp>
      <p:sp>
        <p:nvSpPr>
          <p:cNvPr id="3" name="Text 1"/>
          <p:cNvSpPr/>
          <p:nvPr/>
        </p:nvSpPr>
        <p:spPr>
          <a:xfrm>
            <a:off x="812800" y="1217712"/>
            <a:ext cx="10883392" cy="394841"/>
          </a:xfrm>
          <a:prstGeom prst="rect">
            <a:avLst/>
          </a:prstGeom>
          <a:noFill/>
          <a:ln/>
        </p:spPr>
        <p:txBody>
          <a:bodyPr wrap="square" lIns="0" tIns="0" rIns="0" bIns="0" rtlCol="0" anchor="t">
            <a:normAutofit/>
          </a:bodyPr>
          <a:lstStyle/>
          <a:p>
            <a:pPr marL="0" indent="0" algn="l">
              <a:lnSpc>
                <a:spcPts val="2915"/>
              </a:lnSpc>
              <a:buNone/>
            </a:pPr>
            <a:r>
              <a:rPr lang="en-US" sz="2650" b="1" dirty="0">
                <a:solidFill>
                  <a:srgbClr val="1F1B18"/>
                </a:solidFill>
                <a:latin typeface="Georgia" pitchFamily="34" charset="0"/>
                <a:ea typeface="Georgia" pitchFamily="34" charset="-122"/>
                <a:cs typeface="Georgia" pitchFamily="34" charset="-120"/>
              </a:rPr>
              <a:t>The recipe, and the same trick for POS</a:t>
            </a:r>
            <a:endParaRPr lang="en-US" sz="2650" dirty="0"/>
          </a:p>
        </p:txBody>
      </p:sp>
      <p:sp>
        <p:nvSpPr>
          <p:cNvPr id="4" name="Shape 2"/>
          <p:cNvSpPr/>
          <p:nvPr/>
        </p:nvSpPr>
        <p:spPr>
          <a:xfrm>
            <a:off x="812800" y="1815753"/>
            <a:ext cx="10566400" cy="1002457"/>
          </a:xfrm>
          <a:prstGeom prst="roundRect">
            <a:avLst>
              <a:gd name="adj" fmla="val 7601"/>
            </a:avLst>
          </a:prstGeom>
          <a:solidFill>
            <a:srgbClr val="EFE8DD"/>
          </a:solidFill>
          <a:ln/>
        </p:spPr>
        <p:txBody>
          <a:bodyPr/>
          <a:lstStyle/>
          <a:p>
            <a:endParaRPr lang="en-US"/>
          </a:p>
        </p:txBody>
      </p:sp>
      <p:sp>
        <p:nvSpPr>
          <p:cNvPr id="5" name="Text 3"/>
          <p:cNvSpPr/>
          <p:nvPr/>
        </p:nvSpPr>
        <p:spPr>
          <a:xfrm>
            <a:off x="1041400" y="2018953"/>
            <a:ext cx="10412476" cy="201067"/>
          </a:xfrm>
          <a:prstGeom prst="rect">
            <a:avLst/>
          </a:prstGeom>
          <a:noFill/>
          <a:ln/>
        </p:spPr>
        <p:txBody>
          <a:bodyPr wrap="square" lIns="0" tIns="0" rIns="0" bIns="0" rtlCol="0" anchor="t">
            <a:normAutofit/>
          </a:bodyPr>
          <a:lstStyle/>
          <a:p>
            <a:pPr marL="0" indent="0" algn="l">
              <a:lnSpc>
                <a:spcPts val="1425"/>
              </a:lnSpc>
              <a:buNone/>
            </a:pPr>
            <a:r>
              <a:rPr lang="en-US" sz="1140" b="1" dirty="0">
                <a:solidFill>
                  <a:srgbClr val="1F1B18"/>
                </a:solidFill>
                <a:latin typeface="Georgia" pitchFamily="34" charset="0"/>
                <a:ea typeface="Georgia" pitchFamily="34" charset="-122"/>
                <a:cs typeface="Georgia" pitchFamily="34" charset="-120"/>
              </a:rPr>
              <a:t>The recipe</a:t>
            </a:r>
            <a:endParaRPr lang="en-US" sz="1140" dirty="0"/>
          </a:p>
        </p:txBody>
      </p:sp>
      <p:sp>
        <p:nvSpPr>
          <p:cNvPr id="6" name="Text 4"/>
          <p:cNvSpPr/>
          <p:nvPr/>
        </p:nvSpPr>
        <p:spPr>
          <a:xfrm>
            <a:off x="1041400" y="2270820"/>
            <a:ext cx="10412476" cy="369590"/>
          </a:xfrm>
          <a:prstGeom prst="rect">
            <a:avLst/>
          </a:prstGeom>
          <a:noFill/>
          <a:ln/>
        </p:spPr>
        <p:txBody>
          <a:bodyPr wrap="square" lIns="0" tIns="0" rIns="0" bIns="0" rtlCol="0" anchor="t">
            <a:normAutofit/>
          </a:bodyPr>
          <a:lstStyle/>
          <a:p>
            <a:pPr marL="0" indent="0" algn="l">
              <a:lnSpc>
                <a:spcPts val="1378"/>
              </a:lnSpc>
              <a:buNone/>
            </a:pPr>
            <a:r>
              <a:rPr lang="en-US" sz="984" dirty="0">
                <a:solidFill>
                  <a:srgbClr val="3B3631"/>
                </a:solidFill>
                <a:latin typeface="Georgia" pitchFamily="34" charset="0"/>
                <a:ea typeface="Georgia" pitchFamily="34" charset="-122"/>
                <a:cs typeface="Georgia" pitchFamily="34" charset="-120"/>
              </a:rPr>
              <a:t>Those two steps, complement twice and split with DeMorgan, always land in the same place: in a two-level AND-OR circuit, replace every gate with a NAND and leave the wiring alone.</a:t>
            </a:r>
            <a:endParaRPr lang="en-US" sz="984" dirty="0"/>
          </a:p>
        </p:txBody>
      </p:sp>
      <p:sp>
        <p:nvSpPr>
          <p:cNvPr id="7" name="Shape 5"/>
          <p:cNvSpPr/>
          <p:nvPr/>
        </p:nvSpPr>
        <p:spPr>
          <a:xfrm>
            <a:off x="812800" y="2919809"/>
            <a:ext cx="10566400" cy="1002407"/>
          </a:xfrm>
          <a:prstGeom prst="roundRect">
            <a:avLst>
              <a:gd name="adj" fmla="val 7602"/>
            </a:avLst>
          </a:prstGeom>
          <a:solidFill>
            <a:srgbClr val="EFE8DD"/>
          </a:solidFill>
          <a:ln/>
        </p:spPr>
        <p:txBody>
          <a:bodyPr/>
          <a:lstStyle/>
          <a:p>
            <a:endParaRPr lang="en-US"/>
          </a:p>
        </p:txBody>
      </p:sp>
      <p:sp>
        <p:nvSpPr>
          <p:cNvPr id="8" name="Text 6"/>
          <p:cNvSpPr/>
          <p:nvPr/>
        </p:nvSpPr>
        <p:spPr>
          <a:xfrm>
            <a:off x="1041400" y="3123009"/>
            <a:ext cx="10412476" cy="201017"/>
          </a:xfrm>
          <a:prstGeom prst="rect">
            <a:avLst/>
          </a:prstGeom>
          <a:noFill/>
          <a:ln/>
        </p:spPr>
        <p:txBody>
          <a:bodyPr wrap="square" lIns="0" tIns="0" rIns="0" bIns="0" rtlCol="0" anchor="t">
            <a:normAutofit/>
          </a:bodyPr>
          <a:lstStyle/>
          <a:p>
            <a:pPr marL="0" indent="0" algn="l">
              <a:lnSpc>
                <a:spcPts val="1425"/>
              </a:lnSpc>
              <a:buNone/>
            </a:pPr>
            <a:r>
              <a:rPr lang="en-US" sz="1140" b="1" dirty="0">
                <a:solidFill>
                  <a:srgbClr val="1F1B18"/>
                </a:solidFill>
                <a:latin typeface="Georgia" pitchFamily="34" charset="0"/>
                <a:ea typeface="Georgia" pitchFamily="34" charset="-122"/>
                <a:cs typeface="Georgia" pitchFamily="34" charset="-120"/>
              </a:rPr>
              <a:t>Product of sums, the same way</a:t>
            </a:r>
            <a:endParaRPr lang="en-US" sz="1140" dirty="0"/>
          </a:p>
        </p:txBody>
      </p:sp>
      <p:sp>
        <p:nvSpPr>
          <p:cNvPr id="9" name="Text 7"/>
          <p:cNvSpPr/>
          <p:nvPr/>
        </p:nvSpPr>
        <p:spPr>
          <a:xfrm>
            <a:off x="1041400" y="3374827"/>
            <a:ext cx="10412476" cy="369590"/>
          </a:xfrm>
          <a:prstGeom prst="rect">
            <a:avLst/>
          </a:prstGeom>
          <a:noFill/>
          <a:ln/>
        </p:spPr>
        <p:txBody>
          <a:bodyPr wrap="square" lIns="0" tIns="0" rIns="0" bIns="0" rtlCol="0" anchor="t">
            <a:normAutofit/>
          </a:bodyPr>
          <a:lstStyle/>
          <a:p>
            <a:pPr marL="0" indent="0" algn="l">
              <a:lnSpc>
                <a:spcPts val="1721"/>
              </a:lnSpc>
              <a:buNone/>
            </a:pPr>
            <a:r>
              <a:rPr lang="en-US" sz="1229" i="1" dirty="0">
                <a:solidFill>
                  <a:srgbClr val="3B3631"/>
                </a:solidFill>
                <a:latin typeface="Georgia" pitchFamily="34" charset="0"/>
                <a:ea typeface="Georgia" pitchFamily="34" charset="-122"/>
                <a:cs typeface="Georgia" pitchFamily="34" charset="-120"/>
              </a:rPr>
              <a:t>(A + B)(B′ + C) = (((A + B)(B′ + C))′)′ = ((A + B)′ + (B′ + C)′)′</a:t>
            </a:r>
            <a:r>
              <a:rPr lang="en-US" sz="1229" dirty="0">
                <a:solidFill>
                  <a:srgbClr val="3B3631"/>
                </a:solidFill>
                <a:latin typeface="Georgia" pitchFamily="34" charset="0"/>
                <a:ea typeface="Georgia" pitchFamily="34" charset="-122"/>
                <a:cs typeface="Georgia" pitchFamily="34" charset="-120"/>
              </a:rPr>
              <a:t> by 9 and 15a. Every complement is a NOR, so an OR-AND circuit becomes all NORs.</a:t>
            </a:r>
            <a:endParaRPr lang="en-US" sz="1229" dirty="0"/>
          </a:p>
        </p:txBody>
      </p:sp>
      <p:sp>
        <p:nvSpPr>
          <p:cNvPr id="10" name="Shape 8"/>
          <p:cNvSpPr/>
          <p:nvPr/>
        </p:nvSpPr>
        <p:spPr>
          <a:xfrm>
            <a:off x="812800" y="4023816"/>
            <a:ext cx="10566400" cy="1002407"/>
          </a:xfrm>
          <a:prstGeom prst="roundRect">
            <a:avLst>
              <a:gd name="adj" fmla="val 7602"/>
            </a:avLst>
          </a:prstGeom>
          <a:solidFill>
            <a:srgbClr val="EFE8DD"/>
          </a:solidFill>
          <a:ln/>
        </p:spPr>
        <p:txBody>
          <a:bodyPr/>
          <a:lstStyle/>
          <a:p>
            <a:endParaRPr lang="en-US"/>
          </a:p>
        </p:txBody>
      </p:sp>
      <p:sp>
        <p:nvSpPr>
          <p:cNvPr id="11" name="Text 9"/>
          <p:cNvSpPr/>
          <p:nvPr/>
        </p:nvSpPr>
        <p:spPr>
          <a:xfrm>
            <a:off x="1041400" y="4227016"/>
            <a:ext cx="10412476" cy="201017"/>
          </a:xfrm>
          <a:prstGeom prst="rect">
            <a:avLst/>
          </a:prstGeom>
          <a:noFill/>
          <a:ln/>
        </p:spPr>
        <p:txBody>
          <a:bodyPr wrap="square" lIns="0" tIns="0" rIns="0" bIns="0" rtlCol="0" anchor="t">
            <a:normAutofit/>
          </a:bodyPr>
          <a:lstStyle/>
          <a:p>
            <a:pPr marL="0" indent="0" algn="l">
              <a:lnSpc>
                <a:spcPts val="1425"/>
              </a:lnSpc>
              <a:buNone/>
            </a:pPr>
            <a:r>
              <a:rPr lang="en-US" sz="1140" b="1" dirty="0">
                <a:solidFill>
                  <a:srgbClr val="1F1B18"/>
                </a:solidFill>
                <a:latin typeface="Georgia" pitchFamily="34" charset="0"/>
                <a:ea typeface="Georgia" pitchFamily="34" charset="-122"/>
                <a:cs typeface="Georgia" pitchFamily="34" charset="-120"/>
              </a:rPr>
              <a:t>Count the gates</a:t>
            </a:r>
            <a:endParaRPr lang="en-US" sz="1140" dirty="0"/>
          </a:p>
        </p:txBody>
      </p:sp>
      <p:sp>
        <p:nvSpPr>
          <p:cNvPr id="12" name="Text 10"/>
          <p:cNvSpPr/>
          <p:nvPr/>
        </p:nvSpPr>
        <p:spPr>
          <a:xfrm>
            <a:off x="1041400" y="4478834"/>
            <a:ext cx="10412476" cy="369590"/>
          </a:xfrm>
          <a:prstGeom prst="rect">
            <a:avLst/>
          </a:prstGeom>
          <a:noFill/>
          <a:ln/>
        </p:spPr>
        <p:txBody>
          <a:bodyPr wrap="square" lIns="0" tIns="0" rIns="0" bIns="0" rtlCol="0" anchor="t">
            <a:normAutofit/>
          </a:bodyPr>
          <a:lstStyle/>
          <a:p>
            <a:pPr marL="0" indent="0" algn="l">
              <a:lnSpc>
                <a:spcPts val="1691"/>
              </a:lnSpc>
              <a:buNone/>
            </a:pPr>
            <a:r>
              <a:rPr lang="en-US" sz="1208" dirty="0">
                <a:solidFill>
                  <a:srgbClr val="3B3631"/>
                </a:solidFill>
                <a:latin typeface="Georgia" pitchFamily="34" charset="0"/>
                <a:ea typeface="Georgia" pitchFamily="34" charset="-122"/>
                <a:cs typeface="Georgia" pitchFamily="34" charset="-120"/>
              </a:rPr>
              <a:t>For </a:t>
            </a:r>
            <a:r>
              <a:rPr lang="en-US" sz="1208" i="1" dirty="0">
                <a:solidFill>
                  <a:srgbClr val="3B3631"/>
                </a:solidFill>
                <a:latin typeface="Georgia" pitchFamily="34" charset="0"/>
                <a:ea typeface="Georgia" pitchFamily="34" charset="-122"/>
                <a:cs typeface="Georgia" pitchFamily="34" charset="-120"/>
              </a:rPr>
              <a:t>AB + B′C</a:t>
            </a:r>
            <a:r>
              <a:rPr lang="en-US" sz="1208" dirty="0">
                <a:solidFill>
                  <a:srgbClr val="3B3631"/>
                </a:solidFill>
                <a:latin typeface="Georgia" pitchFamily="34" charset="0"/>
                <a:ea typeface="Georgia" pitchFamily="34" charset="-122"/>
                <a:cs typeface="Georgia" pitchFamily="34" charset="-120"/>
              </a:rPr>
              <a:t>: two NANDs for the products, one for the sum, and one with its inputs tied to make </a:t>
            </a:r>
            <a:r>
              <a:rPr lang="en-US" sz="1208" i="1" dirty="0">
                <a:solidFill>
                  <a:srgbClr val="3B3631"/>
                </a:solidFill>
                <a:latin typeface="Georgia" pitchFamily="34" charset="0"/>
                <a:ea typeface="Georgia" pitchFamily="34" charset="-122"/>
                <a:cs typeface="Georgia" pitchFamily="34" charset="-120"/>
              </a:rPr>
              <a:t>B′</a:t>
            </a:r>
            <a:r>
              <a:rPr lang="en-US" sz="1208" dirty="0">
                <a:solidFill>
                  <a:srgbClr val="3B3631"/>
                </a:solidFill>
                <a:latin typeface="Georgia" pitchFamily="34" charset="0"/>
                <a:ea typeface="Georgia" pitchFamily="34" charset="-122"/>
                <a:cs typeface="Georgia" pitchFamily="34" charset="-120"/>
              </a:rPr>
              <a:t>. Four 2-input NANDs, which is one 74LS00 chip.</a:t>
            </a:r>
            <a:endParaRPr lang="en-US" sz="1208" dirty="0"/>
          </a:p>
        </p:txBody>
      </p:sp>
      <p:sp>
        <p:nvSpPr>
          <p:cNvPr id="13" name="Shape 11"/>
          <p:cNvSpPr/>
          <p:nvPr/>
        </p:nvSpPr>
        <p:spPr>
          <a:xfrm>
            <a:off x="812800" y="5127823"/>
            <a:ext cx="10566400" cy="714177"/>
          </a:xfrm>
          <a:prstGeom prst="rect">
            <a:avLst/>
          </a:prstGeom>
          <a:solidFill>
            <a:srgbClr val="EFE8DD"/>
          </a:solidFill>
          <a:ln/>
        </p:spPr>
        <p:txBody>
          <a:bodyPr/>
          <a:lstStyle/>
          <a:p>
            <a:endParaRPr lang="en-US"/>
          </a:p>
        </p:txBody>
      </p:sp>
      <p:sp>
        <p:nvSpPr>
          <p:cNvPr id="14" name="Shape 12"/>
          <p:cNvSpPr/>
          <p:nvPr/>
        </p:nvSpPr>
        <p:spPr>
          <a:xfrm>
            <a:off x="838200" y="5127823"/>
            <a:ext cx="0" cy="714177"/>
          </a:xfrm>
          <a:prstGeom prst="line">
            <a:avLst/>
          </a:prstGeom>
          <a:noFill/>
          <a:ln w="50800">
            <a:solidFill>
              <a:srgbClr val="A3292A"/>
            </a:solidFill>
            <a:prstDash val="solid"/>
          </a:ln>
        </p:spPr>
        <p:txBody>
          <a:bodyPr/>
          <a:lstStyle/>
          <a:p>
            <a:endParaRPr lang="en-US"/>
          </a:p>
        </p:txBody>
      </p:sp>
      <p:sp>
        <p:nvSpPr>
          <p:cNvPr id="15" name="Text 13"/>
          <p:cNvSpPr/>
          <p:nvPr/>
        </p:nvSpPr>
        <p:spPr>
          <a:xfrm>
            <a:off x="1092200" y="5292923"/>
            <a:ext cx="10360152" cy="409377"/>
          </a:xfrm>
          <a:prstGeom prst="rect">
            <a:avLst/>
          </a:prstGeom>
          <a:noFill/>
          <a:ln/>
        </p:spPr>
        <p:txBody>
          <a:bodyPr wrap="square" lIns="0" tIns="0" rIns="0" bIns="0" rtlCol="0" anchor="t">
            <a:normAutofit/>
          </a:bodyPr>
          <a:lstStyle/>
          <a:p>
            <a:pPr marL="0" indent="0" algn="l">
              <a:lnSpc>
                <a:spcPts val="1509"/>
              </a:lnSpc>
              <a:buNone/>
            </a:pPr>
            <a:r>
              <a:rPr lang="en-US" sz="1078" b="1" dirty="0">
                <a:solidFill>
                  <a:srgbClr val="3B3631"/>
                </a:solidFill>
                <a:latin typeface="Georgia" pitchFamily="34" charset="0"/>
                <a:ea typeface="Georgia" pitchFamily="34" charset="-122"/>
                <a:cs typeface="Georgia" pitchFamily="34" charset="-120"/>
              </a:rPr>
              <a:t>Careful:</a:t>
            </a:r>
            <a:r>
              <a:rPr lang="en-US" sz="1078" dirty="0">
                <a:solidFill>
                  <a:srgbClr val="3B3631"/>
                </a:solidFill>
                <a:latin typeface="Georgia" pitchFamily="34" charset="0"/>
                <a:ea typeface="Georgia" pitchFamily="34" charset="-122"/>
                <a:cs typeface="Georgia" pitchFamily="34" charset="-120"/>
              </a:rPr>
              <a:t> every input of the OR has to come from an AND. A single letter going straight in, like C in </a:t>
            </a:r>
            <a:r>
              <a:rPr lang="en-US" sz="1078" i="1" dirty="0">
                <a:solidFill>
                  <a:srgbClr val="3B3631"/>
                </a:solidFill>
                <a:latin typeface="Georgia" pitchFamily="34" charset="0"/>
                <a:ea typeface="Georgia" pitchFamily="34" charset="-122"/>
                <a:cs typeface="Georgia" pitchFamily="34" charset="-120"/>
              </a:rPr>
              <a:t>AB + C</a:t>
            </a:r>
            <a:r>
              <a:rPr lang="en-US" sz="1078" dirty="0">
                <a:solidFill>
                  <a:srgbClr val="3B3631"/>
                </a:solidFill>
                <a:latin typeface="Georgia" pitchFamily="34" charset="0"/>
                <a:ea typeface="Georgia" pitchFamily="34" charset="-122"/>
                <a:cs typeface="Georgia" pitchFamily="34" charset="-120"/>
              </a:rPr>
              <a:t>, has no gate to invert it, so it enters the last NAND already inverted: </a:t>
            </a:r>
            <a:r>
              <a:rPr lang="en-US" sz="1078" i="1" dirty="0">
                <a:solidFill>
                  <a:srgbClr val="3B3631"/>
                </a:solidFill>
                <a:latin typeface="Georgia" pitchFamily="34" charset="0"/>
                <a:ea typeface="Georgia" pitchFamily="34" charset="-122"/>
                <a:cs typeface="Georgia" pitchFamily="34" charset="-120"/>
              </a:rPr>
              <a:t>AB + C = ((AB)′·C′)′</a:t>
            </a:r>
            <a:r>
              <a:rPr lang="en-US" sz="1078" dirty="0">
                <a:solidFill>
                  <a:srgbClr val="3B3631"/>
                </a:solidFill>
                <a:latin typeface="Georgia" pitchFamily="34" charset="0"/>
                <a:ea typeface="Georgia" pitchFamily="34" charset="-122"/>
                <a:cs typeface="Georgia" pitchFamily="34" charset="-120"/>
              </a:rPr>
              <a:t>.</a:t>
            </a:r>
            <a:endParaRPr lang="en-US" sz="1078"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EE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7 · NAND AND NOR</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Problem 7: NAND and NOR</a:t>
            </a:r>
            <a:endParaRPr lang="en-US" sz="3200" dirty="0"/>
          </a:p>
        </p:txBody>
      </p:sp>
      <p:sp>
        <p:nvSpPr>
          <p:cNvPr id="4" name="Text 2"/>
          <p:cNvSpPr/>
          <p:nvPr/>
        </p:nvSpPr>
        <p:spPr>
          <a:xfrm>
            <a:off x="812800" y="19303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a.</a:t>
            </a:r>
            <a:r>
              <a:rPr lang="en-US" sz="1500" dirty="0">
                <a:solidFill>
                  <a:srgbClr val="3B3631"/>
                </a:solidFill>
                <a:latin typeface="Georgia" pitchFamily="34" charset="0"/>
                <a:ea typeface="Georgia" pitchFamily="34" charset="-122"/>
                <a:cs typeface="Georgia" pitchFamily="34" charset="-120"/>
              </a:rPr>
              <a:t> Build XOR from NAND gates only. Four are enough. (Hint: start from </a:t>
            </a:r>
            <a:r>
              <a:rPr lang="en-US" sz="1500" i="1" dirty="0">
                <a:solidFill>
                  <a:srgbClr val="3B3631"/>
                </a:solidFill>
                <a:latin typeface="Georgia" pitchFamily="34" charset="0"/>
                <a:ea typeface="Georgia" pitchFamily="34" charset="-122"/>
                <a:cs typeface="Georgia" pitchFamily="34" charset="-120"/>
              </a:rPr>
              <a:t>ab′ + a′b</a:t>
            </a:r>
            <a:r>
              <a:rPr lang="en-US" sz="1500" dirty="0">
                <a:solidFill>
                  <a:srgbClr val="3B3631"/>
                </a:solidFill>
                <a:latin typeface="Georgia" pitchFamily="34" charset="0"/>
                <a:ea typeface="Georgia" pitchFamily="34" charset="-122"/>
                <a:cs typeface="Georgia" pitchFamily="34" charset="-120"/>
              </a:rPr>
              <a:t> and apply DeMorgan.)</a:t>
            </a:r>
            <a:endParaRPr lang="en-US" sz="1500" dirty="0"/>
          </a:p>
        </p:txBody>
      </p:sp>
      <p:sp>
        <p:nvSpPr>
          <p:cNvPr id="5" name="Text 3"/>
          <p:cNvSpPr/>
          <p:nvPr/>
        </p:nvSpPr>
        <p:spPr>
          <a:xfrm>
            <a:off x="812800" y="23113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b.</a:t>
            </a:r>
            <a:r>
              <a:rPr lang="en-US" sz="1500" dirty="0">
                <a:solidFill>
                  <a:srgbClr val="3B3631"/>
                </a:solidFill>
                <a:latin typeface="Georgia" pitchFamily="34" charset="0"/>
                <a:ea typeface="Georgia" pitchFamily="34" charset="-122"/>
                <a:cs typeface="Georgia" pitchFamily="34" charset="-120"/>
              </a:rPr>
              <a:t> Show that NOR is universal: build NOT, OR and AND from NOR gates.</a:t>
            </a:r>
            <a:endParaRPr lang="en-US" sz="1500" dirty="0"/>
          </a:p>
        </p:txBody>
      </p:sp>
      <p:sp>
        <p:nvSpPr>
          <p:cNvPr id="6" name="Text 4"/>
          <p:cNvSpPr/>
          <p:nvPr/>
        </p:nvSpPr>
        <p:spPr>
          <a:xfrm>
            <a:off x="812800" y="26923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c.</a:t>
            </a:r>
            <a:r>
              <a:rPr lang="en-US" sz="1500" dirty="0">
                <a:solidFill>
                  <a:srgbClr val="3B3631"/>
                </a:solidFill>
                <a:latin typeface="Georgia" pitchFamily="34" charset="0"/>
                <a:ea typeface="Georgia" pitchFamily="34" charset="-122"/>
                <a:cs typeface="Georgia" pitchFamily="34" charset="-120"/>
              </a:rPr>
              <a:t> Convert </a:t>
            </a:r>
            <a:r>
              <a:rPr lang="en-US" sz="1500" i="1" dirty="0">
                <a:solidFill>
                  <a:srgbClr val="3B3631"/>
                </a:solidFill>
                <a:latin typeface="Georgia" pitchFamily="34" charset="0"/>
                <a:ea typeface="Georgia" pitchFamily="34" charset="-122"/>
                <a:cs typeface="Georgia" pitchFamily="34" charset="-120"/>
              </a:rPr>
              <a:t>F = (A + B)(B′ + C)</a:t>
            </a:r>
            <a:r>
              <a:rPr lang="en-US" sz="1500" dirty="0">
                <a:solidFill>
                  <a:srgbClr val="3B3631"/>
                </a:solidFill>
                <a:latin typeface="Georgia" pitchFamily="34" charset="0"/>
                <a:ea typeface="Georgia" pitchFamily="34" charset="-122"/>
                <a:cs typeface="Georgia" pitchFamily="34" charset="-120"/>
              </a:rPr>
              <a:t> to NOR gates only. How many 2-input NORs?</a:t>
            </a:r>
            <a:endParaRPr lang="en-US" sz="1500" dirty="0"/>
          </a:p>
        </p:txBody>
      </p:sp>
      <p:sp>
        <p:nvSpPr>
          <p:cNvPr id="7" name="Text 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8" name="Text 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EE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7 · NAND AND NOR</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Problem 7: answer (a), XOR from four NANDs</a:t>
            </a:r>
            <a:endParaRPr lang="en-US" sz="3200" dirty="0"/>
          </a:p>
        </p:txBody>
      </p:sp>
      <p:sp>
        <p:nvSpPr>
          <p:cNvPr id="4" name="Text 2"/>
          <p:cNvSpPr/>
          <p:nvPr/>
        </p:nvSpPr>
        <p:spPr>
          <a:xfrm>
            <a:off x="812800" y="1968450"/>
            <a:ext cx="3810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A3292A"/>
                </a:solidFill>
                <a:latin typeface="Georgia" pitchFamily="34" charset="0"/>
                <a:ea typeface="Georgia" pitchFamily="34" charset="-122"/>
                <a:cs typeface="Georgia" pitchFamily="34" charset="-120"/>
              </a:rPr>
              <a:t>1</a:t>
            </a:r>
            <a:endParaRPr lang="en-US" sz="1500" dirty="0"/>
          </a:p>
        </p:txBody>
      </p:sp>
      <p:sp>
        <p:nvSpPr>
          <p:cNvPr id="5" name="Text 3"/>
          <p:cNvSpPr/>
          <p:nvPr/>
        </p:nvSpPr>
        <p:spPr>
          <a:xfrm>
            <a:off x="1143000" y="1977975"/>
            <a:ext cx="5101590" cy="283170"/>
          </a:xfrm>
          <a:prstGeom prst="rect">
            <a:avLst/>
          </a:prstGeom>
          <a:noFill/>
          <a:ln/>
        </p:spPr>
        <p:txBody>
          <a:bodyPr wrap="square" lIns="0" tIns="0" rIns="0" bIns="0" rtlCol="0" anchor="t">
            <a:normAutofit/>
          </a:bodyPr>
          <a:lstStyle/>
          <a:p>
            <a:pPr marL="0" indent="0" algn="l">
              <a:lnSpc>
                <a:spcPts val="2030"/>
              </a:lnSpc>
              <a:buNone/>
            </a:pPr>
            <a:r>
              <a:rPr lang="en-US" sz="1450" dirty="0">
                <a:solidFill>
                  <a:srgbClr val="3B3631"/>
                </a:solidFill>
                <a:latin typeface="Georgia" pitchFamily="34" charset="0"/>
                <a:ea typeface="Georgia" pitchFamily="34" charset="-122"/>
                <a:cs typeface="Georgia" pitchFamily="34" charset="-120"/>
              </a:rPr>
              <a:t>Name the first gate’s output: </a:t>
            </a:r>
            <a:r>
              <a:rPr lang="en-US" sz="1450" i="1" dirty="0">
                <a:solidFill>
                  <a:srgbClr val="3B3631"/>
                </a:solidFill>
                <a:latin typeface="Georgia" pitchFamily="34" charset="0"/>
                <a:ea typeface="Georgia" pitchFamily="34" charset="-122"/>
                <a:cs typeface="Georgia" pitchFamily="34" charset="-120"/>
              </a:rPr>
              <a:t>n = (ab)′</a:t>
            </a:r>
            <a:r>
              <a:rPr lang="en-US" sz="1450" dirty="0">
                <a:solidFill>
                  <a:srgbClr val="3B3631"/>
                </a:solidFill>
                <a:latin typeface="Georgia" pitchFamily="34" charset="0"/>
                <a:ea typeface="Georgia" pitchFamily="34" charset="-122"/>
                <a:cs typeface="Georgia" pitchFamily="34" charset="-120"/>
              </a:rPr>
              <a:t>.</a:t>
            </a:r>
            <a:endParaRPr lang="en-US" sz="1450" dirty="0"/>
          </a:p>
        </p:txBody>
      </p:sp>
      <p:sp>
        <p:nvSpPr>
          <p:cNvPr id="6" name="Text 4"/>
          <p:cNvSpPr/>
          <p:nvPr/>
        </p:nvSpPr>
        <p:spPr>
          <a:xfrm>
            <a:off x="812800" y="2311946"/>
            <a:ext cx="3810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A3292A"/>
                </a:solidFill>
                <a:latin typeface="Georgia" pitchFamily="34" charset="0"/>
                <a:ea typeface="Georgia" pitchFamily="34" charset="-122"/>
                <a:cs typeface="Georgia" pitchFamily="34" charset="-120"/>
              </a:rPr>
              <a:t>2</a:t>
            </a:r>
            <a:endParaRPr lang="en-US" sz="1500" dirty="0"/>
          </a:p>
        </p:txBody>
      </p:sp>
      <p:sp>
        <p:nvSpPr>
          <p:cNvPr id="7" name="Text 5"/>
          <p:cNvSpPr/>
          <p:nvPr/>
        </p:nvSpPr>
        <p:spPr>
          <a:xfrm>
            <a:off x="1143000" y="2321471"/>
            <a:ext cx="5101590" cy="540941"/>
          </a:xfrm>
          <a:prstGeom prst="rect">
            <a:avLst/>
          </a:prstGeom>
          <a:noFill/>
          <a:ln/>
        </p:spPr>
        <p:txBody>
          <a:bodyPr wrap="square" lIns="0" tIns="0" rIns="0" bIns="0" rtlCol="0" anchor="t">
            <a:normAutofit/>
          </a:bodyPr>
          <a:lstStyle/>
          <a:p>
            <a:pPr marL="0" indent="0" algn="l">
              <a:lnSpc>
                <a:spcPts val="2030"/>
              </a:lnSpc>
              <a:buNone/>
            </a:pPr>
            <a:r>
              <a:rPr lang="en-US" sz="1450" dirty="0">
                <a:solidFill>
                  <a:srgbClr val="3B3631"/>
                </a:solidFill>
                <a:latin typeface="Georgia" pitchFamily="34" charset="0"/>
                <a:ea typeface="Georgia" pitchFamily="34" charset="-122"/>
                <a:cs typeface="Georgia" pitchFamily="34" charset="-120"/>
              </a:rPr>
              <a:t>The next two gates give </a:t>
            </a:r>
            <a:r>
              <a:rPr lang="en-US" sz="1450" i="1" dirty="0">
                <a:solidFill>
                  <a:srgbClr val="3B3631"/>
                </a:solidFill>
                <a:latin typeface="Georgia" pitchFamily="34" charset="0"/>
                <a:ea typeface="Georgia" pitchFamily="34" charset="-122"/>
                <a:cs typeface="Georgia" pitchFamily="34" charset="-120"/>
              </a:rPr>
              <a:t>(an)′</a:t>
            </a:r>
            <a:r>
              <a:rPr lang="en-US" sz="1450" dirty="0">
                <a:solidFill>
                  <a:srgbClr val="3B3631"/>
                </a:solidFill>
                <a:latin typeface="Georgia" pitchFamily="34" charset="0"/>
                <a:ea typeface="Georgia" pitchFamily="34" charset="-122"/>
                <a:cs typeface="Georgia" pitchFamily="34" charset="-120"/>
              </a:rPr>
              <a:t> and </a:t>
            </a:r>
            <a:r>
              <a:rPr lang="en-US" sz="1450" i="1" dirty="0">
                <a:solidFill>
                  <a:srgbClr val="3B3631"/>
                </a:solidFill>
                <a:latin typeface="Georgia" pitchFamily="34" charset="0"/>
                <a:ea typeface="Georgia" pitchFamily="34" charset="-122"/>
                <a:cs typeface="Georgia" pitchFamily="34" charset="-120"/>
              </a:rPr>
              <a:t>(bn)′</a:t>
            </a:r>
            <a:r>
              <a:rPr lang="en-US" sz="1450" dirty="0">
                <a:solidFill>
                  <a:srgbClr val="3B3631"/>
                </a:solidFill>
                <a:latin typeface="Georgia" pitchFamily="34" charset="0"/>
                <a:ea typeface="Georgia" pitchFamily="34" charset="-122"/>
                <a:cs typeface="Georgia" pitchFamily="34" charset="-120"/>
              </a:rPr>
              <a:t>; the last one combines them: </a:t>
            </a:r>
            <a:r>
              <a:rPr lang="en-US" sz="1450" i="1" dirty="0">
                <a:solidFill>
                  <a:srgbClr val="3B3631"/>
                </a:solidFill>
                <a:latin typeface="Georgia" pitchFamily="34" charset="0"/>
                <a:ea typeface="Georgia" pitchFamily="34" charset="-122"/>
                <a:cs typeface="Georgia" pitchFamily="34" charset="-120"/>
              </a:rPr>
              <a:t>F = ((an)′·(bn)′)′</a:t>
            </a:r>
            <a:r>
              <a:rPr lang="en-US" sz="1450" dirty="0">
                <a:solidFill>
                  <a:srgbClr val="3B3631"/>
                </a:solidFill>
                <a:latin typeface="Georgia" pitchFamily="34" charset="0"/>
                <a:ea typeface="Georgia" pitchFamily="34" charset="-122"/>
                <a:cs typeface="Georgia" pitchFamily="34" charset="-120"/>
              </a:rPr>
              <a:t>.</a:t>
            </a:r>
            <a:endParaRPr lang="en-US" sz="1450" dirty="0"/>
          </a:p>
        </p:txBody>
      </p:sp>
      <p:sp>
        <p:nvSpPr>
          <p:cNvPr id="8" name="Text 6"/>
          <p:cNvSpPr/>
          <p:nvPr/>
        </p:nvSpPr>
        <p:spPr>
          <a:xfrm>
            <a:off x="812800" y="2913211"/>
            <a:ext cx="3810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A3292A"/>
                </a:solidFill>
                <a:latin typeface="Georgia" pitchFamily="34" charset="0"/>
                <a:ea typeface="Georgia" pitchFamily="34" charset="-122"/>
                <a:cs typeface="Georgia" pitchFamily="34" charset="-120"/>
              </a:rPr>
              <a:t>3</a:t>
            </a:r>
            <a:endParaRPr lang="en-US" sz="1500" dirty="0"/>
          </a:p>
        </p:txBody>
      </p:sp>
      <p:sp>
        <p:nvSpPr>
          <p:cNvPr id="9" name="Text 7"/>
          <p:cNvSpPr/>
          <p:nvPr/>
        </p:nvSpPr>
        <p:spPr>
          <a:xfrm>
            <a:off x="1143000" y="2922736"/>
            <a:ext cx="5101590" cy="283170"/>
          </a:xfrm>
          <a:prstGeom prst="rect">
            <a:avLst/>
          </a:prstGeom>
          <a:noFill/>
          <a:ln/>
        </p:spPr>
        <p:txBody>
          <a:bodyPr wrap="square" lIns="0" tIns="0" rIns="0" bIns="0" rtlCol="0" anchor="t">
            <a:normAutofit/>
          </a:bodyPr>
          <a:lstStyle/>
          <a:p>
            <a:pPr marL="0" indent="0" algn="l">
              <a:lnSpc>
                <a:spcPts val="2030"/>
              </a:lnSpc>
              <a:buNone/>
            </a:pPr>
            <a:r>
              <a:rPr lang="en-US" sz="1450" dirty="0">
                <a:solidFill>
                  <a:srgbClr val="3B3631"/>
                </a:solidFill>
                <a:latin typeface="Georgia" pitchFamily="34" charset="0"/>
                <a:ea typeface="Georgia" pitchFamily="34" charset="-122"/>
                <a:cs typeface="Georgia" pitchFamily="34" charset="-120"/>
              </a:rPr>
              <a:t>By 15a and 9 the outer complement opens up: </a:t>
            </a:r>
            <a:r>
              <a:rPr lang="en-US" sz="1450" i="1" dirty="0">
                <a:solidFill>
                  <a:srgbClr val="3B3631"/>
                </a:solidFill>
                <a:latin typeface="Georgia" pitchFamily="34" charset="0"/>
                <a:ea typeface="Georgia" pitchFamily="34" charset="-122"/>
                <a:cs typeface="Georgia" pitchFamily="34" charset="-120"/>
              </a:rPr>
              <a:t>F = an + bn</a:t>
            </a:r>
            <a:r>
              <a:rPr lang="en-US" sz="1450" dirty="0">
                <a:solidFill>
                  <a:srgbClr val="3B3631"/>
                </a:solidFill>
                <a:latin typeface="Georgia" pitchFamily="34" charset="0"/>
                <a:ea typeface="Georgia" pitchFamily="34" charset="-122"/>
                <a:cs typeface="Georgia" pitchFamily="34" charset="-120"/>
              </a:rPr>
              <a:t>.</a:t>
            </a:r>
            <a:endParaRPr lang="en-US" sz="1450" dirty="0"/>
          </a:p>
        </p:txBody>
      </p:sp>
      <p:sp>
        <p:nvSpPr>
          <p:cNvPr id="10" name="Text 8"/>
          <p:cNvSpPr/>
          <p:nvPr/>
        </p:nvSpPr>
        <p:spPr>
          <a:xfrm>
            <a:off x="812800" y="3256707"/>
            <a:ext cx="3810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A3292A"/>
                </a:solidFill>
                <a:latin typeface="Georgia" pitchFamily="34" charset="0"/>
                <a:ea typeface="Georgia" pitchFamily="34" charset="-122"/>
                <a:cs typeface="Georgia" pitchFamily="34" charset="-120"/>
              </a:rPr>
              <a:t>4</a:t>
            </a:r>
            <a:endParaRPr lang="en-US" sz="1500" dirty="0"/>
          </a:p>
        </p:txBody>
      </p:sp>
      <p:sp>
        <p:nvSpPr>
          <p:cNvPr id="11" name="Text 9"/>
          <p:cNvSpPr/>
          <p:nvPr/>
        </p:nvSpPr>
        <p:spPr>
          <a:xfrm>
            <a:off x="1143000" y="3266232"/>
            <a:ext cx="5101590" cy="540941"/>
          </a:xfrm>
          <a:prstGeom prst="rect">
            <a:avLst/>
          </a:prstGeom>
          <a:noFill/>
          <a:ln/>
        </p:spPr>
        <p:txBody>
          <a:bodyPr wrap="square" lIns="0" tIns="0" rIns="0" bIns="0" rtlCol="0" anchor="t">
            <a:normAutofit/>
          </a:bodyPr>
          <a:lstStyle/>
          <a:p>
            <a:pPr marL="0" indent="0" algn="l">
              <a:lnSpc>
                <a:spcPts val="2030"/>
              </a:lnSpc>
              <a:buNone/>
            </a:pPr>
            <a:r>
              <a:rPr lang="en-US" sz="1450" dirty="0">
                <a:solidFill>
                  <a:srgbClr val="3B3631"/>
                </a:solidFill>
                <a:latin typeface="Georgia" pitchFamily="34" charset="0"/>
                <a:ea typeface="Georgia" pitchFamily="34" charset="-122"/>
                <a:cs typeface="Georgia" pitchFamily="34" charset="-120"/>
              </a:rPr>
              <a:t>By 15a, </a:t>
            </a:r>
            <a:r>
              <a:rPr lang="en-US" sz="1450" i="1" dirty="0">
                <a:solidFill>
                  <a:srgbClr val="3B3631"/>
                </a:solidFill>
                <a:latin typeface="Georgia" pitchFamily="34" charset="0"/>
                <a:ea typeface="Georgia" pitchFamily="34" charset="-122"/>
                <a:cs typeface="Georgia" pitchFamily="34" charset="-120"/>
              </a:rPr>
              <a:t>n = (ab)′ = a′ + b′</a:t>
            </a:r>
            <a:r>
              <a:rPr lang="en-US" sz="1450" dirty="0">
                <a:solidFill>
                  <a:srgbClr val="3B3631"/>
                </a:solidFill>
                <a:latin typeface="Georgia" pitchFamily="34" charset="0"/>
                <a:ea typeface="Georgia" pitchFamily="34" charset="-122"/>
                <a:cs typeface="Georgia" pitchFamily="34" charset="-120"/>
              </a:rPr>
              <a:t>. So </a:t>
            </a:r>
            <a:r>
              <a:rPr lang="en-US" sz="1450" i="1" dirty="0">
                <a:solidFill>
                  <a:srgbClr val="3B3631"/>
                </a:solidFill>
                <a:latin typeface="Georgia" pitchFamily="34" charset="0"/>
                <a:ea typeface="Georgia" pitchFamily="34" charset="-122"/>
                <a:cs typeface="Georgia" pitchFamily="34" charset="-120"/>
              </a:rPr>
              <a:t>an = a(a′ + b′) = aa′ + ab′ = ab′</a:t>
            </a:r>
            <a:r>
              <a:rPr lang="en-US" sz="1450" dirty="0">
                <a:solidFill>
                  <a:srgbClr val="3B3631"/>
                </a:solidFill>
                <a:latin typeface="Georgia" pitchFamily="34" charset="0"/>
                <a:ea typeface="Georgia" pitchFamily="34" charset="-122"/>
                <a:cs typeface="Georgia" pitchFamily="34" charset="-120"/>
              </a:rPr>
              <a:t> by 12a, 8a and 6b.</a:t>
            </a:r>
            <a:endParaRPr lang="en-US" sz="1450" dirty="0"/>
          </a:p>
        </p:txBody>
      </p:sp>
      <p:sp>
        <p:nvSpPr>
          <p:cNvPr id="12" name="Text 10"/>
          <p:cNvSpPr/>
          <p:nvPr/>
        </p:nvSpPr>
        <p:spPr>
          <a:xfrm>
            <a:off x="812800" y="3857972"/>
            <a:ext cx="3810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A3292A"/>
                </a:solidFill>
                <a:latin typeface="Georgia" pitchFamily="34" charset="0"/>
                <a:ea typeface="Georgia" pitchFamily="34" charset="-122"/>
                <a:cs typeface="Georgia" pitchFamily="34" charset="-120"/>
              </a:rPr>
              <a:t>5</a:t>
            </a:r>
            <a:endParaRPr lang="en-US" sz="1500" dirty="0"/>
          </a:p>
        </p:txBody>
      </p:sp>
      <p:sp>
        <p:nvSpPr>
          <p:cNvPr id="13" name="Text 11"/>
          <p:cNvSpPr/>
          <p:nvPr/>
        </p:nvSpPr>
        <p:spPr>
          <a:xfrm>
            <a:off x="1143000" y="3867497"/>
            <a:ext cx="5101590" cy="283170"/>
          </a:xfrm>
          <a:prstGeom prst="rect">
            <a:avLst/>
          </a:prstGeom>
          <a:noFill/>
          <a:ln/>
        </p:spPr>
        <p:txBody>
          <a:bodyPr wrap="square" lIns="0" tIns="0" rIns="0" bIns="0" rtlCol="0" anchor="t">
            <a:normAutofit/>
          </a:bodyPr>
          <a:lstStyle/>
          <a:p>
            <a:pPr marL="0" indent="0" algn="l">
              <a:lnSpc>
                <a:spcPts val="2030"/>
              </a:lnSpc>
              <a:buNone/>
            </a:pPr>
            <a:r>
              <a:rPr lang="en-US" sz="1450" dirty="0">
                <a:solidFill>
                  <a:srgbClr val="3B3631"/>
                </a:solidFill>
                <a:latin typeface="Georgia" pitchFamily="34" charset="0"/>
                <a:ea typeface="Georgia" pitchFamily="34" charset="-122"/>
                <a:cs typeface="Georgia" pitchFamily="34" charset="-120"/>
              </a:rPr>
              <a:t>The same way, </a:t>
            </a:r>
            <a:r>
              <a:rPr lang="en-US" sz="1450" i="1" dirty="0">
                <a:solidFill>
                  <a:srgbClr val="3B3631"/>
                </a:solidFill>
                <a:latin typeface="Georgia" pitchFamily="34" charset="0"/>
                <a:ea typeface="Georgia" pitchFamily="34" charset="-122"/>
                <a:cs typeface="Georgia" pitchFamily="34" charset="-120"/>
              </a:rPr>
              <a:t>bn = b(a′ + b′) = a′b</a:t>
            </a:r>
            <a:r>
              <a:rPr lang="en-US" sz="1450" dirty="0">
                <a:solidFill>
                  <a:srgbClr val="3B3631"/>
                </a:solidFill>
                <a:latin typeface="Georgia" pitchFamily="34" charset="0"/>
                <a:ea typeface="Georgia" pitchFamily="34" charset="-122"/>
                <a:cs typeface="Georgia" pitchFamily="34" charset="-120"/>
              </a:rPr>
              <a:t>.</a:t>
            </a:r>
            <a:endParaRPr lang="en-US" sz="1450" dirty="0"/>
          </a:p>
        </p:txBody>
      </p:sp>
      <p:sp>
        <p:nvSpPr>
          <p:cNvPr id="14" name="Text 12"/>
          <p:cNvSpPr/>
          <p:nvPr/>
        </p:nvSpPr>
        <p:spPr>
          <a:xfrm>
            <a:off x="812800" y="4201468"/>
            <a:ext cx="3810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A3292A"/>
                </a:solidFill>
                <a:latin typeface="Georgia" pitchFamily="34" charset="0"/>
                <a:ea typeface="Georgia" pitchFamily="34" charset="-122"/>
                <a:cs typeface="Georgia" pitchFamily="34" charset="-120"/>
              </a:rPr>
              <a:t>6</a:t>
            </a:r>
            <a:endParaRPr lang="en-US" sz="1500" dirty="0"/>
          </a:p>
        </p:txBody>
      </p:sp>
      <p:sp>
        <p:nvSpPr>
          <p:cNvPr id="15" name="Text 13"/>
          <p:cNvSpPr/>
          <p:nvPr/>
        </p:nvSpPr>
        <p:spPr>
          <a:xfrm>
            <a:off x="1143000" y="4210993"/>
            <a:ext cx="5101590" cy="540941"/>
          </a:xfrm>
          <a:prstGeom prst="rect">
            <a:avLst/>
          </a:prstGeom>
          <a:noFill/>
          <a:ln/>
        </p:spPr>
        <p:txBody>
          <a:bodyPr wrap="square" lIns="0" tIns="0" rIns="0" bIns="0" rtlCol="0" anchor="t">
            <a:normAutofit/>
          </a:bodyPr>
          <a:lstStyle/>
          <a:p>
            <a:pPr marL="0" indent="0" algn="l">
              <a:lnSpc>
                <a:spcPts val="2030"/>
              </a:lnSpc>
              <a:buNone/>
            </a:pPr>
            <a:r>
              <a:rPr lang="en-US" sz="1450" dirty="0">
                <a:solidFill>
                  <a:srgbClr val="3B3631"/>
                </a:solidFill>
                <a:latin typeface="Georgia" pitchFamily="34" charset="0"/>
                <a:ea typeface="Georgia" pitchFamily="34" charset="-122"/>
                <a:cs typeface="Georgia" pitchFamily="34" charset="-120"/>
              </a:rPr>
              <a:t>So </a:t>
            </a:r>
            <a:r>
              <a:rPr lang="en-US" sz="1450" i="1" dirty="0">
                <a:solidFill>
                  <a:srgbClr val="3B3631"/>
                </a:solidFill>
                <a:latin typeface="Georgia" pitchFamily="34" charset="0"/>
                <a:ea typeface="Georgia" pitchFamily="34" charset="-122"/>
                <a:cs typeface="Georgia" pitchFamily="34" charset="-120"/>
              </a:rPr>
              <a:t>F = ab′ + a′b</a:t>
            </a:r>
            <a:r>
              <a:rPr lang="en-US" sz="1450" dirty="0">
                <a:solidFill>
                  <a:srgbClr val="3B3631"/>
                </a:solidFill>
                <a:latin typeface="Georgia" pitchFamily="34" charset="0"/>
                <a:ea typeface="Georgia" pitchFamily="34" charset="-122"/>
                <a:cs typeface="Georgia" pitchFamily="34" charset="-120"/>
              </a:rPr>
              <a:t>, which is 1 exactly when a and b differ: XOR.</a:t>
            </a:r>
            <a:endParaRPr lang="en-US" sz="1450" dirty="0"/>
          </a:p>
        </p:txBody>
      </p:sp>
      <p:pic>
        <p:nvPicPr>
          <p:cNvPr id="16" name="Image 0" descr="XOR built from four NAND gates"/>
          <p:cNvPicPr>
            <a:picLocks noChangeAspect="1"/>
          </p:cNvPicPr>
          <p:nvPr/>
        </p:nvPicPr>
        <p:blipFill>
          <a:blip r:embed="rId3"/>
          <a:srcRect/>
          <a:stretch/>
        </p:blipFill>
        <p:spPr>
          <a:xfrm>
            <a:off x="6350000" y="1930350"/>
            <a:ext cx="5029200" cy="1708150"/>
          </a:xfrm>
          <a:prstGeom prst="rect">
            <a:avLst/>
          </a:prstGeom>
        </p:spPr>
      </p:pic>
      <p:sp>
        <p:nvSpPr>
          <p:cNvPr id="17" name="Text 14"/>
          <p:cNvSpPr/>
          <p:nvPr/>
        </p:nvSpPr>
        <p:spPr>
          <a:xfrm>
            <a:off x="6394450" y="2095450"/>
            <a:ext cx="2032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a</a:t>
            </a:r>
            <a:endParaRPr lang="en-US" sz="1200" dirty="0"/>
          </a:p>
        </p:txBody>
      </p:sp>
      <p:sp>
        <p:nvSpPr>
          <p:cNvPr id="18" name="Text 15"/>
          <p:cNvSpPr/>
          <p:nvPr/>
        </p:nvSpPr>
        <p:spPr>
          <a:xfrm>
            <a:off x="6394450" y="3314650"/>
            <a:ext cx="2032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b</a:t>
            </a:r>
            <a:endParaRPr lang="en-US" sz="1200" dirty="0"/>
          </a:p>
        </p:txBody>
      </p:sp>
      <p:sp>
        <p:nvSpPr>
          <p:cNvPr id="19" name="Text 16"/>
          <p:cNvSpPr/>
          <p:nvPr/>
        </p:nvSpPr>
        <p:spPr>
          <a:xfrm>
            <a:off x="7874000" y="2571700"/>
            <a:ext cx="2032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n</a:t>
            </a:r>
            <a:endParaRPr lang="en-US" sz="1200" dirty="0"/>
          </a:p>
        </p:txBody>
      </p:sp>
      <p:sp>
        <p:nvSpPr>
          <p:cNvPr id="20" name="Text 17"/>
          <p:cNvSpPr/>
          <p:nvPr/>
        </p:nvSpPr>
        <p:spPr>
          <a:xfrm>
            <a:off x="10344150" y="2705050"/>
            <a:ext cx="10541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y = a ⊕ b</a:t>
            </a:r>
            <a:endParaRPr lang="en-US" sz="1200" dirty="0"/>
          </a:p>
        </p:txBody>
      </p:sp>
      <p:sp>
        <p:nvSpPr>
          <p:cNvPr id="21" name="Text 1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22" name="Text 1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EE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7 · NAND AND NOR</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Problem 7: answers (b) and (c)</a:t>
            </a:r>
            <a:endParaRPr lang="en-US" sz="3200" dirty="0"/>
          </a:p>
        </p:txBody>
      </p:sp>
      <p:pic>
        <p:nvPicPr>
          <p:cNvPr id="4" name="Image 0" descr="NOT, OR and AND each built from NOR gates only"/>
          <p:cNvPicPr>
            <a:picLocks noChangeAspect="1"/>
          </p:cNvPicPr>
          <p:nvPr/>
        </p:nvPicPr>
        <p:blipFill>
          <a:blip r:embed="rId3"/>
          <a:srcRect/>
          <a:stretch/>
        </p:blipFill>
        <p:spPr>
          <a:xfrm>
            <a:off x="812800" y="1930350"/>
            <a:ext cx="3994150" cy="2470150"/>
          </a:xfrm>
          <a:prstGeom prst="rect">
            <a:avLst/>
          </a:prstGeom>
        </p:spPr>
      </p:pic>
      <p:sp>
        <p:nvSpPr>
          <p:cNvPr id="5" name="Text 2"/>
          <p:cNvSpPr/>
          <p:nvPr/>
        </p:nvSpPr>
        <p:spPr>
          <a:xfrm>
            <a:off x="812800" y="2070050"/>
            <a:ext cx="571500" cy="298152"/>
          </a:xfrm>
          <a:prstGeom prst="rect">
            <a:avLst/>
          </a:prstGeom>
          <a:noFill/>
          <a:ln/>
        </p:spPr>
        <p:txBody>
          <a:bodyPr wrap="none" lIns="0" tIns="0" rIns="0" bIns="0" rtlCol="0" anchor="t">
            <a:normAutofit/>
          </a:bodyPr>
          <a:lstStyle/>
          <a:p>
            <a:pPr marL="0" indent="0" algn="l">
              <a:lnSpc>
                <a:spcPts val="2148"/>
              </a:lnSpc>
              <a:buNone/>
            </a:pPr>
            <a:r>
              <a:rPr lang="en-US" sz="1200" dirty="0">
                <a:solidFill>
                  <a:srgbClr val="1F1B18"/>
                </a:solidFill>
                <a:latin typeface="Georgia" pitchFamily="34" charset="0"/>
                <a:ea typeface="Georgia" pitchFamily="34" charset="-122"/>
                <a:cs typeface="Georgia" pitchFamily="34" charset="-120"/>
              </a:rPr>
              <a:t>NOT</a:t>
            </a:r>
            <a:endParaRPr lang="en-US" sz="1200" dirty="0"/>
          </a:p>
        </p:txBody>
      </p:sp>
      <p:sp>
        <p:nvSpPr>
          <p:cNvPr id="6" name="Text 3"/>
          <p:cNvSpPr/>
          <p:nvPr/>
        </p:nvSpPr>
        <p:spPr>
          <a:xfrm>
            <a:off x="1301750" y="2070050"/>
            <a:ext cx="2032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a</a:t>
            </a:r>
            <a:endParaRPr lang="en-US" sz="1200" dirty="0"/>
          </a:p>
        </p:txBody>
      </p:sp>
      <p:sp>
        <p:nvSpPr>
          <p:cNvPr id="7" name="Text 4"/>
          <p:cNvSpPr/>
          <p:nvPr/>
        </p:nvSpPr>
        <p:spPr>
          <a:xfrm>
            <a:off x="2933700" y="2070050"/>
            <a:ext cx="9652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a′</a:t>
            </a:r>
            <a:endParaRPr lang="en-US" sz="1200" dirty="0"/>
          </a:p>
        </p:txBody>
      </p:sp>
      <p:sp>
        <p:nvSpPr>
          <p:cNvPr id="8" name="Text 5"/>
          <p:cNvSpPr/>
          <p:nvPr/>
        </p:nvSpPr>
        <p:spPr>
          <a:xfrm>
            <a:off x="812800" y="2736800"/>
            <a:ext cx="571500" cy="298152"/>
          </a:xfrm>
          <a:prstGeom prst="rect">
            <a:avLst/>
          </a:prstGeom>
          <a:noFill/>
          <a:ln/>
        </p:spPr>
        <p:txBody>
          <a:bodyPr wrap="none" lIns="0" tIns="0" rIns="0" bIns="0" rtlCol="0" anchor="t">
            <a:normAutofit/>
          </a:bodyPr>
          <a:lstStyle/>
          <a:p>
            <a:pPr marL="0" indent="0" algn="l">
              <a:lnSpc>
                <a:spcPts val="2148"/>
              </a:lnSpc>
              <a:buNone/>
            </a:pPr>
            <a:r>
              <a:rPr lang="en-US" sz="1200" dirty="0">
                <a:solidFill>
                  <a:srgbClr val="1F1B18"/>
                </a:solidFill>
                <a:latin typeface="Georgia" pitchFamily="34" charset="0"/>
                <a:ea typeface="Georgia" pitchFamily="34" charset="-122"/>
                <a:cs typeface="Georgia" pitchFamily="34" charset="-120"/>
              </a:rPr>
              <a:t>OR</a:t>
            </a:r>
            <a:endParaRPr lang="en-US" sz="1200" dirty="0"/>
          </a:p>
        </p:txBody>
      </p:sp>
      <p:sp>
        <p:nvSpPr>
          <p:cNvPr id="9" name="Text 6"/>
          <p:cNvSpPr/>
          <p:nvPr/>
        </p:nvSpPr>
        <p:spPr>
          <a:xfrm>
            <a:off x="1301750" y="2647900"/>
            <a:ext cx="2032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a</a:t>
            </a:r>
            <a:endParaRPr lang="en-US" sz="1200" dirty="0"/>
          </a:p>
        </p:txBody>
      </p:sp>
      <p:sp>
        <p:nvSpPr>
          <p:cNvPr id="10" name="Text 7"/>
          <p:cNvSpPr/>
          <p:nvPr/>
        </p:nvSpPr>
        <p:spPr>
          <a:xfrm>
            <a:off x="1301750" y="2832050"/>
            <a:ext cx="2032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b</a:t>
            </a:r>
            <a:endParaRPr lang="en-US" sz="1200" dirty="0"/>
          </a:p>
        </p:txBody>
      </p:sp>
      <p:sp>
        <p:nvSpPr>
          <p:cNvPr id="11" name="Text 8"/>
          <p:cNvSpPr/>
          <p:nvPr/>
        </p:nvSpPr>
        <p:spPr>
          <a:xfrm>
            <a:off x="3848100" y="2736800"/>
            <a:ext cx="9652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a + b</a:t>
            </a:r>
            <a:endParaRPr lang="en-US" sz="1200" dirty="0"/>
          </a:p>
        </p:txBody>
      </p:sp>
      <p:sp>
        <p:nvSpPr>
          <p:cNvPr id="12" name="Text 9"/>
          <p:cNvSpPr/>
          <p:nvPr/>
        </p:nvSpPr>
        <p:spPr>
          <a:xfrm>
            <a:off x="812800" y="3638500"/>
            <a:ext cx="571500" cy="298152"/>
          </a:xfrm>
          <a:prstGeom prst="rect">
            <a:avLst/>
          </a:prstGeom>
          <a:noFill/>
          <a:ln/>
        </p:spPr>
        <p:txBody>
          <a:bodyPr wrap="none" lIns="0" tIns="0" rIns="0" bIns="0" rtlCol="0" anchor="t">
            <a:normAutofit/>
          </a:bodyPr>
          <a:lstStyle/>
          <a:p>
            <a:pPr marL="0" indent="0" algn="l">
              <a:lnSpc>
                <a:spcPts val="2148"/>
              </a:lnSpc>
              <a:buNone/>
            </a:pPr>
            <a:r>
              <a:rPr lang="en-US" sz="1200" dirty="0">
                <a:solidFill>
                  <a:srgbClr val="1F1B18"/>
                </a:solidFill>
                <a:latin typeface="Georgia" pitchFamily="34" charset="0"/>
                <a:ea typeface="Georgia" pitchFamily="34" charset="-122"/>
                <a:cs typeface="Georgia" pitchFamily="34" charset="-120"/>
              </a:rPr>
              <a:t>AND</a:t>
            </a:r>
            <a:endParaRPr lang="en-US" sz="1200" dirty="0"/>
          </a:p>
        </p:txBody>
      </p:sp>
      <p:sp>
        <p:nvSpPr>
          <p:cNvPr id="13" name="Text 10"/>
          <p:cNvSpPr/>
          <p:nvPr/>
        </p:nvSpPr>
        <p:spPr>
          <a:xfrm>
            <a:off x="1301750" y="3378150"/>
            <a:ext cx="2032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a</a:t>
            </a:r>
            <a:endParaRPr lang="en-US" sz="1200" dirty="0"/>
          </a:p>
        </p:txBody>
      </p:sp>
      <p:sp>
        <p:nvSpPr>
          <p:cNvPr id="14" name="Text 11"/>
          <p:cNvSpPr/>
          <p:nvPr/>
        </p:nvSpPr>
        <p:spPr>
          <a:xfrm>
            <a:off x="1301750" y="3898850"/>
            <a:ext cx="2032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b</a:t>
            </a:r>
            <a:endParaRPr lang="en-US" sz="1200" dirty="0"/>
          </a:p>
        </p:txBody>
      </p:sp>
      <p:sp>
        <p:nvSpPr>
          <p:cNvPr id="15" name="Text 12"/>
          <p:cNvSpPr/>
          <p:nvPr/>
        </p:nvSpPr>
        <p:spPr>
          <a:xfrm>
            <a:off x="4076700" y="3638500"/>
            <a:ext cx="7493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a·b</a:t>
            </a:r>
            <a:endParaRPr lang="en-US" sz="1200" dirty="0"/>
          </a:p>
        </p:txBody>
      </p:sp>
      <p:sp>
        <p:nvSpPr>
          <p:cNvPr id="16" name="Text 13"/>
          <p:cNvSpPr/>
          <p:nvPr/>
        </p:nvSpPr>
        <p:spPr>
          <a:xfrm>
            <a:off x="5060950" y="2697807"/>
            <a:ext cx="3810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A3292A"/>
                </a:solidFill>
                <a:latin typeface="Georgia" pitchFamily="34" charset="0"/>
                <a:ea typeface="Georgia" pitchFamily="34" charset="-122"/>
                <a:cs typeface="Georgia" pitchFamily="34" charset="-120"/>
              </a:rPr>
              <a:t>b</a:t>
            </a:r>
            <a:endParaRPr lang="en-US" sz="1500" dirty="0"/>
          </a:p>
        </p:txBody>
      </p:sp>
      <p:sp>
        <p:nvSpPr>
          <p:cNvPr id="17" name="Text 14"/>
          <p:cNvSpPr/>
          <p:nvPr/>
        </p:nvSpPr>
        <p:spPr>
          <a:xfrm>
            <a:off x="5391150" y="2707332"/>
            <a:ext cx="6167691" cy="283170"/>
          </a:xfrm>
          <a:prstGeom prst="rect">
            <a:avLst/>
          </a:prstGeom>
          <a:noFill/>
          <a:ln/>
        </p:spPr>
        <p:txBody>
          <a:bodyPr wrap="square" lIns="0" tIns="0" rIns="0" bIns="0" rtlCol="0" anchor="t">
            <a:normAutofit/>
          </a:bodyPr>
          <a:lstStyle/>
          <a:p>
            <a:pPr marL="0" indent="0" algn="l">
              <a:lnSpc>
                <a:spcPts val="2030"/>
              </a:lnSpc>
              <a:buNone/>
            </a:pPr>
            <a:r>
              <a:rPr lang="en-US" sz="1450" dirty="0">
                <a:solidFill>
                  <a:srgbClr val="3B3631"/>
                </a:solidFill>
                <a:latin typeface="Georgia" pitchFamily="34" charset="0"/>
                <a:ea typeface="Georgia" pitchFamily="34" charset="-122"/>
                <a:cs typeface="Georgia" pitchFamily="34" charset="-120"/>
              </a:rPr>
              <a:t>NOT: tie the inputs. </a:t>
            </a:r>
            <a:r>
              <a:rPr lang="en-US" sz="1450" i="1" dirty="0">
                <a:solidFill>
                  <a:srgbClr val="3B3631"/>
                </a:solidFill>
                <a:latin typeface="Georgia" pitchFamily="34" charset="0"/>
                <a:ea typeface="Georgia" pitchFamily="34" charset="-122"/>
                <a:cs typeface="Georgia" pitchFamily="34" charset="-120"/>
              </a:rPr>
              <a:t>(a + a)′ = a′</a:t>
            </a:r>
            <a:r>
              <a:rPr lang="en-US" sz="1450" dirty="0">
                <a:solidFill>
                  <a:srgbClr val="3B3631"/>
                </a:solidFill>
                <a:latin typeface="Georgia" pitchFamily="34" charset="0"/>
                <a:ea typeface="Georgia" pitchFamily="34" charset="-122"/>
                <a:cs typeface="Georgia" pitchFamily="34" charset="-120"/>
              </a:rPr>
              <a:t> by 7b.</a:t>
            </a:r>
            <a:endParaRPr lang="en-US" sz="1450" dirty="0"/>
          </a:p>
        </p:txBody>
      </p:sp>
      <p:sp>
        <p:nvSpPr>
          <p:cNvPr id="18" name="Text 15"/>
          <p:cNvSpPr/>
          <p:nvPr/>
        </p:nvSpPr>
        <p:spPr>
          <a:xfrm>
            <a:off x="5391150" y="3041303"/>
            <a:ext cx="6167691" cy="283170"/>
          </a:xfrm>
          <a:prstGeom prst="rect">
            <a:avLst/>
          </a:prstGeom>
          <a:noFill/>
          <a:ln/>
        </p:spPr>
        <p:txBody>
          <a:bodyPr wrap="square" lIns="0" tIns="0" rIns="0" bIns="0" rtlCol="0" anchor="t">
            <a:normAutofit/>
          </a:bodyPr>
          <a:lstStyle/>
          <a:p>
            <a:pPr marL="0" indent="0" algn="l">
              <a:lnSpc>
                <a:spcPts val="2030"/>
              </a:lnSpc>
              <a:buNone/>
            </a:pPr>
            <a:r>
              <a:rPr lang="en-US" sz="1450" dirty="0">
                <a:solidFill>
                  <a:srgbClr val="3B3631"/>
                </a:solidFill>
                <a:latin typeface="Georgia" pitchFamily="34" charset="0"/>
                <a:ea typeface="Georgia" pitchFamily="34" charset="-122"/>
                <a:cs typeface="Georgia" pitchFamily="34" charset="-120"/>
              </a:rPr>
              <a:t>OR: a NOR, then that inverter. </a:t>
            </a:r>
            <a:r>
              <a:rPr lang="en-US" sz="1450" i="1" dirty="0">
                <a:solidFill>
                  <a:srgbClr val="3B3631"/>
                </a:solidFill>
                <a:latin typeface="Georgia" pitchFamily="34" charset="0"/>
                <a:ea typeface="Georgia" pitchFamily="34" charset="-122"/>
                <a:cs typeface="Georgia" pitchFamily="34" charset="-120"/>
              </a:rPr>
              <a:t>((a + b)′)′ = a + b</a:t>
            </a:r>
            <a:r>
              <a:rPr lang="en-US" sz="1450" dirty="0">
                <a:solidFill>
                  <a:srgbClr val="3B3631"/>
                </a:solidFill>
                <a:latin typeface="Georgia" pitchFamily="34" charset="0"/>
                <a:ea typeface="Georgia" pitchFamily="34" charset="-122"/>
                <a:cs typeface="Georgia" pitchFamily="34" charset="-120"/>
              </a:rPr>
              <a:t> by 9.</a:t>
            </a:r>
            <a:endParaRPr lang="en-US" sz="1450" dirty="0"/>
          </a:p>
        </p:txBody>
      </p:sp>
      <p:sp>
        <p:nvSpPr>
          <p:cNvPr id="19" name="Text 16"/>
          <p:cNvSpPr/>
          <p:nvPr/>
        </p:nvSpPr>
        <p:spPr>
          <a:xfrm>
            <a:off x="5391150" y="3375273"/>
            <a:ext cx="6167691" cy="283170"/>
          </a:xfrm>
          <a:prstGeom prst="rect">
            <a:avLst/>
          </a:prstGeom>
          <a:noFill/>
          <a:ln/>
        </p:spPr>
        <p:txBody>
          <a:bodyPr wrap="square" lIns="0" tIns="0" rIns="0" bIns="0" rtlCol="0" anchor="t">
            <a:normAutofit/>
          </a:bodyPr>
          <a:lstStyle/>
          <a:p>
            <a:pPr marL="0" indent="0" algn="l">
              <a:lnSpc>
                <a:spcPts val="2030"/>
              </a:lnSpc>
              <a:buNone/>
            </a:pPr>
            <a:r>
              <a:rPr lang="en-US" sz="1450" dirty="0">
                <a:solidFill>
                  <a:srgbClr val="3B3631"/>
                </a:solidFill>
                <a:latin typeface="Georgia" pitchFamily="34" charset="0"/>
                <a:ea typeface="Georgia" pitchFamily="34" charset="-122"/>
                <a:cs typeface="Georgia" pitchFamily="34" charset="-120"/>
              </a:rPr>
              <a:t>AND: invert both inputs, then NOR. </a:t>
            </a:r>
            <a:r>
              <a:rPr lang="en-US" sz="1450" i="1" dirty="0">
                <a:solidFill>
                  <a:srgbClr val="3B3631"/>
                </a:solidFill>
                <a:latin typeface="Georgia" pitchFamily="34" charset="0"/>
                <a:ea typeface="Georgia" pitchFamily="34" charset="-122"/>
                <a:cs typeface="Georgia" pitchFamily="34" charset="-120"/>
              </a:rPr>
              <a:t>(a′ + b′)′ = ab</a:t>
            </a:r>
            <a:r>
              <a:rPr lang="en-US" sz="1450" dirty="0">
                <a:solidFill>
                  <a:srgbClr val="3B3631"/>
                </a:solidFill>
                <a:latin typeface="Georgia" pitchFamily="34" charset="0"/>
                <a:ea typeface="Georgia" pitchFamily="34" charset="-122"/>
                <a:cs typeface="Georgia" pitchFamily="34" charset="-120"/>
              </a:rPr>
              <a:t> by 15b and 9.</a:t>
            </a:r>
            <a:endParaRPr lang="en-US" sz="1450" dirty="0"/>
          </a:p>
        </p:txBody>
      </p:sp>
      <p:sp>
        <p:nvSpPr>
          <p:cNvPr id="20" name="Text 17"/>
          <p:cNvSpPr/>
          <p:nvPr/>
        </p:nvSpPr>
        <p:spPr>
          <a:xfrm>
            <a:off x="812800" y="4565600"/>
            <a:ext cx="3810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A3292A"/>
                </a:solidFill>
                <a:latin typeface="Georgia" pitchFamily="34" charset="0"/>
                <a:ea typeface="Georgia" pitchFamily="34" charset="-122"/>
                <a:cs typeface="Georgia" pitchFamily="34" charset="-120"/>
              </a:rPr>
              <a:t>c</a:t>
            </a:r>
            <a:endParaRPr lang="en-US" sz="1500" dirty="0"/>
          </a:p>
        </p:txBody>
      </p:sp>
      <p:sp>
        <p:nvSpPr>
          <p:cNvPr id="21" name="Text 18"/>
          <p:cNvSpPr/>
          <p:nvPr/>
        </p:nvSpPr>
        <p:spPr>
          <a:xfrm>
            <a:off x="1143000" y="4575125"/>
            <a:ext cx="10543286" cy="283170"/>
          </a:xfrm>
          <a:prstGeom prst="rect">
            <a:avLst/>
          </a:prstGeom>
          <a:noFill/>
          <a:ln/>
        </p:spPr>
        <p:txBody>
          <a:bodyPr wrap="square" lIns="0" tIns="0" rIns="0" bIns="0" rtlCol="0" anchor="t">
            <a:normAutofit/>
          </a:bodyPr>
          <a:lstStyle/>
          <a:p>
            <a:pPr marL="0" indent="0" algn="l">
              <a:lnSpc>
                <a:spcPts val="2030"/>
              </a:lnSpc>
              <a:buNone/>
            </a:pPr>
            <a:r>
              <a:rPr lang="en-US" sz="1450" i="1" dirty="0">
                <a:solidFill>
                  <a:srgbClr val="3B3631"/>
                </a:solidFill>
                <a:latin typeface="Georgia" pitchFamily="34" charset="0"/>
                <a:ea typeface="Georgia" pitchFamily="34" charset="-122"/>
                <a:cs typeface="Georgia" pitchFamily="34" charset="-120"/>
              </a:rPr>
              <a:t>F = (A + B)(B′ + C) = (((A + B)(B′ + C))′)′</a:t>
            </a:r>
            <a:r>
              <a:rPr lang="en-US" sz="1450" dirty="0">
                <a:solidFill>
                  <a:srgbClr val="3B3631"/>
                </a:solidFill>
                <a:latin typeface="Georgia" pitchFamily="34" charset="0"/>
                <a:ea typeface="Georgia" pitchFamily="34" charset="-122"/>
                <a:cs typeface="Georgia" pitchFamily="34" charset="-120"/>
              </a:rPr>
              <a:t> by 9,</a:t>
            </a:r>
            <a:r>
              <a:rPr lang="en-US" sz="1450" i="1" dirty="0">
                <a:solidFill>
                  <a:srgbClr val="3B3631"/>
                </a:solidFill>
                <a:latin typeface="Georgia" pitchFamily="34" charset="0"/>
                <a:ea typeface="Georgia" pitchFamily="34" charset="-122"/>
                <a:cs typeface="Georgia" pitchFamily="34" charset="-120"/>
              </a:rPr>
              <a:t> = ((A + B)′ + (B′ + C)′)′</a:t>
            </a:r>
            <a:r>
              <a:rPr lang="en-US" sz="1450" dirty="0">
                <a:solidFill>
                  <a:srgbClr val="3B3631"/>
                </a:solidFill>
                <a:latin typeface="Georgia" pitchFamily="34" charset="0"/>
                <a:ea typeface="Georgia" pitchFamily="34" charset="-122"/>
                <a:cs typeface="Georgia" pitchFamily="34" charset="-120"/>
              </a:rPr>
              <a:t> by 15a.</a:t>
            </a:r>
            <a:endParaRPr lang="en-US" sz="1450" dirty="0"/>
          </a:p>
        </p:txBody>
      </p:sp>
      <p:sp>
        <p:nvSpPr>
          <p:cNvPr id="22" name="Text 19"/>
          <p:cNvSpPr/>
          <p:nvPr/>
        </p:nvSpPr>
        <p:spPr>
          <a:xfrm>
            <a:off x="1143000" y="4909096"/>
            <a:ext cx="10543286" cy="540941"/>
          </a:xfrm>
          <a:prstGeom prst="rect">
            <a:avLst/>
          </a:prstGeom>
          <a:noFill/>
          <a:ln/>
        </p:spPr>
        <p:txBody>
          <a:bodyPr wrap="square" lIns="0" tIns="0" rIns="0" bIns="0" rtlCol="0" anchor="t">
            <a:normAutofit/>
          </a:bodyPr>
          <a:lstStyle/>
          <a:p>
            <a:pPr marL="0" indent="0" algn="l">
              <a:lnSpc>
                <a:spcPts val="2030"/>
              </a:lnSpc>
              <a:buNone/>
            </a:pPr>
            <a:r>
              <a:rPr lang="en-US" sz="1450" dirty="0">
                <a:solidFill>
                  <a:srgbClr val="3B3631"/>
                </a:solidFill>
                <a:latin typeface="Georgia" pitchFamily="34" charset="0"/>
                <a:ea typeface="Georgia" pitchFamily="34" charset="-122"/>
                <a:cs typeface="Georgia" pitchFamily="34" charset="-120"/>
              </a:rPr>
              <a:t>Each complement of a sum is a NOR: one for </a:t>
            </a:r>
            <a:r>
              <a:rPr lang="en-US" sz="1450" i="1" dirty="0">
                <a:solidFill>
                  <a:srgbClr val="3B3631"/>
                </a:solidFill>
                <a:latin typeface="Georgia" pitchFamily="34" charset="0"/>
                <a:ea typeface="Georgia" pitchFamily="34" charset="-122"/>
                <a:cs typeface="Georgia" pitchFamily="34" charset="-120"/>
              </a:rPr>
              <a:t>A + B</a:t>
            </a:r>
            <a:r>
              <a:rPr lang="en-US" sz="1450" dirty="0">
                <a:solidFill>
                  <a:srgbClr val="3B3631"/>
                </a:solidFill>
                <a:latin typeface="Georgia" pitchFamily="34" charset="0"/>
                <a:ea typeface="Georgia" pitchFamily="34" charset="-122"/>
                <a:cs typeface="Georgia" pitchFamily="34" charset="-120"/>
              </a:rPr>
              <a:t>, one for </a:t>
            </a:r>
            <a:r>
              <a:rPr lang="en-US" sz="1450" i="1" dirty="0">
                <a:solidFill>
                  <a:srgbClr val="3B3631"/>
                </a:solidFill>
                <a:latin typeface="Georgia" pitchFamily="34" charset="0"/>
                <a:ea typeface="Georgia" pitchFamily="34" charset="-122"/>
                <a:cs typeface="Georgia" pitchFamily="34" charset="-120"/>
              </a:rPr>
              <a:t>B′ + C</a:t>
            </a:r>
            <a:r>
              <a:rPr lang="en-US" sz="1450" dirty="0">
                <a:solidFill>
                  <a:srgbClr val="3B3631"/>
                </a:solidFill>
                <a:latin typeface="Georgia" pitchFamily="34" charset="0"/>
                <a:ea typeface="Georgia" pitchFamily="34" charset="-122"/>
                <a:cs typeface="Georgia" pitchFamily="34" charset="-120"/>
              </a:rPr>
              <a:t>, and the outer one combines them. With a fourth NOR (inputs tied) for </a:t>
            </a:r>
            <a:r>
              <a:rPr lang="en-US" sz="1450" i="1" dirty="0">
                <a:solidFill>
                  <a:srgbClr val="3B3631"/>
                </a:solidFill>
                <a:latin typeface="Georgia" pitchFamily="34" charset="0"/>
                <a:ea typeface="Georgia" pitchFamily="34" charset="-122"/>
                <a:cs typeface="Georgia" pitchFamily="34" charset="-120"/>
              </a:rPr>
              <a:t>B′</a:t>
            </a:r>
            <a:r>
              <a:rPr lang="en-US" sz="1450" dirty="0">
                <a:solidFill>
                  <a:srgbClr val="3B3631"/>
                </a:solidFill>
                <a:latin typeface="Georgia" pitchFamily="34" charset="0"/>
                <a:ea typeface="Georgia" pitchFamily="34" charset="-122"/>
                <a:cs typeface="Georgia" pitchFamily="34" charset="-120"/>
              </a:rPr>
              <a:t>, that is four 2-input NORs, one 74LS02.</a:t>
            </a:r>
            <a:endParaRPr lang="en-US" sz="1450" dirty="0"/>
          </a:p>
        </p:txBody>
      </p:sp>
      <p:sp>
        <p:nvSpPr>
          <p:cNvPr id="23" name="Text 20"/>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24" name="Text 21"/>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8 · GATES WITH MORE INPUTS</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More inputs, written as formulas</a:t>
            </a:r>
            <a:endParaRPr lang="en-US" sz="3200" dirty="0"/>
          </a:p>
        </p:txBody>
      </p:sp>
      <p:sp>
        <p:nvSpPr>
          <p:cNvPr id="4" name="Shape 2"/>
          <p:cNvSpPr/>
          <p:nvPr/>
        </p:nvSpPr>
        <p:spPr>
          <a:xfrm>
            <a:off x="812800" y="1930350"/>
            <a:ext cx="5156200" cy="1483271"/>
          </a:xfrm>
          <a:prstGeom prst="roundRect">
            <a:avLst>
              <a:gd name="adj" fmla="val 5137"/>
            </a:avLst>
          </a:prstGeom>
          <a:solidFill>
            <a:srgbClr val="EFE8DD"/>
          </a:solidFill>
          <a:ln/>
        </p:spPr>
        <p:txBody>
          <a:bodyPr/>
          <a:lstStyle/>
          <a:p>
            <a:endParaRPr lang="en-US"/>
          </a:p>
        </p:txBody>
      </p:sp>
      <p:sp>
        <p:nvSpPr>
          <p:cNvPr id="5" name="Text 3"/>
          <p:cNvSpPr/>
          <p:nvPr/>
        </p:nvSpPr>
        <p:spPr>
          <a:xfrm>
            <a:off x="1041400" y="2133550"/>
            <a:ext cx="4839970"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F1B18"/>
                </a:solidFill>
                <a:latin typeface="Georgia" pitchFamily="34" charset="0"/>
                <a:ea typeface="Georgia" pitchFamily="34" charset="-122"/>
                <a:cs typeface="Georgia" pitchFamily="34" charset="-120"/>
              </a:rPr>
              <a:t>Chaining is just regrouping</a:t>
            </a:r>
            <a:endParaRPr lang="en-US" sz="1600" dirty="0"/>
          </a:p>
        </p:txBody>
      </p:sp>
      <p:sp>
        <p:nvSpPr>
          <p:cNvPr id="6" name="Text 4"/>
          <p:cNvSpPr/>
          <p:nvPr/>
        </p:nvSpPr>
        <p:spPr>
          <a:xfrm>
            <a:off x="1041400" y="2463750"/>
            <a:ext cx="4839970" cy="772071"/>
          </a:xfrm>
          <a:prstGeom prst="rect">
            <a:avLst/>
          </a:prstGeom>
          <a:noFill/>
          <a:ln/>
        </p:spPr>
        <p:txBody>
          <a:bodyPr wrap="square" lIns="0" tIns="0" rIns="0" bIns="0" rtlCol="0" anchor="t">
            <a:normAutofit/>
          </a:bodyPr>
          <a:lstStyle/>
          <a:p>
            <a:pPr marL="0" indent="0" algn="l">
              <a:lnSpc>
                <a:spcPts val="1960"/>
              </a:lnSpc>
              <a:buNone/>
            </a:pPr>
            <a:r>
              <a:rPr lang="en-US" sz="1400" i="1" dirty="0">
                <a:solidFill>
                  <a:srgbClr val="3B3631"/>
                </a:solidFill>
                <a:latin typeface="Georgia" pitchFamily="34" charset="0"/>
                <a:ea typeface="Georgia" pitchFamily="34" charset="-122"/>
                <a:cs typeface="Georgia" pitchFamily="34" charset="-120"/>
              </a:rPr>
              <a:t>A + B + C = (A + B) + C</a:t>
            </a:r>
            <a:r>
              <a:rPr lang="en-US" sz="1400" dirty="0">
                <a:solidFill>
                  <a:srgbClr val="3B3631"/>
                </a:solidFill>
                <a:latin typeface="Georgia" pitchFamily="34" charset="0"/>
                <a:ea typeface="Georgia" pitchFamily="34" charset="-122"/>
                <a:cs typeface="Georgia" pitchFamily="34" charset="-120"/>
              </a:rPr>
              <a:t> by 11b, and </a:t>
            </a:r>
            <a:r>
              <a:rPr lang="en-US" sz="1400" i="1" dirty="0">
                <a:solidFill>
                  <a:srgbClr val="3B3631"/>
                </a:solidFill>
                <a:latin typeface="Georgia" pitchFamily="34" charset="0"/>
                <a:ea typeface="Georgia" pitchFamily="34" charset="-122"/>
                <a:cs typeface="Georgia" pitchFamily="34" charset="-120"/>
              </a:rPr>
              <a:t>ABCD = ((AB)C)D = (AB)(CD)</a:t>
            </a:r>
            <a:r>
              <a:rPr lang="en-US" sz="1400" dirty="0">
                <a:solidFill>
                  <a:srgbClr val="3B3631"/>
                </a:solidFill>
                <a:latin typeface="Georgia" pitchFamily="34" charset="0"/>
                <a:ea typeface="Georgia" pitchFamily="34" charset="-122"/>
                <a:cs typeface="Georgia" pitchFamily="34" charset="-120"/>
              </a:rPr>
              <a:t> by 11a. Every grouping is the same function, so you may combine the inputs two at a time in any order.</a:t>
            </a:r>
            <a:endParaRPr lang="en-US" sz="1400" dirty="0"/>
          </a:p>
        </p:txBody>
      </p:sp>
      <p:sp>
        <p:nvSpPr>
          <p:cNvPr id="7" name="Shape 5"/>
          <p:cNvSpPr/>
          <p:nvPr/>
        </p:nvSpPr>
        <p:spPr>
          <a:xfrm>
            <a:off x="6223000" y="1930350"/>
            <a:ext cx="5156200" cy="1483271"/>
          </a:xfrm>
          <a:prstGeom prst="roundRect">
            <a:avLst>
              <a:gd name="adj" fmla="val 5137"/>
            </a:avLst>
          </a:prstGeom>
          <a:solidFill>
            <a:srgbClr val="EFE8DD"/>
          </a:solidFill>
          <a:ln/>
        </p:spPr>
        <p:txBody>
          <a:bodyPr/>
          <a:lstStyle/>
          <a:p>
            <a:endParaRPr lang="en-US"/>
          </a:p>
        </p:txBody>
      </p:sp>
      <p:sp>
        <p:nvSpPr>
          <p:cNvPr id="8" name="Text 6"/>
          <p:cNvSpPr/>
          <p:nvPr/>
        </p:nvSpPr>
        <p:spPr>
          <a:xfrm>
            <a:off x="6451600" y="2133550"/>
            <a:ext cx="4839970"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F1B18"/>
                </a:solidFill>
                <a:latin typeface="Georgia" pitchFamily="34" charset="0"/>
                <a:ea typeface="Georgia" pitchFamily="34" charset="-122"/>
                <a:cs typeface="Georgia" pitchFamily="34" charset="-120"/>
              </a:rPr>
              <a:t>Gates and delay</a:t>
            </a:r>
            <a:endParaRPr lang="en-US" sz="1600" dirty="0"/>
          </a:p>
        </p:txBody>
      </p:sp>
      <p:sp>
        <p:nvSpPr>
          <p:cNvPr id="9" name="Text 7"/>
          <p:cNvSpPr/>
          <p:nvPr/>
        </p:nvSpPr>
        <p:spPr>
          <a:xfrm>
            <a:off x="6451600" y="2463750"/>
            <a:ext cx="4839970"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3631"/>
                </a:solidFill>
                <a:latin typeface="Georgia" pitchFamily="34" charset="0"/>
                <a:ea typeface="Georgia" pitchFamily="34" charset="-122"/>
                <a:cs typeface="Georgia" pitchFamily="34" charset="-120"/>
              </a:rPr>
              <a:t>Either way it takes </a:t>
            </a:r>
            <a:r>
              <a:rPr lang="en-US" sz="1400" i="1" dirty="0">
                <a:solidFill>
                  <a:srgbClr val="3B3631"/>
                </a:solidFill>
                <a:latin typeface="Georgia" pitchFamily="34" charset="0"/>
                <a:ea typeface="Georgia" pitchFamily="34" charset="-122"/>
                <a:cs typeface="Georgia" pitchFamily="34" charset="-120"/>
              </a:rPr>
              <a:t>n − 1</a:t>
            </a:r>
            <a:r>
              <a:rPr lang="en-US" sz="1400" dirty="0">
                <a:solidFill>
                  <a:srgbClr val="3B3631"/>
                </a:solidFill>
                <a:latin typeface="Georgia" pitchFamily="34" charset="0"/>
                <a:ea typeface="Georgia" pitchFamily="34" charset="-122"/>
                <a:cs typeface="Georgia" pitchFamily="34" charset="-120"/>
              </a:rPr>
              <a:t> two-input gates. In the tree every input sits two gates from the output; in the chain the first inputs sit three gates away.</a:t>
            </a:r>
            <a:endParaRPr lang="en-US" sz="1400" dirty="0"/>
          </a:p>
        </p:txBody>
      </p:sp>
      <p:pic>
        <p:nvPicPr>
          <p:cNvPr id="10" name="Image 0" descr="Four-input AND built as a chain of three two-input ANDs"/>
          <p:cNvPicPr>
            <a:picLocks noChangeAspect="1"/>
          </p:cNvPicPr>
          <p:nvPr/>
        </p:nvPicPr>
        <p:blipFill>
          <a:blip r:embed="rId3"/>
          <a:srcRect/>
          <a:stretch/>
        </p:blipFill>
        <p:spPr>
          <a:xfrm>
            <a:off x="812800" y="3527921"/>
            <a:ext cx="3384550" cy="1035050"/>
          </a:xfrm>
          <a:prstGeom prst="rect">
            <a:avLst/>
          </a:prstGeom>
        </p:spPr>
      </p:pic>
      <p:sp>
        <p:nvSpPr>
          <p:cNvPr id="11" name="Text 8"/>
          <p:cNvSpPr/>
          <p:nvPr/>
        </p:nvSpPr>
        <p:spPr>
          <a:xfrm>
            <a:off x="857250" y="3572371"/>
            <a:ext cx="2032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A</a:t>
            </a:r>
            <a:endParaRPr lang="en-US" sz="1200" dirty="0"/>
          </a:p>
        </p:txBody>
      </p:sp>
      <p:sp>
        <p:nvSpPr>
          <p:cNvPr id="12" name="Text 9"/>
          <p:cNvSpPr/>
          <p:nvPr/>
        </p:nvSpPr>
        <p:spPr>
          <a:xfrm>
            <a:off x="857250" y="3756521"/>
            <a:ext cx="2032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B</a:t>
            </a:r>
            <a:endParaRPr lang="en-US" sz="1200" dirty="0"/>
          </a:p>
        </p:txBody>
      </p:sp>
      <p:sp>
        <p:nvSpPr>
          <p:cNvPr id="13" name="Text 10"/>
          <p:cNvSpPr/>
          <p:nvPr/>
        </p:nvSpPr>
        <p:spPr>
          <a:xfrm>
            <a:off x="857250" y="4061321"/>
            <a:ext cx="2032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C</a:t>
            </a:r>
            <a:endParaRPr lang="en-US" sz="1200" dirty="0"/>
          </a:p>
        </p:txBody>
      </p:sp>
      <p:sp>
        <p:nvSpPr>
          <p:cNvPr id="14" name="Text 11"/>
          <p:cNvSpPr/>
          <p:nvPr/>
        </p:nvSpPr>
        <p:spPr>
          <a:xfrm>
            <a:off x="857250" y="4277221"/>
            <a:ext cx="2032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D</a:t>
            </a:r>
            <a:endParaRPr lang="en-US" sz="1200" dirty="0"/>
          </a:p>
        </p:txBody>
      </p:sp>
      <p:sp>
        <p:nvSpPr>
          <p:cNvPr id="15" name="Text 12"/>
          <p:cNvSpPr/>
          <p:nvPr/>
        </p:nvSpPr>
        <p:spPr>
          <a:xfrm>
            <a:off x="3556000" y="3845421"/>
            <a:ext cx="5715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ABCD</a:t>
            </a:r>
            <a:endParaRPr lang="en-US" sz="1200" dirty="0"/>
          </a:p>
        </p:txBody>
      </p:sp>
      <p:sp>
        <p:nvSpPr>
          <p:cNvPr id="16" name="Text 13"/>
          <p:cNvSpPr/>
          <p:nvPr/>
        </p:nvSpPr>
        <p:spPr>
          <a:xfrm>
            <a:off x="1922115" y="4639171"/>
            <a:ext cx="1165920" cy="238720"/>
          </a:xfrm>
          <a:prstGeom prst="rect">
            <a:avLst/>
          </a:prstGeom>
          <a:noFill/>
          <a:ln/>
        </p:spPr>
        <p:txBody>
          <a:bodyPr wrap="square" lIns="0" tIns="0" rIns="0" bIns="0" rtlCol="0" anchor="t">
            <a:normAutofit/>
          </a:bodyPr>
          <a:lstStyle/>
          <a:p>
            <a:pPr marL="0" indent="0" algn="ctr">
              <a:lnSpc>
                <a:spcPts val="1680"/>
              </a:lnSpc>
              <a:buNone/>
            </a:pPr>
            <a:r>
              <a:rPr lang="en-US" sz="1200" i="1" dirty="0">
                <a:solidFill>
                  <a:srgbClr val="6F665D"/>
                </a:solidFill>
                <a:latin typeface="Georgia" pitchFamily="34" charset="0"/>
                <a:ea typeface="Georgia" pitchFamily="34" charset="-122"/>
                <a:cs typeface="Georgia" pitchFamily="34" charset="-120"/>
              </a:rPr>
              <a:t>chain: ((AB)C)D</a:t>
            </a:r>
            <a:endParaRPr lang="en-US" sz="1200" dirty="0"/>
          </a:p>
        </p:txBody>
      </p:sp>
      <p:pic>
        <p:nvPicPr>
          <p:cNvPr id="17" name="Image 1" descr="Four-input AND built as a tree of three two-input ANDs"/>
          <p:cNvPicPr>
            <a:picLocks noChangeAspect="1"/>
          </p:cNvPicPr>
          <p:nvPr/>
        </p:nvPicPr>
        <p:blipFill>
          <a:blip r:embed="rId4"/>
          <a:srcRect/>
          <a:stretch/>
        </p:blipFill>
        <p:spPr>
          <a:xfrm>
            <a:off x="4768850" y="3527921"/>
            <a:ext cx="2984500" cy="1035050"/>
          </a:xfrm>
          <a:prstGeom prst="rect">
            <a:avLst/>
          </a:prstGeom>
        </p:spPr>
      </p:pic>
      <p:sp>
        <p:nvSpPr>
          <p:cNvPr id="18" name="Text 14"/>
          <p:cNvSpPr/>
          <p:nvPr/>
        </p:nvSpPr>
        <p:spPr>
          <a:xfrm>
            <a:off x="4813300" y="3540621"/>
            <a:ext cx="2032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A</a:t>
            </a:r>
            <a:endParaRPr lang="en-US" sz="1200" dirty="0"/>
          </a:p>
        </p:txBody>
      </p:sp>
      <p:sp>
        <p:nvSpPr>
          <p:cNvPr id="19" name="Text 15"/>
          <p:cNvSpPr/>
          <p:nvPr/>
        </p:nvSpPr>
        <p:spPr>
          <a:xfrm>
            <a:off x="4813300" y="3724771"/>
            <a:ext cx="2032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B</a:t>
            </a:r>
            <a:endParaRPr lang="en-US" sz="1200" dirty="0"/>
          </a:p>
        </p:txBody>
      </p:sp>
      <p:sp>
        <p:nvSpPr>
          <p:cNvPr id="20" name="Text 16"/>
          <p:cNvSpPr/>
          <p:nvPr/>
        </p:nvSpPr>
        <p:spPr>
          <a:xfrm>
            <a:off x="4813300" y="4093071"/>
            <a:ext cx="2032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C</a:t>
            </a:r>
            <a:endParaRPr lang="en-US" sz="1200" dirty="0"/>
          </a:p>
        </p:txBody>
      </p:sp>
      <p:sp>
        <p:nvSpPr>
          <p:cNvPr id="21" name="Text 17"/>
          <p:cNvSpPr/>
          <p:nvPr/>
        </p:nvSpPr>
        <p:spPr>
          <a:xfrm>
            <a:off x="4813300" y="4277221"/>
            <a:ext cx="2032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D</a:t>
            </a:r>
            <a:endParaRPr lang="en-US" sz="1200" dirty="0"/>
          </a:p>
        </p:txBody>
      </p:sp>
      <p:sp>
        <p:nvSpPr>
          <p:cNvPr id="22" name="Text 18"/>
          <p:cNvSpPr/>
          <p:nvPr/>
        </p:nvSpPr>
        <p:spPr>
          <a:xfrm>
            <a:off x="7054850" y="3908921"/>
            <a:ext cx="571500" cy="298152"/>
          </a:xfrm>
          <a:prstGeom prst="rect">
            <a:avLst/>
          </a:prstGeom>
          <a:noFill/>
          <a:ln/>
        </p:spPr>
        <p:txBody>
          <a:bodyPr wrap="none" lIns="0" tIns="0" rIns="0" bIns="0" rtlCol="0" anchor="t">
            <a:normAutofit/>
          </a:bodyPr>
          <a:lstStyle/>
          <a:p>
            <a:pPr marL="0" indent="0" algn="l">
              <a:lnSpc>
                <a:spcPts val="2148"/>
              </a:lnSpc>
              <a:buNone/>
            </a:pPr>
            <a:r>
              <a:rPr lang="en-US" sz="1200" i="1" dirty="0">
                <a:solidFill>
                  <a:srgbClr val="1F1B18"/>
                </a:solidFill>
                <a:latin typeface="Georgia" pitchFamily="34" charset="0"/>
                <a:ea typeface="Georgia" pitchFamily="34" charset="-122"/>
                <a:cs typeface="Georgia" pitchFamily="34" charset="-120"/>
              </a:rPr>
              <a:t>ABCD</a:t>
            </a:r>
            <a:endParaRPr lang="en-US" sz="1200" dirty="0"/>
          </a:p>
        </p:txBody>
      </p:sp>
      <p:sp>
        <p:nvSpPr>
          <p:cNvPr id="23" name="Text 19"/>
          <p:cNvSpPr/>
          <p:nvPr/>
        </p:nvSpPr>
        <p:spPr>
          <a:xfrm>
            <a:off x="5733306" y="4639171"/>
            <a:ext cx="1055539" cy="238720"/>
          </a:xfrm>
          <a:prstGeom prst="rect">
            <a:avLst/>
          </a:prstGeom>
          <a:noFill/>
          <a:ln/>
        </p:spPr>
        <p:txBody>
          <a:bodyPr wrap="square" lIns="0" tIns="0" rIns="0" bIns="0" rtlCol="0" anchor="t">
            <a:normAutofit/>
          </a:bodyPr>
          <a:lstStyle/>
          <a:p>
            <a:pPr marL="0" indent="0" algn="ctr">
              <a:lnSpc>
                <a:spcPts val="1680"/>
              </a:lnSpc>
              <a:buNone/>
            </a:pPr>
            <a:r>
              <a:rPr lang="en-US" sz="1200" i="1" dirty="0">
                <a:solidFill>
                  <a:srgbClr val="6F665D"/>
                </a:solidFill>
                <a:latin typeface="Georgia" pitchFamily="34" charset="0"/>
                <a:ea typeface="Georgia" pitchFamily="34" charset="-122"/>
                <a:cs typeface="Georgia" pitchFamily="34" charset="-120"/>
              </a:rPr>
              <a:t>tree: (AB)(CD)</a:t>
            </a:r>
            <a:endParaRPr lang="en-US" sz="1200" dirty="0"/>
          </a:p>
        </p:txBody>
      </p:sp>
      <p:sp>
        <p:nvSpPr>
          <p:cNvPr id="24" name="Shape 20"/>
          <p:cNvSpPr/>
          <p:nvPr/>
        </p:nvSpPr>
        <p:spPr>
          <a:xfrm>
            <a:off x="812800" y="4966791"/>
            <a:ext cx="10566400" cy="863600"/>
          </a:xfrm>
          <a:prstGeom prst="rect">
            <a:avLst/>
          </a:prstGeom>
          <a:solidFill>
            <a:srgbClr val="EFE8DD"/>
          </a:solidFill>
          <a:ln/>
        </p:spPr>
        <p:txBody>
          <a:bodyPr/>
          <a:lstStyle/>
          <a:p>
            <a:endParaRPr lang="en-US"/>
          </a:p>
        </p:txBody>
      </p:sp>
      <p:sp>
        <p:nvSpPr>
          <p:cNvPr id="25" name="Shape 21"/>
          <p:cNvSpPr/>
          <p:nvPr/>
        </p:nvSpPr>
        <p:spPr>
          <a:xfrm>
            <a:off x="838200" y="4966791"/>
            <a:ext cx="0" cy="863600"/>
          </a:xfrm>
          <a:prstGeom prst="line">
            <a:avLst/>
          </a:prstGeom>
          <a:noFill/>
          <a:ln w="50800">
            <a:solidFill>
              <a:srgbClr val="A3292A"/>
            </a:solidFill>
            <a:prstDash val="solid"/>
          </a:ln>
        </p:spPr>
        <p:txBody>
          <a:bodyPr/>
          <a:lstStyle/>
          <a:p>
            <a:endParaRPr lang="en-US"/>
          </a:p>
        </p:txBody>
      </p:sp>
      <p:sp>
        <p:nvSpPr>
          <p:cNvPr id="26" name="Text 22"/>
          <p:cNvSpPr/>
          <p:nvPr/>
        </p:nvSpPr>
        <p:spPr>
          <a:xfrm>
            <a:off x="1092200" y="5131891"/>
            <a:ext cx="10360152"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B3631"/>
                </a:solidFill>
                <a:latin typeface="Georgia" pitchFamily="34" charset="0"/>
                <a:ea typeface="Georgia" pitchFamily="34" charset="-122"/>
                <a:cs typeface="Georgia" pitchFamily="34" charset="-120"/>
              </a:rPr>
              <a:t>Careful:</a:t>
            </a:r>
            <a:r>
              <a:rPr lang="en-US" sz="1500" dirty="0">
                <a:solidFill>
                  <a:srgbClr val="3B3631"/>
                </a:solidFill>
                <a:latin typeface="Georgia" pitchFamily="34" charset="0"/>
                <a:ea typeface="Georgia" pitchFamily="34" charset="-122"/>
                <a:cs typeface="Georgia" pitchFamily="34" charset="-120"/>
              </a:rPr>
              <a:t> a NAND does not regroup. Chaining two of them gives </a:t>
            </a:r>
            <a:r>
              <a:rPr lang="en-US" sz="1500" i="1" dirty="0">
                <a:solidFill>
                  <a:srgbClr val="3B3631"/>
                </a:solidFill>
                <a:latin typeface="Georgia" pitchFamily="34" charset="0"/>
                <a:ea typeface="Georgia" pitchFamily="34" charset="-122"/>
                <a:cs typeface="Georgia" pitchFamily="34" charset="-120"/>
              </a:rPr>
              <a:t>((AB)′·C)′ = AB + C′</a:t>
            </a:r>
            <a:r>
              <a:rPr lang="en-US" sz="1500" dirty="0">
                <a:solidFill>
                  <a:srgbClr val="3B3631"/>
                </a:solidFill>
                <a:latin typeface="Georgia" pitchFamily="34" charset="0"/>
                <a:ea typeface="Georgia" pitchFamily="34" charset="-122"/>
                <a:cs typeface="Georgia" pitchFamily="34" charset="-120"/>
              </a:rPr>
              <a:t> by 15a and 9, while a 3-input NAND is </a:t>
            </a:r>
            <a:r>
              <a:rPr lang="en-US" sz="1500" i="1" dirty="0">
                <a:solidFill>
                  <a:srgbClr val="3B3631"/>
                </a:solidFill>
                <a:latin typeface="Georgia" pitchFamily="34" charset="0"/>
                <a:ea typeface="Georgia" pitchFamily="34" charset="-122"/>
                <a:cs typeface="Georgia" pitchFamily="34" charset="-120"/>
              </a:rPr>
              <a:t>(ABC)′ = A′ + B′ + C′</a:t>
            </a:r>
            <a:r>
              <a:rPr lang="en-US" sz="1500" dirty="0">
                <a:solidFill>
                  <a:srgbClr val="3B3631"/>
                </a:solidFill>
                <a:latin typeface="Georgia" pitchFamily="34" charset="0"/>
                <a:ea typeface="Georgia" pitchFamily="34" charset="-122"/>
                <a:cs typeface="Georgia" pitchFamily="34" charset="-120"/>
              </a:rPr>
              <a:t>. For three inputs write </a:t>
            </a:r>
            <a:r>
              <a:rPr lang="en-US" sz="1500" i="1" dirty="0">
                <a:solidFill>
                  <a:srgbClr val="3B3631"/>
                </a:solidFill>
                <a:latin typeface="Georgia" pitchFamily="34" charset="0"/>
                <a:ea typeface="Georgia" pitchFamily="34" charset="-122"/>
                <a:cs typeface="Georgia" pitchFamily="34" charset="-120"/>
              </a:rPr>
              <a:t>(ABC)′ = ((AB)C)′</a:t>
            </a:r>
            <a:r>
              <a:rPr lang="en-US" sz="1500" dirty="0">
                <a:solidFill>
                  <a:srgbClr val="3B3631"/>
                </a:solidFill>
                <a:latin typeface="Georgia" pitchFamily="34" charset="0"/>
                <a:ea typeface="Georgia" pitchFamily="34" charset="-122"/>
                <a:cs typeface="Georgia" pitchFamily="34" charset="-120"/>
              </a:rPr>
              <a:t>: an AND first, then a NAND.</a:t>
            </a:r>
            <a:endParaRPr lang="en-US" sz="1500" dirty="0"/>
          </a:p>
        </p:txBody>
      </p:sp>
      <p:sp>
        <p:nvSpPr>
          <p:cNvPr id="27" name="Text 2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28" name="Text 2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7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3292A"/>
                </a:solidFill>
                <a:latin typeface="Arial" pitchFamily="34" charset="0"/>
                <a:ea typeface="Arial" pitchFamily="34" charset="-122"/>
                <a:cs typeface="Arial" pitchFamily="34" charset="-120"/>
              </a:rPr>
              <a:t>8 · GATES WITH MORE INPUTS</a:t>
            </a:r>
            <a:endParaRPr lang="en-US" sz="1200" dirty="0"/>
          </a:p>
        </p:txBody>
      </p:sp>
      <p:sp>
        <p:nvSpPr>
          <p:cNvPr id="3" name="Text 1"/>
          <p:cNvSpPr/>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F1B18"/>
                </a:solidFill>
                <a:latin typeface="Georgia" pitchFamily="34" charset="0"/>
                <a:ea typeface="Georgia" pitchFamily="34" charset="-122"/>
                <a:cs typeface="Georgia" pitchFamily="34" charset="-120"/>
              </a:rPr>
              <a:t>What to take away</a:t>
            </a:r>
            <a:endParaRPr lang="en-US" sz="3200" dirty="0"/>
          </a:p>
        </p:txBody>
      </p:sp>
      <p:sp>
        <p:nvSpPr>
          <p:cNvPr id="4" name="Shape 2"/>
          <p:cNvSpPr/>
          <p:nvPr/>
        </p:nvSpPr>
        <p:spPr>
          <a:xfrm>
            <a:off x="812800" y="1933525"/>
            <a:ext cx="10566400" cy="0"/>
          </a:xfrm>
          <a:prstGeom prst="line">
            <a:avLst/>
          </a:prstGeom>
          <a:noFill/>
          <a:ln w="6350">
            <a:solidFill>
              <a:srgbClr val="D9D0C4"/>
            </a:solidFill>
            <a:prstDash val="solid"/>
          </a:ln>
        </p:spPr>
        <p:txBody>
          <a:bodyPr/>
          <a:lstStyle/>
          <a:p>
            <a:endParaRPr lang="en-US"/>
          </a:p>
        </p:txBody>
      </p:sp>
      <p:sp>
        <p:nvSpPr>
          <p:cNvPr id="5" name="Text 3"/>
          <p:cNvSpPr/>
          <p:nvPr/>
        </p:nvSpPr>
        <p:spPr>
          <a:xfrm>
            <a:off x="812800" y="2025600"/>
            <a:ext cx="15031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3292A"/>
                </a:solidFill>
                <a:latin typeface="Georgia" pitchFamily="34" charset="0"/>
                <a:ea typeface="Georgia" pitchFamily="34" charset="-122"/>
                <a:cs typeface="Georgia" pitchFamily="34" charset="-120"/>
              </a:rPr>
              <a:t>1</a:t>
            </a:r>
            <a:endParaRPr lang="en-US" sz="1600" dirty="0"/>
          </a:p>
        </p:txBody>
      </p:sp>
      <p:sp>
        <p:nvSpPr>
          <p:cNvPr id="6" name="Text 4"/>
          <p:cNvSpPr/>
          <p:nvPr/>
        </p:nvSpPr>
        <p:spPr>
          <a:xfrm>
            <a:off x="1090116" y="2025600"/>
            <a:ext cx="5550125"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F1B18"/>
                </a:solidFill>
                <a:latin typeface="Georgia" pitchFamily="34" charset="0"/>
                <a:ea typeface="Georgia" pitchFamily="34" charset="-122"/>
                <a:cs typeface="Georgia" pitchFamily="34" charset="-120"/>
              </a:rPr>
              <a:t>Split a complement and the operator swaps: </a:t>
            </a:r>
            <a:r>
              <a:rPr lang="en-US" sz="1600" i="1" dirty="0">
                <a:solidFill>
                  <a:srgbClr val="1F1B18"/>
                </a:solidFill>
                <a:latin typeface="Georgia" pitchFamily="34" charset="0"/>
                <a:ea typeface="Georgia" pitchFamily="34" charset="-122"/>
                <a:cs typeface="Georgia" pitchFamily="34" charset="-120"/>
              </a:rPr>
              <a:t>(AB)′ = A′ + B′</a:t>
            </a:r>
            <a:r>
              <a:rPr lang="en-US" sz="1600" dirty="0">
                <a:solidFill>
                  <a:srgbClr val="1F1B18"/>
                </a:solidFill>
                <a:latin typeface="Georgia" pitchFamily="34" charset="0"/>
                <a:ea typeface="Georgia" pitchFamily="34" charset="-122"/>
                <a:cs typeface="Georgia" pitchFamily="34" charset="-120"/>
              </a:rPr>
              <a:t>.</a:t>
            </a:r>
            <a:endParaRPr lang="en-US" sz="1600" dirty="0"/>
          </a:p>
        </p:txBody>
      </p:sp>
      <p:sp>
        <p:nvSpPr>
          <p:cNvPr id="7" name="Shape 5"/>
          <p:cNvSpPr/>
          <p:nvPr/>
        </p:nvSpPr>
        <p:spPr>
          <a:xfrm>
            <a:off x="812800" y="2402136"/>
            <a:ext cx="10566400" cy="0"/>
          </a:xfrm>
          <a:prstGeom prst="line">
            <a:avLst/>
          </a:prstGeom>
          <a:noFill/>
          <a:ln w="6350">
            <a:solidFill>
              <a:srgbClr val="D9D0C4"/>
            </a:solidFill>
            <a:prstDash val="solid"/>
          </a:ln>
        </p:spPr>
        <p:txBody>
          <a:bodyPr/>
          <a:lstStyle/>
          <a:p>
            <a:endParaRPr lang="en-US"/>
          </a:p>
        </p:txBody>
      </p:sp>
      <p:sp>
        <p:nvSpPr>
          <p:cNvPr id="8" name="Text 6"/>
          <p:cNvSpPr/>
          <p:nvPr/>
        </p:nvSpPr>
        <p:spPr>
          <a:xfrm>
            <a:off x="812800" y="2494211"/>
            <a:ext cx="178098"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3292A"/>
                </a:solidFill>
                <a:latin typeface="Georgia" pitchFamily="34" charset="0"/>
                <a:ea typeface="Georgia" pitchFamily="34" charset="-122"/>
                <a:cs typeface="Georgia" pitchFamily="34" charset="-120"/>
              </a:rPr>
              <a:t>2</a:t>
            </a:r>
            <a:endParaRPr lang="en-US" sz="1600" dirty="0"/>
          </a:p>
        </p:txBody>
      </p:sp>
      <p:sp>
        <p:nvSpPr>
          <p:cNvPr id="9" name="Text 7"/>
          <p:cNvSpPr/>
          <p:nvPr/>
        </p:nvSpPr>
        <p:spPr>
          <a:xfrm>
            <a:off x="1117898" y="2494211"/>
            <a:ext cx="6159618"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F1B18"/>
                </a:solidFill>
                <a:latin typeface="Georgia" pitchFamily="34" charset="0"/>
                <a:ea typeface="Georgia" pitchFamily="34" charset="-122"/>
                <a:cs typeface="Georgia" pitchFamily="34" charset="-120"/>
              </a:rPr>
              <a:t>SOP: one product per 1. POS: one sum per 0. Write the shorter list.</a:t>
            </a:r>
            <a:endParaRPr lang="en-US" sz="1600" dirty="0"/>
          </a:p>
        </p:txBody>
      </p:sp>
      <p:sp>
        <p:nvSpPr>
          <p:cNvPr id="10" name="Shape 8"/>
          <p:cNvSpPr/>
          <p:nvPr/>
        </p:nvSpPr>
        <p:spPr>
          <a:xfrm>
            <a:off x="812800" y="2870746"/>
            <a:ext cx="10566400" cy="0"/>
          </a:xfrm>
          <a:prstGeom prst="line">
            <a:avLst/>
          </a:prstGeom>
          <a:noFill/>
          <a:ln w="6350">
            <a:solidFill>
              <a:srgbClr val="D9D0C4"/>
            </a:solidFill>
            <a:prstDash val="solid"/>
          </a:ln>
        </p:spPr>
        <p:txBody>
          <a:bodyPr/>
          <a:lstStyle/>
          <a:p>
            <a:endParaRPr lang="en-US"/>
          </a:p>
        </p:txBody>
      </p:sp>
      <p:sp>
        <p:nvSpPr>
          <p:cNvPr id="11" name="Text 9"/>
          <p:cNvSpPr/>
          <p:nvPr/>
        </p:nvSpPr>
        <p:spPr>
          <a:xfrm>
            <a:off x="812800" y="2962821"/>
            <a:ext cx="177701"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3292A"/>
                </a:solidFill>
                <a:latin typeface="Georgia" pitchFamily="34" charset="0"/>
                <a:ea typeface="Georgia" pitchFamily="34" charset="-122"/>
                <a:cs typeface="Georgia" pitchFamily="34" charset="-120"/>
              </a:rPr>
              <a:t>3</a:t>
            </a:r>
            <a:endParaRPr lang="en-US" sz="1600" dirty="0"/>
          </a:p>
        </p:txBody>
      </p:sp>
      <p:sp>
        <p:nvSpPr>
          <p:cNvPr id="12" name="Text 10"/>
          <p:cNvSpPr/>
          <p:nvPr/>
        </p:nvSpPr>
        <p:spPr>
          <a:xfrm>
            <a:off x="1117501" y="2962821"/>
            <a:ext cx="3066575"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F1B18"/>
                </a:solidFill>
                <a:latin typeface="Georgia" pitchFamily="34" charset="0"/>
                <a:ea typeface="Georgia" pitchFamily="34" charset="-122"/>
                <a:cs typeface="Georgia" pitchFamily="34" charset="-120"/>
              </a:rPr>
              <a:t>Check every term on its own row.</a:t>
            </a:r>
            <a:endParaRPr lang="en-US" sz="1600" dirty="0"/>
          </a:p>
        </p:txBody>
      </p:sp>
      <p:sp>
        <p:nvSpPr>
          <p:cNvPr id="13" name="Shape 11"/>
          <p:cNvSpPr/>
          <p:nvPr/>
        </p:nvSpPr>
        <p:spPr>
          <a:xfrm>
            <a:off x="812800" y="3339356"/>
            <a:ext cx="10566400" cy="0"/>
          </a:xfrm>
          <a:prstGeom prst="line">
            <a:avLst/>
          </a:prstGeom>
          <a:noFill/>
          <a:ln w="6350">
            <a:solidFill>
              <a:srgbClr val="D9D0C4"/>
            </a:solidFill>
            <a:prstDash val="solid"/>
          </a:ln>
        </p:spPr>
        <p:txBody>
          <a:bodyPr/>
          <a:lstStyle/>
          <a:p>
            <a:endParaRPr lang="en-US"/>
          </a:p>
        </p:txBody>
      </p:sp>
      <p:sp>
        <p:nvSpPr>
          <p:cNvPr id="14" name="Text 12"/>
          <p:cNvSpPr/>
          <p:nvPr/>
        </p:nvSpPr>
        <p:spPr>
          <a:xfrm>
            <a:off x="812800" y="3431431"/>
            <a:ext cx="182761"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3292A"/>
                </a:solidFill>
                <a:latin typeface="Georgia" pitchFamily="34" charset="0"/>
                <a:ea typeface="Georgia" pitchFamily="34" charset="-122"/>
                <a:cs typeface="Georgia" pitchFamily="34" charset="-120"/>
              </a:rPr>
              <a:t>4</a:t>
            </a:r>
            <a:endParaRPr lang="en-US" sz="1600" dirty="0"/>
          </a:p>
        </p:txBody>
      </p:sp>
      <p:sp>
        <p:nvSpPr>
          <p:cNvPr id="15" name="Text 13"/>
          <p:cNvSpPr/>
          <p:nvPr/>
        </p:nvSpPr>
        <p:spPr>
          <a:xfrm>
            <a:off x="1122561" y="3431431"/>
            <a:ext cx="578783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F1B18"/>
                </a:solidFill>
                <a:latin typeface="Georgia" pitchFamily="34" charset="0"/>
                <a:ea typeface="Georgia" pitchFamily="34" charset="-122"/>
                <a:cs typeface="Georgia" pitchFamily="34" charset="-120"/>
              </a:rPr>
              <a:t>Two-level SOP becomes NAND-NAND by replacing every gate.</a:t>
            </a:r>
            <a:endParaRPr lang="en-US" sz="1600" dirty="0"/>
          </a:p>
        </p:txBody>
      </p:sp>
      <p:sp>
        <p:nvSpPr>
          <p:cNvPr id="16" name="Shape 14"/>
          <p:cNvSpPr/>
          <p:nvPr/>
        </p:nvSpPr>
        <p:spPr>
          <a:xfrm>
            <a:off x="812800" y="3807966"/>
            <a:ext cx="10566400" cy="0"/>
          </a:xfrm>
          <a:prstGeom prst="line">
            <a:avLst/>
          </a:prstGeom>
          <a:noFill/>
          <a:ln w="6350">
            <a:solidFill>
              <a:srgbClr val="D9D0C4"/>
            </a:solidFill>
            <a:prstDash val="solid"/>
          </a:ln>
        </p:spPr>
        <p:txBody>
          <a:bodyPr/>
          <a:lstStyle/>
          <a:p>
            <a:endParaRPr lang="en-US"/>
          </a:p>
        </p:txBody>
      </p:sp>
      <p:sp>
        <p:nvSpPr>
          <p:cNvPr id="17" name="Text 15"/>
          <p:cNvSpPr/>
          <p:nvPr/>
        </p:nvSpPr>
        <p:spPr>
          <a:xfrm>
            <a:off x="812800" y="3900041"/>
            <a:ext cx="172541"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3292A"/>
                </a:solidFill>
                <a:latin typeface="Georgia" pitchFamily="34" charset="0"/>
                <a:ea typeface="Georgia" pitchFamily="34" charset="-122"/>
                <a:cs typeface="Georgia" pitchFamily="34" charset="-120"/>
              </a:rPr>
              <a:t>5</a:t>
            </a:r>
            <a:endParaRPr lang="en-US" sz="1600" dirty="0"/>
          </a:p>
        </p:txBody>
      </p:sp>
      <p:sp>
        <p:nvSpPr>
          <p:cNvPr id="18" name="Text 16"/>
          <p:cNvSpPr/>
          <p:nvPr/>
        </p:nvSpPr>
        <p:spPr>
          <a:xfrm>
            <a:off x="1112341" y="3900041"/>
            <a:ext cx="5092188"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F1B18"/>
                </a:solidFill>
                <a:latin typeface="Georgia" pitchFamily="34" charset="0"/>
                <a:ea typeface="Georgia" pitchFamily="34" charset="-122"/>
                <a:cs typeface="Georgia" pitchFamily="34" charset="-120"/>
              </a:rPr>
              <a:t>NAND and NOR do not chain the way AND and OR do.</a:t>
            </a:r>
            <a:endParaRPr lang="en-US" sz="1600" dirty="0"/>
          </a:p>
        </p:txBody>
      </p:sp>
      <p:sp>
        <p:nvSpPr>
          <p:cNvPr id="19" name="Text 17"/>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65D"/>
                </a:solidFill>
                <a:latin typeface="Arial" pitchFamily="34" charset="0"/>
                <a:ea typeface="Arial" pitchFamily="34" charset="-122"/>
                <a:cs typeface="Arial" pitchFamily="34" charset="-120"/>
              </a:rPr>
              <a:t>Recitation 3 · Boolean algebra and logic gates</a:t>
            </a:r>
            <a:endParaRPr lang="en-US" sz="1200" dirty="0"/>
          </a:p>
        </p:txBody>
      </p:sp>
      <p:sp>
        <p:nvSpPr>
          <p:cNvPr id="20" name="Text 18"/>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65D"/>
                </a:solidFill>
                <a:latin typeface="Arial" pitchFamily="34" charset="0"/>
                <a:ea typeface="Arial" pitchFamily="34" charset="-122"/>
                <a:cs typeface="Arial" pitchFamily="34" charset="-120"/>
              </a:rPr>
              <a:t>34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10080</Words>
  <Application>Microsoft Macintosh PowerPoint</Application>
  <PresentationFormat>Widescreen</PresentationFormat>
  <Paragraphs>840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Recitation 3: Boolean algebra and logic gates</dc:title>
  <dc:subject>PptxGenJS Presentation</dc:subject>
  <dc:creator>PptxGenJS</dc:creator>
  <cp:lastModifiedBy>cosmorangeyc@gmail.com</cp:lastModifiedBy>
  <cp:revision>3</cp:revision>
  <dcterms:created xsi:type="dcterms:W3CDTF">2026-09-20T21:21:57Z</dcterms:created>
  <dcterms:modified xsi:type="dcterms:W3CDTF">2026-09-20T21:47:25Z</dcterms:modified>
</cp:coreProperties>
</file>