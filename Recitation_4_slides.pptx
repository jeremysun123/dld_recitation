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we built the theorem table. Today we use it. The first part is algebraic simplification, sorted into seven types by the theorem each one needs. For every type there is one worked example, then a problem for you, then the answers on the next slide. The second part does the same job with Karnaugh maps, which turn the search for a simplification into circling cells on a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theorems from last week's table that do the real work in simplification. Numbers match last week's slides and the handout. The last column says which of today's seven types uses each one. Keep in mind that x, y and z are placeholders: they can stand for a single letter, a primed letter, or a whole product or sum. A lot of simplification is just recognizing that some big chunk plays the role of x. Every problem today follows one rule: each step names the theorem it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1 is the most common move and the one K-maps are built on. The pattern: two terms that are the same except for one variable, which is plain in one term and primed in the other. Then that variable does not matter, and it disappears. In the example, the first two terms are both A′B, one with C and one with C′, so they merge into A′B. The last two merge into AB. Now look again: A′B and AB differ only in A, so they merge into B. Four terms of three literals each became a single letter. Always take a second look after merging, because the results often pair up again. The b version is the same idea for a product of sums.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 is all type 1. Part a and c need two rounds of merging. Part b is the product-of-sums version: find what plays the role of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Pair the first two terms: they differ only in B, so they give A′C. The last two give AC. Then A′C and AC differ only in A, so the answer is C. (b) Read A + B as x and C as y: the expression is (x + y)(x + y′), which is x, so A + B. (c) Same as a with four variables: the first pair gives A′B′D, the second A′BD, and those differ only in B, leaving 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Absorption is the fastest cleanup. If one term contains every letter of another term, the longer term is useless: whenever it is 1, the shorter term is already 1, so it never changes the result of the OR. Delete it. In the example, ABC and ABD′ both contain AB, so both go and we are left with AB. The b version says the same for a product of sums: x times (x + y) is just x. Watch for this especially after multiplying out brackets, where it shows up all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2: three absorption problems. In b, decide what plays the role of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Both long terms contain A′B, so x + xy = x removes them one at a time. (b) Take x = A + B: the second bracket is x + C, so the product is x(x + y), which is x. (c) B stands alone and every other term contains B, so each one is absorbed.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3 looks like type 2 but is different: here the other term contains the complement of x. The rule: if x stands alone as a term, then any x′ inside another term can be deleted. The reason: if x is 1, the OR is already 1. So the other term only matters when x is 0, and then x′ is 1 and contributes nothing. In the first example x is B′, so x′ is B, and AB becomes A. In the second, x is the whole product AB, and the (AB)′ in front of C can go. People miss this one when x is primed or is a product, so point those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3 uses 16a and 16b. Part d needs the theorem more than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x is C, so the C′ in A′BC′ goes. (b) x is A′, so its complement is A, and the A in ABC′ goes. (c) This is the product form: x is B, and B times (B′ + A) is AB. (d) Three uses of the same rule. First A removes the A′ from A′B. Now B stands alone, so the B′ in A′B′C goes. Then A removes the A′ from A′C. Check one row: A = B = 0, C = 1 gives 1 in the original through A′B′C, and 1 in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Consensus is the hardest one to spot, because nothing looks wrong with the redundant term. The recipe: find two terms where one contains a variable and the other contains its complement. Here AB has A and A′C has A′. Remove A from both and multiply what is left: B times C. If that product is also a term in the expression, it is redundant and can be deleted. Why? Split BC into ABC plus A′BC. The first is covered by AB and the second by A′C, so BC adds nothing. Check every such pair, because the redundant term can be anywhere in the expression, not just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4 is consensus only. Part c is the trap: the redundant term is not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has two steps: find the pair with x and x′ and form the consensus term, then delete it. (a) A′B′ and AC, leftovers B′ and C. (b) AB′C and A′D, leftovers B′C and D. (c) The pair is BC′ and AC, leftovers B and A, so AB is redundant even though it is written first; students usually look only at the last term. (d) The product-of-sums version: A + B and A′ + C, leftovers B and C give the sum B + C, which is deleted.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prime covers more than one letter, you cannot see any of the other patterns until you open it. Start from the outermost prime. Here it covers a sum, A′B + C, so 15b turns it into a product of complements, (A′B)′ times C′. The remaining prime covers a product, so 15a turns it into a sum, and the double prime on A cancels by theorem 9. Then multiply out, and the AC′ term appears twice, so one copy goes by 7b. Remind them of last week's warning: every time you split a prime, the operator swaps.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5: open the primes first, then use the earlier types. Part a ends with absorption and part c with combining.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outer prime covers a sum, so it becomes the product of the complements; the double primes cancel, giving ABC, which AC absorbs. (b) The outer prime covers a sum, so it becomes A′′ times (BC′)′, which is A times (BC′)′. The inner prime covers a product, so it becomes a sum, B′ + C′′, which is B′ + C. Then multiply out. (c) Each prime covers a sum, so each becomes a product; then A′B′ and A′B differ only in B and combine to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brackets multiplied together. First look for a shared part: here both brackets contain A, so 12b read backwards gives A + BC in one step. Most students forget 12b because it has no counterpart in ordinary algebra. If you do not see it, multiplying out always works, it just takes longer: four terms, AA is A by 7a, and then A absorbs AC and AB. Both routes give A + BC. After multiplying out, always look for xx′, which is 0, and for absorption and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6: parts a and c share a part, part b does not and has to be multiplied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Both brackets share A, so the distributive law read backwards gives A + (BC)(B′C). Reorder the product so B and B′ sit together; C times C is C. B times B′ is 0, 0 times C is 0, and A + 0 is A. (b) No shared part, so multiply out: AA′ is 0, leaving AC + A′B′ + B′C. Then it is a consensus problem: AC and A′B′ have A and A′, the leftovers give B′C, so B′C goes. (c) Treat A + B as x: (x + C)(x + D) = x +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week's problem 5d used this trick. Here ABC can merge with each of the other three terms, because it differs from each in exactly one variable. But once you use it with one neighbour it is gone. The fix is 7b read backwards: x equals x + x, so you may write ABC as many times as you need. Write it three times, merge each copy with one neighbour, and get AB + BC + AC. This function is the majority vote of three inputs. On a K-map this trick happens automatically, because a cell may sit inside several circles.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7: in each part, one term in the middle has two neighbours. Find it and copy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A′B′C differs from A′B′C′ in C and from A′BC in B, so copy it and merge twice. (b) AB′C is the middle term. (c) A′BCD differs from the first term in C and from the last in A. We do part a again on a K-map in problem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Karnaugh map is just the truth table drawn as a grid, so that terms which differ in one variable end up next to each other. Each cell is one row; m5 is row 5, ABC = 101, whose product is AB′C. The one trick is the column order, 00, 01, 11, 10: every step changes one bit, so neighbouring cells always merge by 14a, type 1 from the first half. The first and last columns also differ in one bit, so the map wraps around. To simplify, circle the 1s in groups of 1, 2, 4 or 8, each as large as possible, and read each group by keeping only the variables that stay the same. The sigma notation just lists the rows where the function is 1. That is all the theory; the rest is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it in four steps. Fill in the 1s by minterm number: m3 is in the third column, m2 would be in the fourth. Then look for the largest group. m1, m3, m5 and m7 make a two-by-two square. Inside it, A is 0 in the top row and 1 in the bottom row, so A goes; B is 0 in one column and 1 in the other, so B goes; C is 1 everywhere, so the group is C. m6 is still uncovered. It pairs with m7, which is already in the square; that is allowed. In that pair A and B are both 1 and C changes, so it is AB. The answer is C + AB. A group of four dropped two variables and a pair dropped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method with four variables. The rows are AB and the columns CD, both in the 00, 01, 11, 10 order, so the third row is AB = 11 and the last row is AB = 10. The map wraps both ways. Start with the biggest group: the first two columns are all 1s, eight cells, where only C is constant at 0, so C′. The 1s left are m2, m6 and m14, all in the last column. m2 and m6 can join m0 and m4 across the left and right edges: a group of four with A = 0 and D = 0, so A′D′. m14 joins m4, m6 and m12 the same way: B = 1 and D = 0, so BD′. Wrap-around groups are drawn as two open halves. The answer is C′ + A′D′ + BD′. A good habit: start with the 1s that can only go in one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an input combination can never happen. A BCD digit is four bits but only goes up to 9, so 1010 to 1111 never show up, and we do not care what the circuit outputs for them. Write X in those cells. An X may be treated as a 1 when it lets you draw a bigger group; otherwise leave it alone, and never draw a group just to cover an X. Both maps have 1s at m1 and m3. On the left, without the X's, the best group is the pair, A′C. On the right, the X's at m5 and m7 complete a group of four, and the answer drops to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8. Parts a and b are functions we already simplified with algebra, the type 7 example and problem 7a, so compare how long each method takes. Part c needs the wrap-around.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m7 sits in the middle of three pairs: with m3 it gives BC, with m5 AC, with m6 AB. On the map, using m7 three times is just three overlapping circles; that is the type 7 copy trick without any writing. (b) m1 is in both pairs: m0 and m1 give A′B′, m1 and m3 give A′C, the same as problem 7a. (c) m0, m2, m4, m6 are the first and last columns, which touch: a group of four where only C is constant, so C′. m5 pairs with m4: A = 1, B = 0, so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9: three 4-variable maps. Place the minterms by number, especially in rows 3 and 4. Each part has a group that wraps around an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four corners, m0, m2, m8, m10, are one group because the map wraps both ways: B = 0 and D = 0 in all four, so B′D′. The middle square, m5, m7, m13, m15, has B = 1 and D = 1: BD. The answer is B′D′ + BD, which is 1 when B equals D. (b) The middle two columns are CD = 01 and 11, so D = 1 throughout: a group of eight, D. m4 and m6 are left; take the whole second row, AB = 01, as a group of four: A′B. (c) The top and bottom rows touch, and together they are all eight cells with B = 0: B′. m4 and m6 remain, and they group with m0 and m2 across the left and right edges: 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away. Every step in an algebraic simplification is one theorem, and each theorem has a shape you can learn to spot. A K-map is theorem 14 made visual: neighbouring cells merge. The map order is 00, 01, 11, 10 and it wraps. Groups are powers of two, as large as possible, and you keep only the variables that stay constant. Don't cares help only when they grow a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320"/>
        </a:solidFill>
      </p:bgPr>
    </p:bg>
    <p:spTree>
      <p:nvGrpSpPr>
        <p:cNvPr id="1" name=""/>
        <p:cNvGrpSpPr/>
        <p:nvPr/>
      </p:nvGrpSpPr>
      <p:grpSpPr>
        <a:xfrm>
          <a:off x="0" y="0"/>
          <a:ext cx="0" cy="0"/>
          <a:chOff x="0" y="0"/>
          <a:chExt cx="0" cy="0"/>
        </a:xfrm>
      </p:grpSpPr>
      <p:sp>
        <p:nvSpPr>
          <p:cNvPr id="2" name="Text 0"/>
          <p:cNvSpPr/>
          <p:nvPr/>
        </p:nvSpPr>
        <p:spPr>
          <a:xfrm>
            <a:off x="812800" y="24740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A49A"/>
                </a:solidFill>
                <a:latin typeface="Georgia" pitchFamily="34" charset="0"/>
                <a:ea typeface="Georgia" pitchFamily="34" charset="-122"/>
                <a:cs typeface="Georgia" pitchFamily="34" charset="-120"/>
              </a:rPr>
              <a:t>RECITATION 4</a:t>
            </a:r>
            <a:endParaRPr lang="en-US" sz="1200" dirty="0"/>
          </a:p>
        </p:txBody>
      </p:sp>
      <p:sp>
        <p:nvSpPr>
          <p:cNvPr id="3" name="Text 1"/>
          <p:cNvSpPr/>
          <p:nvPr/>
        </p:nvSpPr>
        <p:spPr>
          <a:xfrm>
            <a:off x="812800" y="2839740"/>
            <a:ext cx="8502650"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5EFE6"/>
                </a:solidFill>
                <a:latin typeface="Georgia" pitchFamily="34" charset="0"/>
                <a:ea typeface="Georgia" pitchFamily="34" charset="-122"/>
                <a:cs typeface="Georgia" pitchFamily="34" charset="-120"/>
              </a:rPr>
              <a:t>Simplification and Karnaugh maps</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The theorems we use today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3087688"/>
        </p:xfrm>
        <a:graphic>
          <a:graphicData uri="http://schemas.openxmlformats.org/drawingml/2006/table">
            <a:tbl>
              <a:tblPr/>
              <a:tblGrid>
                <a:gridCol w="633222"/>
                <a:gridCol w="3271647"/>
                <a:gridCol w="3482721"/>
                <a:gridCol w="2005203"/>
                <a:gridCol w="1160907"/>
              </a:tblGrid>
              <a:tr h="385961">
                <a:tc>
                  <a:txBody>
                    <a:bodyPr/>
                    <a:lstStyle/>
                    <a:p>
                      <a:pPr indent="0" marL="0">
                        <a:lnSpc>
                          <a:spcPts val="1960"/>
                        </a:lnSpc>
                        <a:buNone/>
                      </a:pPr>
                      <a:r>
                        <a:rPr lang="en-US" sz="1400" b="1" dirty="0">
                          <a:solidFill>
                            <a:srgbClr val="1F1B18"/>
                          </a:solidFill>
                          <a:latin typeface="Georgia" pitchFamily="34" charset="0"/>
                          <a:ea typeface="Georgia" pitchFamily="34" charset="-122"/>
                          <a:cs typeface="Georgia" pitchFamily="34" charset="-120"/>
                        </a:rPr>
                        <a:t>#</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c>
                  <a:txBody>
                    <a:bodyPr/>
                    <a:lstStyle/>
                    <a:p>
                      <a:pPr indent="0" marL="0">
                        <a:lnSpc>
                          <a:spcPts val="1960"/>
                        </a:lnSpc>
                        <a:buNone/>
                      </a:pPr>
                      <a:r>
                        <a:rPr lang="en-US" sz="1400" b="1" dirty="0">
                          <a:solidFill>
                            <a:srgbClr val="1F1B18"/>
                          </a:solidFill>
                          <a:latin typeface="Georgia" pitchFamily="34" charset="0"/>
                          <a:ea typeface="Georgia" pitchFamily="34" charset="-122"/>
                          <a:cs typeface="Georgia" pitchFamily="34" charset="-120"/>
                        </a:rPr>
                        <a:t>a</a:t>
                      </a:r>
                      <a:endParaRPr lang="en-US" sz="1400" dirty="0">
                        <a:latin typeface="Georgia" charset="0"/>
                        <a:ea typeface="Georgia" charset="0"/>
                        <a:cs typeface="Georgia" charset="0"/>
                      </a:endParaRPr>
                    </a:p>
                  </a:txBody>
                  <a:tcPr marL="62230" marR="62230" marT="62230" marB="62230" anchor="t">
                    <a:lnL w="12700" cap="flat" cmpd="sng" algn="ctr">
                      <a:solidFill>
                        <a:srgbClr val="B9B7B3"/>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c>
                  <a:txBody>
                    <a:bodyPr/>
                    <a:lstStyle/>
                    <a:p>
                      <a:pPr indent="0" marL="0">
                        <a:lnSpc>
                          <a:spcPts val="1960"/>
                        </a:lnSpc>
                        <a:buNone/>
                      </a:pPr>
                      <a:r>
                        <a:rPr lang="en-US" sz="1400" b="1" dirty="0">
                          <a:solidFill>
                            <a:srgbClr val="1F1B18"/>
                          </a:solidFill>
                          <a:latin typeface="Georgia" pitchFamily="34" charset="0"/>
                          <a:ea typeface="Georgia" pitchFamily="34" charset="-122"/>
                          <a:cs typeface="Georgia" pitchFamily="34" charset="-120"/>
                        </a:rPr>
                        <a:t>b</a:t>
                      </a:r>
                      <a:endParaRPr lang="en-US" sz="1400" dirty="0">
                        <a:latin typeface="Georgia" charset="0"/>
                        <a:ea typeface="Georgia" charset="0"/>
                        <a:cs typeface="Georgia" charset="0"/>
                      </a:endParaRPr>
                    </a:p>
                  </a:txBody>
                  <a:tcPr marL="62230" marR="62230" marT="62230" marB="62230" anchor="t">
                    <a:lnL w="12700" cap="flat" cmpd="sng" algn="ctr">
                      <a:solidFill>
                        <a:srgbClr val="B9B7B3"/>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c>
                  <a:txBody>
                    <a:bodyPr/>
                    <a:lstStyle/>
                    <a:p>
                      <a:pPr indent="0" marL="0">
                        <a:lnSpc>
                          <a:spcPts val="1960"/>
                        </a:lnSpc>
                        <a:buNone/>
                      </a:pPr>
                      <a:r>
                        <a:rPr lang="en-US" sz="1400" b="1" dirty="0">
                          <a:solidFill>
                            <a:srgbClr val="1F1B18"/>
                          </a:solidFill>
                          <a:latin typeface="Georgia" pitchFamily="34" charset="0"/>
                          <a:ea typeface="Georgia" pitchFamily="34" charset="-122"/>
                          <a:cs typeface="Georgia" pitchFamily="34" charset="-120"/>
                        </a:rPr>
                        <a:t>name</a:t>
                      </a:r>
                      <a:endParaRPr lang="en-US" sz="1400" dirty="0">
                        <a:latin typeface="Georgia" charset="0"/>
                        <a:ea typeface="Georgia" charset="0"/>
                        <a:cs typeface="Georgia" charset="0"/>
                      </a:endParaRPr>
                    </a:p>
                  </a:txBody>
                  <a:tcPr marL="62230" marR="62230" marT="62230" marB="62230" anchor="t">
                    <a:lnL w="12700" cap="flat" cmpd="sng" algn="ctr">
                      <a:solidFill>
                        <a:srgbClr val="B9B7B3"/>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c>
                  <a:txBody>
                    <a:bodyPr/>
                    <a:lstStyle/>
                    <a:p>
                      <a:pPr indent="0" marL="0">
                        <a:lnSpc>
                          <a:spcPts val="1960"/>
                        </a:lnSpc>
                        <a:buNone/>
                      </a:pPr>
                      <a:r>
                        <a:rPr lang="en-US" sz="1400" b="1" dirty="0">
                          <a:solidFill>
                            <a:srgbClr val="1F1B18"/>
                          </a:solidFill>
                          <a:latin typeface="Georgia" pitchFamily="34" charset="0"/>
                          <a:ea typeface="Georgia" pitchFamily="34" charset="-122"/>
                          <a:cs typeface="Georgia" pitchFamily="34" charset="-120"/>
                        </a:rPr>
                        <a:t>type</a:t>
                      </a:r>
                      <a:endParaRPr lang="en-US" sz="1400" dirty="0">
                        <a:latin typeface="Georgia" charset="0"/>
                        <a:ea typeface="Georgia" charset="0"/>
                        <a:cs typeface="Georgia" charset="0"/>
                      </a:endParaRPr>
                    </a:p>
                  </a:txBody>
                  <a:tcPr marL="62230" marR="62230" marT="62230" marB="62230" anchor="t">
                    <a:lnL w="12700" cap="flat" cmpd="sng" algn="ctr">
                      <a:solidFill>
                        <a:srgbClr val="B9B7B3"/>
                      </a:solidFill>
                      <a:prstDash val="solid"/>
                      <a:round/>
                      <a:headEnd type="none" w="med" len="med"/>
                      <a:tailEnd type="none" w="med" len="med"/>
                    </a:lnL>
                    <a:lnR w="12700" cap="flat" cmpd="sng" algn="ctr">
                      <a:solidFill>
                        <a:srgbClr val="B9B7B3"/>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B9B7B3"/>
                      </a:solidFill>
                      <a:prstDash val="solid"/>
                      <a:round/>
                      <a:headEnd type="none" w="med" len="med"/>
                      <a:tailEnd type="none" w="med" len="med"/>
                    </a:lnB>
                    <a:solidFill>
                      <a:srgbClr val="E8E5E0"/>
                    </a:solidFill>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7</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x·x = x</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 + x = x</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idempotent</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7</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B9B7B3"/>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12</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x(y + z) = xy + xz</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 + yz = (x + y)(x + z)</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distributive</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6</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13</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 + xy = x</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x(x + y) = x</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absorption</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2</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14</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xy + xy′ = x</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 + y)(x + y′) = x</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combining</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15</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(xy)′ = x′ + y′</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 + y)′ = x′y′</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DeMorgan</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5</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16</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 + x′y = x + y</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x(x′ + y) = xy</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redundant literal</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3</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385961">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17</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xy + x′z + yz = xy + x′z</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the dual, with · and + swapped</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consensus</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1960"/>
                        </a:lnSpc>
                        <a:buNone/>
                      </a:pPr>
                      <a:r>
                        <a:rPr lang="en-US" sz="1400" dirty="0">
                          <a:solidFill>
                            <a:srgbClr val="3B3631"/>
                          </a:solidFill>
                          <a:latin typeface="Georgia" pitchFamily="34" charset="0"/>
                          <a:ea typeface="Georgia" pitchFamily="34" charset="-122"/>
                          <a:cs typeface="Georgia" pitchFamily="34" charset="-120"/>
                        </a:rPr>
                        <a:t>4</a:t>
                      </a:r>
                      <a:endParaRPr lang="en-US" sz="1400" dirty="0">
                        <a:latin typeface="Georgia" charset="0"/>
                        <a:ea typeface="Georgia" charset="0"/>
                        <a:cs typeface="Georgia" charset="0"/>
                      </a:endParaRPr>
                    </a:p>
                  </a:txBody>
                  <a:tcPr marL="62230" marR="62230" marT="62230" marB="62230"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5" name="Text 2"/>
          <p:cNvSpPr/>
          <p:nvPr/>
        </p:nvSpPr>
        <p:spPr>
          <a:xfrm>
            <a:off x="812800" y="5279628"/>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x, y and z can stand for a whole expression. In AB + (AB)′C, x is AB.</a:t>
            </a:r>
            <a:endParaRPr lang="en-US" sz="15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1 · Combining: xy + xy′ = x</a:t>
            </a:r>
            <a:endParaRPr lang="en-US" sz="3200" dirty="0"/>
          </a:p>
        </p:txBody>
      </p:sp>
      <p:sp>
        <p:nvSpPr>
          <p:cNvPr id="4" name="Shape 2"/>
          <p:cNvSpPr/>
          <p:nvPr/>
        </p:nvSpPr>
        <p:spPr>
          <a:xfrm>
            <a:off x="812800" y="1874441"/>
            <a:ext cx="4191000" cy="1639491"/>
          </a:xfrm>
          <a:prstGeom prst="roundRect">
            <a:avLst>
              <a:gd name="adj" fmla="val 4648"/>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14a</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xy + xy′ = x</a:t>
            </a:r>
            <a:endParaRPr lang="en-US" sz="2000" dirty="0"/>
          </a:p>
        </p:txBody>
      </p:sp>
      <p:sp>
        <p:nvSpPr>
          <p:cNvPr id="7" name="Text 5"/>
          <p:cNvSpPr/>
          <p:nvPr/>
        </p:nvSpPr>
        <p:spPr>
          <a:xfrm>
            <a:off x="1016000" y="277356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14b</a:t>
            </a:r>
            <a:endParaRPr lang="en-US" sz="1200" dirty="0"/>
          </a:p>
        </p:txBody>
      </p:sp>
      <p:sp>
        <p:nvSpPr>
          <p:cNvPr id="8" name="Text 6"/>
          <p:cNvSpPr/>
          <p:nvPr/>
        </p:nvSpPr>
        <p:spPr>
          <a:xfrm>
            <a:off x="1016000" y="3063081"/>
            <a:ext cx="389813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F1B18"/>
                </a:solidFill>
                <a:latin typeface="Georgia" pitchFamily="34" charset="0"/>
                <a:ea typeface="Georgia" pitchFamily="34" charset="-122"/>
                <a:cs typeface="Georgia" pitchFamily="34" charset="-120"/>
              </a:rPr>
              <a:t>(x + y)(x + y′) = x</a:t>
            </a:r>
            <a:endParaRPr lang="en-US" sz="1500" dirty="0"/>
          </a:p>
        </p:txBody>
      </p:sp>
      <p:sp>
        <p:nvSpPr>
          <p:cNvPr id="9" name="Text 7"/>
          <p:cNvSpPr/>
          <p:nvPr/>
        </p:nvSpPr>
        <p:spPr>
          <a:xfrm>
            <a:off x="812800" y="371713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10" name="Text 8"/>
          <p:cNvSpPr/>
          <p:nvPr/>
        </p:nvSpPr>
        <p:spPr>
          <a:xfrm>
            <a:off x="812800" y="402193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Two terms that are identical except for one variable, plain in one and primed in the other. Merge them: that variable disappears.</a:t>
            </a:r>
            <a:endParaRPr lang="en-US" sz="1500" dirty="0"/>
          </a:p>
        </p:txBody>
      </p:sp>
      <p:sp>
        <p:nvSpPr>
          <p:cNvPr id="11" name="Text 9"/>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a:t>
            </a:r>
            <a:endParaRPr lang="en-US" sz="1500" dirty="0"/>
          </a:p>
        </p:txBody>
      </p:sp>
      <p:sp>
        <p:nvSpPr>
          <p:cNvPr id="12" name="Text 10"/>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A′BC + A′BC′ + ABC + ABC′</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1358900"/>
        </p:xfrm>
        <a:graphic>
          <a:graphicData uri="http://schemas.openxmlformats.org/drawingml/2006/table">
            <a:tbl>
              <a:tblPr/>
              <a:tblGrid>
                <a:gridCol w="3454654"/>
                <a:gridCol w="2501646"/>
              </a:tblGrid>
              <a:tr h="6794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A′B + AB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14a on each pair: they differ only in 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6794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14a: A′B and AB differ only in A</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4" name="Text 11"/>
          <p:cNvSpPr/>
          <p:nvPr/>
        </p:nvSpPr>
        <p:spPr>
          <a:xfrm>
            <a:off x="5410200" y="4262041"/>
            <a:ext cx="614807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After one round, look again: merged terms often merge a second time.</a:t>
            </a:r>
            <a:endParaRPr lang="en-US" sz="15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1: combining</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Simplify. Name the theorem at each step.</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A′B′C + A′BC + AB′C + ABC</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 + B + C)(A + B + C′)</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A′B′C′D + A′B′CD + A′BC′D + A′BCD</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1: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A′B′C + A′BC + AB′C + ABC</a:t>
            </a:r>
            <a:endParaRPr lang="en-US" sz="1400" dirty="0"/>
          </a:p>
        </p:txBody>
      </p:sp>
      <p:sp>
        <p:nvSpPr>
          <p:cNvPr id="5" name="Text 3"/>
          <p:cNvSpPr/>
          <p:nvPr/>
        </p:nvSpPr>
        <p:spPr>
          <a:xfrm>
            <a:off x="1117600" y="211445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A′C + AC</a:t>
            </a:r>
            <a:endParaRPr lang="en-US" sz="1400" dirty="0"/>
          </a:p>
        </p:txBody>
      </p:sp>
      <p:sp>
        <p:nvSpPr>
          <p:cNvPr id="6" name="Text 4"/>
          <p:cNvSpPr/>
          <p:nvPr/>
        </p:nvSpPr>
        <p:spPr>
          <a:xfrm>
            <a:off x="5384800" y="211445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on each pair (they differ only in B)</a:t>
            </a:r>
            <a:endParaRPr lang="en-US" sz="1400" dirty="0"/>
          </a:p>
        </p:txBody>
      </p:sp>
      <p:sp>
        <p:nvSpPr>
          <p:cNvPr id="7" name="Text 5"/>
          <p:cNvSpPr/>
          <p:nvPr/>
        </p:nvSpPr>
        <p:spPr>
          <a:xfrm>
            <a:off x="1117600" y="235446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C</a:t>
            </a:r>
            <a:endParaRPr lang="en-US" sz="1400" dirty="0"/>
          </a:p>
        </p:txBody>
      </p:sp>
      <p:sp>
        <p:nvSpPr>
          <p:cNvPr id="8" name="Text 6"/>
          <p:cNvSpPr/>
          <p:nvPr/>
        </p:nvSpPr>
        <p:spPr>
          <a:xfrm>
            <a:off x="5384800" y="235446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(differ only in A)</a:t>
            </a:r>
            <a:endParaRPr lang="en-US" sz="1400" dirty="0"/>
          </a:p>
        </p:txBody>
      </p:sp>
      <p:sp>
        <p:nvSpPr>
          <p:cNvPr id="9" name="Text 7"/>
          <p:cNvSpPr/>
          <p:nvPr/>
        </p:nvSpPr>
        <p:spPr>
          <a:xfrm>
            <a:off x="812800" y="274687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 + B + C)(A + B + C′)</a:t>
            </a:r>
            <a:endParaRPr lang="en-US" sz="1400" dirty="0"/>
          </a:p>
        </p:txBody>
      </p:sp>
      <p:sp>
        <p:nvSpPr>
          <p:cNvPr id="10" name="Text 8"/>
          <p:cNvSpPr/>
          <p:nvPr/>
        </p:nvSpPr>
        <p:spPr>
          <a:xfrm>
            <a:off x="1117600" y="298688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a:t>
            </a:r>
            <a:endParaRPr lang="en-US" sz="1400" dirty="0"/>
          </a:p>
        </p:txBody>
      </p:sp>
      <p:sp>
        <p:nvSpPr>
          <p:cNvPr id="11" name="Text 9"/>
          <p:cNvSpPr/>
          <p:nvPr/>
        </p:nvSpPr>
        <p:spPr>
          <a:xfrm>
            <a:off x="5384800" y="298688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y)(x + y′) = x, with x = A + B, y = C</a:t>
            </a:r>
            <a:endParaRPr lang="en-US" sz="1400" dirty="0"/>
          </a:p>
        </p:txBody>
      </p:sp>
      <p:sp>
        <p:nvSpPr>
          <p:cNvPr id="12" name="Text 10"/>
          <p:cNvSpPr/>
          <p:nvPr/>
        </p:nvSpPr>
        <p:spPr>
          <a:xfrm>
            <a:off x="812800" y="337929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A′B′C′D + A′B′CD + A′BC′D + A′BCD</a:t>
            </a:r>
            <a:endParaRPr lang="en-US" sz="1400" dirty="0"/>
          </a:p>
        </p:txBody>
      </p:sp>
      <p:sp>
        <p:nvSpPr>
          <p:cNvPr id="13" name="Text 11"/>
          <p:cNvSpPr/>
          <p:nvPr/>
        </p:nvSpPr>
        <p:spPr>
          <a:xfrm>
            <a:off x="1117600" y="361930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A′B′D + A′BD</a:t>
            </a:r>
            <a:endParaRPr lang="en-US" sz="1400" dirty="0"/>
          </a:p>
        </p:txBody>
      </p:sp>
      <p:sp>
        <p:nvSpPr>
          <p:cNvPr id="14" name="Text 12"/>
          <p:cNvSpPr/>
          <p:nvPr/>
        </p:nvSpPr>
        <p:spPr>
          <a:xfrm>
            <a:off x="5384800" y="361930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on each pair (they differ only in C)</a:t>
            </a:r>
            <a:endParaRPr lang="en-US" sz="1400" dirty="0"/>
          </a:p>
        </p:txBody>
      </p:sp>
      <p:sp>
        <p:nvSpPr>
          <p:cNvPr id="15" name="Text 13"/>
          <p:cNvSpPr/>
          <p:nvPr/>
        </p:nvSpPr>
        <p:spPr>
          <a:xfrm>
            <a:off x="1117600" y="385931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A′D</a:t>
            </a:r>
            <a:endParaRPr lang="en-US" sz="1400" dirty="0"/>
          </a:p>
        </p:txBody>
      </p:sp>
      <p:sp>
        <p:nvSpPr>
          <p:cNvPr id="16" name="Text 14"/>
          <p:cNvSpPr/>
          <p:nvPr/>
        </p:nvSpPr>
        <p:spPr>
          <a:xfrm>
            <a:off x="5384800" y="385931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(differ only in B)</a:t>
            </a:r>
            <a:endParaRPr lang="en-US" sz="14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2 · Absorption: x + xy = x</a:t>
            </a:r>
            <a:endParaRPr lang="en-US" sz="3200" dirty="0"/>
          </a:p>
        </p:txBody>
      </p:sp>
      <p:sp>
        <p:nvSpPr>
          <p:cNvPr id="4" name="Shape 2"/>
          <p:cNvSpPr/>
          <p:nvPr/>
        </p:nvSpPr>
        <p:spPr>
          <a:xfrm>
            <a:off x="812800" y="1874441"/>
            <a:ext cx="4191000" cy="1639491"/>
          </a:xfrm>
          <a:prstGeom prst="roundRect">
            <a:avLst>
              <a:gd name="adj" fmla="val 4648"/>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13a</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 + xy = x</a:t>
            </a:r>
            <a:endParaRPr lang="en-US" sz="2000" dirty="0"/>
          </a:p>
        </p:txBody>
      </p:sp>
      <p:sp>
        <p:nvSpPr>
          <p:cNvPr id="7" name="Text 5"/>
          <p:cNvSpPr/>
          <p:nvPr/>
        </p:nvSpPr>
        <p:spPr>
          <a:xfrm>
            <a:off x="1016000" y="277356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13b</a:t>
            </a:r>
            <a:endParaRPr lang="en-US" sz="1200" dirty="0"/>
          </a:p>
        </p:txBody>
      </p:sp>
      <p:sp>
        <p:nvSpPr>
          <p:cNvPr id="8" name="Text 6"/>
          <p:cNvSpPr/>
          <p:nvPr/>
        </p:nvSpPr>
        <p:spPr>
          <a:xfrm>
            <a:off x="1016000" y="3063081"/>
            <a:ext cx="389813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F1B18"/>
                </a:solidFill>
                <a:latin typeface="Georgia" pitchFamily="34" charset="0"/>
                <a:ea typeface="Georgia" pitchFamily="34" charset="-122"/>
                <a:cs typeface="Georgia" pitchFamily="34" charset="-120"/>
              </a:rPr>
              <a:t>x(x + y) = x</a:t>
            </a:r>
            <a:endParaRPr lang="en-US" sz="1500" dirty="0"/>
          </a:p>
        </p:txBody>
      </p:sp>
      <p:sp>
        <p:nvSpPr>
          <p:cNvPr id="9" name="Text 7"/>
          <p:cNvSpPr/>
          <p:nvPr/>
        </p:nvSpPr>
        <p:spPr>
          <a:xfrm>
            <a:off x="812800" y="371713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10" name="Text 8"/>
          <p:cNvSpPr/>
          <p:nvPr/>
        </p:nvSpPr>
        <p:spPr>
          <a:xfrm>
            <a:off x="812800" y="402193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One term contains every letter of another. The longer term adds nothing: delete it. x can be a whole product or sum.</a:t>
            </a:r>
            <a:endParaRPr lang="en-US" sz="1500" dirty="0"/>
          </a:p>
        </p:txBody>
      </p:sp>
      <p:sp>
        <p:nvSpPr>
          <p:cNvPr id="11" name="Text 9"/>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a:t>
            </a:r>
            <a:endParaRPr lang="en-US" sz="1500" dirty="0"/>
          </a:p>
        </p:txBody>
      </p:sp>
      <p:sp>
        <p:nvSpPr>
          <p:cNvPr id="12" name="Text 10"/>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AB + ABC + ABD′</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825500"/>
        </p:xfrm>
        <a:graphic>
          <a:graphicData uri="http://schemas.openxmlformats.org/drawingml/2006/table">
            <a:tbl>
              <a:tblPr/>
              <a:tblGrid>
                <a:gridCol w="3454654"/>
                <a:gridCol w="2501646"/>
              </a:tblGrid>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AB + ABD′</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13a: ABC contains AB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13a: ABD′ contains AB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4" name="Text 11"/>
          <p:cNvSpPr/>
          <p:nvPr/>
        </p:nvSpPr>
        <p:spPr>
          <a:xfrm>
            <a:off x="5410200" y="3728641"/>
            <a:ext cx="614807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Why: whenever ABC = 1, AB is already 1, so ABC never changes the OR.</a:t>
            </a:r>
            <a:endParaRPr lang="en-US" sz="15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2: absorption</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Simplify. Name the theorem at each step.</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A′B + A′BC′D + A′BCD′</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 + B)(A + B + C)</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B + AB + BC + ABC</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2: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A′B + A′BC′D + A′BCD′</a:t>
            </a:r>
            <a:endParaRPr lang="en-US" sz="1400" dirty="0"/>
          </a:p>
        </p:txBody>
      </p:sp>
      <p:sp>
        <p:nvSpPr>
          <p:cNvPr id="5" name="Text 3"/>
          <p:cNvSpPr/>
          <p:nvPr/>
        </p:nvSpPr>
        <p:spPr>
          <a:xfrm>
            <a:off x="1117600" y="211445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A′BCD′</a:t>
            </a:r>
            <a:endParaRPr lang="en-US" sz="1400" dirty="0"/>
          </a:p>
        </p:txBody>
      </p:sp>
      <p:sp>
        <p:nvSpPr>
          <p:cNvPr id="6" name="Text 4"/>
          <p:cNvSpPr/>
          <p:nvPr/>
        </p:nvSpPr>
        <p:spPr>
          <a:xfrm>
            <a:off x="5384800" y="211445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A′BC′D contains A′B</a:t>
            </a:r>
            <a:endParaRPr lang="en-US" sz="1400" dirty="0"/>
          </a:p>
        </p:txBody>
      </p:sp>
      <p:sp>
        <p:nvSpPr>
          <p:cNvPr id="7" name="Text 5"/>
          <p:cNvSpPr/>
          <p:nvPr/>
        </p:nvSpPr>
        <p:spPr>
          <a:xfrm>
            <a:off x="1117600" y="235446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a:t>
            </a:r>
            <a:endParaRPr lang="en-US" sz="1400" dirty="0"/>
          </a:p>
        </p:txBody>
      </p:sp>
      <p:sp>
        <p:nvSpPr>
          <p:cNvPr id="8" name="Text 6"/>
          <p:cNvSpPr/>
          <p:nvPr/>
        </p:nvSpPr>
        <p:spPr>
          <a:xfrm>
            <a:off x="5384800" y="235446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A′BCD′ contains A′B</a:t>
            </a:r>
            <a:endParaRPr lang="en-US" sz="1400" dirty="0"/>
          </a:p>
        </p:txBody>
      </p:sp>
      <p:sp>
        <p:nvSpPr>
          <p:cNvPr id="9" name="Text 7"/>
          <p:cNvSpPr/>
          <p:nvPr/>
        </p:nvSpPr>
        <p:spPr>
          <a:xfrm>
            <a:off x="812800" y="274687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 + B)(A + B + C)</a:t>
            </a:r>
            <a:endParaRPr lang="en-US" sz="1400" dirty="0"/>
          </a:p>
        </p:txBody>
      </p:sp>
      <p:sp>
        <p:nvSpPr>
          <p:cNvPr id="10" name="Text 8"/>
          <p:cNvSpPr/>
          <p:nvPr/>
        </p:nvSpPr>
        <p:spPr>
          <a:xfrm>
            <a:off x="1117600" y="298688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a:t>
            </a:r>
            <a:endParaRPr lang="en-US" sz="1400" dirty="0"/>
          </a:p>
        </p:txBody>
      </p:sp>
      <p:sp>
        <p:nvSpPr>
          <p:cNvPr id="11" name="Text 9"/>
          <p:cNvSpPr/>
          <p:nvPr/>
        </p:nvSpPr>
        <p:spPr>
          <a:xfrm>
            <a:off x="5384800" y="298688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x(x + y) = x, with x = A + B, y = C</a:t>
            </a:r>
            <a:endParaRPr lang="en-US" sz="1400" dirty="0"/>
          </a:p>
        </p:txBody>
      </p:sp>
      <p:sp>
        <p:nvSpPr>
          <p:cNvPr id="12" name="Text 10"/>
          <p:cNvSpPr/>
          <p:nvPr/>
        </p:nvSpPr>
        <p:spPr>
          <a:xfrm>
            <a:off x="812800" y="337929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B + AB + BC + ABC</a:t>
            </a:r>
            <a:endParaRPr lang="en-US" sz="1400" dirty="0"/>
          </a:p>
        </p:txBody>
      </p:sp>
      <p:sp>
        <p:nvSpPr>
          <p:cNvPr id="13" name="Text 11"/>
          <p:cNvSpPr/>
          <p:nvPr/>
        </p:nvSpPr>
        <p:spPr>
          <a:xfrm>
            <a:off x="1117600" y="361930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B + BC + ABC</a:t>
            </a:r>
            <a:endParaRPr lang="en-US" sz="1400" dirty="0"/>
          </a:p>
        </p:txBody>
      </p:sp>
      <p:sp>
        <p:nvSpPr>
          <p:cNvPr id="14" name="Text 12"/>
          <p:cNvSpPr/>
          <p:nvPr/>
        </p:nvSpPr>
        <p:spPr>
          <a:xfrm>
            <a:off x="5384800" y="361930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AB contains B</a:t>
            </a:r>
            <a:endParaRPr lang="en-US" sz="1400" dirty="0"/>
          </a:p>
        </p:txBody>
      </p:sp>
      <p:sp>
        <p:nvSpPr>
          <p:cNvPr id="15" name="Text 13"/>
          <p:cNvSpPr/>
          <p:nvPr/>
        </p:nvSpPr>
        <p:spPr>
          <a:xfrm>
            <a:off x="1117600" y="385931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B + ABC</a:t>
            </a:r>
            <a:endParaRPr lang="en-US" sz="1400" dirty="0"/>
          </a:p>
        </p:txBody>
      </p:sp>
      <p:sp>
        <p:nvSpPr>
          <p:cNvPr id="16" name="Text 14"/>
          <p:cNvSpPr/>
          <p:nvPr/>
        </p:nvSpPr>
        <p:spPr>
          <a:xfrm>
            <a:off x="5384800" y="385931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BC contains B</a:t>
            </a:r>
            <a:endParaRPr lang="en-US" sz="1400" dirty="0"/>
          </a:p>
        </p:txBody>
      </p:sp>
      <p:sp>
        <p:nvSpPr>
          <p:cNvPr id="17" name="Text 15"/>
          <p:cNvSpPr/>
          <p:nvPr/>
        </p:nvSpPr>
        <p:spPr>
          <a:xfrm>
            <a:off x="1117600" y="409932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B</a:t>
            </a:r>
            <a:endParaRPr lang="en-US" sz="1400" dirty="0"/>
          </a:p>
        </p:txBody>
      </p:sp>
      <p:sp>
        <p:nvSpPr>
          <p:cNvPr id="18" name="Text 16"/>
          <p:cNvSpPr/>
          <p:nvPr/>
        </p:nvSpPr>
        <p:spPr>
          <a:xfrm>
            <a:off x="5384800" y="409932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ABC contains B</a:t>
            </a:r>
            <a:endParaRPr lang="en-US" sz="14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3 · Redundant literal: x + x′y = x + y</a:t>
            </a:r>
            <a:endParaRPr lang="en-US" sz="3200" dirty="0"/>
          </a:p>
        </p:txBody>
      </p:sp>
      <p:sp>
        <p:nvSpPr>
          <p:cNvPr id="4" name="Shape 2"/>
          <p:cNvSpPr/>
          <p:nvPr/>
        </p:nvSpPr>
        <p:spPr>
          <a:xfrm>
            <a:off x="812800" y="1874441"/>
            <a:ext cx="4191000" cy="1639491"/>
          </a:xfrm>
          <a:prstGeom prst="roundRect">
            <a:avLst>
              <a:gd name="adj" fmla="val 4648"/>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16a</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 + x′y = x + y</a:t>
            </a:r>
            <a:endParaRPr lang="en-US" sz="2000" dirty="0"/>
          </a:p>
        </p:txBody>
      </p:sp>
      <p:sp>
        <p:nvSpPr>
          <p:cNvPr id="7" name="Text 5"/>
          <p:cNvSpPr/>
          <p:nvPr/>
        </p:nvSpPr>
        <p:spPr>
          <a:xfrm>
            <a:off x="1016000" y="277356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16b</a:t>
            </a:r>
            <a:endParaRPr lang="en-US" sz="1200" dirty="0"/>
          </a:p>
        </p:txBody>
      </p:sp>
      <p:sp>
        <p:nvSpPr>
          <p:cNvPr id="8" name="Text 6"/>
          <p:cNvSpPr/>
          <p:nvPr/>
        </p:nvSpPr>
        <p:spPr>
          <a:xfrm>
            <a:off x="1016000" y="3063081"/>
            <a:ext cx="389813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F1B18"/>
                </a:solidFill>
                <a:latin typeface="Georgia" pitchFamily="34" charset="0"/>
                <a:ea typeface="Georgia" pitchFamily="34" charset="-122"/>
                <a:cs typeface="Georgia" pitchFamily="34" charset="-120"/>
              </a:rPr>
              <a:t>x(x′ + y) = xy</a:t>
            </a:r>
            <a:endParaRPr lang="en-US" sz="1500" dirty="0"/>
          </a:p>
        </p:txBody>
      </p:sp>
      <p:sp>
        <p:nvSpPr>
          <p:cNvPr id="9" name="Text 7"/>
          <p:cNvSpPr/>
          <p:nvPr/>
        </p:nvSpPr>
        <p:spPr>
          <a:xfrm>
            <a:off x="812800" y="371713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10" name="Text 8"/>
          <p:cNvSpPr/>
          <p:nvPr/>
        </p:nvSpPr>
        <p:spPr>
          <a:xfrm>
            <a:off x="812800" y="402193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x is a term on its own, and another term contains x′. Delete the x′: that term only matters when x = 0, where x′ = 1 anyway.</a:t>
            </a:r>
            <a:endParaRPr lang="en-US" sz="1500" dirty="0"/>
          </a:p>
        </p:txBody>
      </p:sp>
      <p:sp>
        <p:nvSpPr>
          <p:cNvPr id="11" name="Text 9"/>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Examples</a:t>
            </a:r>
            <a:endParaRPr lang="en-US" sz="1500" dirty="0"/>
          </a:p>
        </p:txBody>
      </p:sp>
      <p:sp>
        <p:nvSpPr>
          <p:cNvPr id="12" name="Text 10"/>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B′ + AB</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825500"/>
        </p:xfrm>
        <a:graphic>
          <a:graphicData uri="http://schemas.openxmlformats.org/drawingml/2006/table">
            <a:tbl>
              <a:tblPr/>
              <a:tblGrid>
                <a:gridCol w="3454654"/>
                <a:gridCol w="2501646"/>
              </a:tblGrid>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B′ + A</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16a with x = B′, so x′ = 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AB + (AB)′C = AB + 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16a with x = AB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4" name="Text 11"/>
          <p:cNvSpPr/>
          <p:nvPr/>
        </p:nvSpPr>
        <p:spPr>
          <a:xfrm>
            <a:off x="5410200" y="3728641"/>
            <a:ext cx="614807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x can be a primed letter or a whole product.</a:t>
            </a:r>
            <a:endParaRPr lang="en-US" sz="15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3: redundant literal</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Simplify. Name the theorem at each step.</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C + A′BC′</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 + ABC′</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B(A + B′)</a:t>
            </a:r>
            <a:endParaRPr lang="en-US" sz="2000" dirty="0"/>
          </a:p>
        </p:txBody>
      </p:sp>
      <p:sp>
        <p:nvSpPr>
          <p:cNvPr id="8" name="Text 6"/>
          <p:cNvSpPr/>
          <p:nvPr/>
        </p:nvSpPr>
        <p:spPr>
          <a:xfrm>
            <a:off x="812800" y="40556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d.</a:t>
            </a:r>
            <a:r>
              <a:rPr lang="en-US" sz="2000" dirty="0">
                <a:solidFill>
                  <a:srgbClr val="1F1B18"/>
                </a:solidFill>
                <a:latin typeface="Georgia" pitchFamily="34" charset="0"/>
                <a:ea typeface="Georgia" pitchFamily="34" charset="-122"/>
                <a:cs typeface="Georgia" pitchFamily="34" charset="-120"/>
              </a:rPr>
              <a:t> F = A + A′B + A′B′C</a:t>
            </a:r>
            <a:endParaRPr lang="en-US" sz="20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3: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C + A′BC′</a:t>
            </a:r>
            <a:endParaRPr lang="en-US" sz="1400" dirty="0"/>
          </a:p>
        </p:txBody>
      </p:sp>
      <p:sp>
        <p:nvSpPr>
          <p:cNvPr id="5" name="Text 3"/>
          <p:cNvSpPr/>
          <p:nvPr/>
        </p:nvSpPr>
        <p:spPr>
          <a:xfrm>
            <a:off x="1117600" y="211445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C + A′B</a:t>
            </a:r>
            <a:endParaRPr lang="en-US" sz="1400" dirty="0"/>
          </a:p>
        </p:txBody>
      </p:sp>
      <p:sp>
        <p:nvSpPr>
          <p:cNvPr id="6" name="Text 4"/>
          <p:cNvSpPr/>
          <p:nvPr/>
        </p:nvSpPr>
        <p:spPr>
          <a:xfrm>
            <a:off x="5384800" y="211445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 y, with x = C</a:t>
            </a:r>
            <a:endParaRPr lang="en-US" sz="1400" dirty="0"/>
          </a:p>
        </p:txBody>
      </p:sp>
      <p:sp>
        <p:nvSpPr>
          <p:cNvPr id="7" name="Text 5"/>
          <p:cNvSpPr/>
          <p:nvPr/>
        </p:nvSpPr>
        <p:spPr>
          <a:xfrm>
            <a:off x="812800" y="250686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 + ABC′</a:t>
            </a:r>
            <a:endParaRPr lang="en-US" sz="1400" dirty="0"/>
          </a:p>
        </p:txBody>
      </p:sp>
      <p:sp>
        <p:nvSpPr>
          <p:cNvPr id="8" name="Text 6"/>
          <p:cNvSpPr/>
          <p:nvPr/>
        </p:nvSpPr>
        <p:spPr>
          <a:xfrm>
            <a:off x="1117600" y="274687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BC′</a:t>
            </a:r>
            <a:endParaRPr lang="en-US" sz="1400" dirty="0"/>
          </a:p>
        </p:txBody>
      </p:sp>
      <p:sp>
        <p:nvSpPr>
          <p:cNvPr id="9" name="Text 7"/>
          <p:cNvSpPr/>
          <p:nvPr/>
        </p:nvSpPr>
        <p:spPr>
          <a:xfrm>
            <a:off x="5384800" y="274687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 y, with x = A′ (so x′ = A)</a:t>
            </a:r>
            <a:endParaRPr lang="en-US" sz="1400" dirty="0"/>
          </a:p>
        </p:txBody>
      </p:sp>
      <p:sp>
        <p:nvSpPr>
          <p:cNvPr id="10" name="Text 8"/>
          <p:cNvSpPr/>
          <p:nvPr/>
        </p:nvSpPr>
        <p:spPr>
          <a:xfrm>
            <a:off x="812800" y="313928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B(A + B′)</a:t>
            </a:r>
            <a:endParaRPr lang="en-US" sz="1400" dirty="0"/>
          </a:p>
        </p:txBody>
      </p:sp>
      <p:sp>
        <p:nvSpPr>
          <p:cNvPr id="11" name="Text 9"/>
          <p:cNvSpPr/>
          <p:nvPr/>
        </p:nvSpPr>
        <p:spPr>
          <a:xfrm>
            <a:off x="1117600" y="337929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a:t>
            </a:r>
            <a:endParaRPr lang="en-US" sz="1400" dirty="0"/>
          </a:p>
        </p:txBody>
      </p:sp>
      <p:sp>
        <p:nvSpPr>
          <p:cNvPr id="12" name="Text 10"/>
          <p:cNvSpPr/>
          <p:nvPr/>
        </p:nvSpPr>
        <p:spPr>
          <a:xfrm>
            <a:off x="5384800" y="337929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x(x′ + y) = xy, with x = B</a:t>
            </a:r>
            <a:endParaRPr lang="en-US" sz="1400" dirty="0"/>
          </a:p>
        </p:txBody>
      </p:sp>
      <p:sp>
        <p:nvSpPr>
          <p:cNvPr id="13" name="Text 11"/>
          <p:cNvSpPr/>
          <p:nvPr/>
        </p:nvSpPr>
        <p:spPr>
          <a:xfrm>
            <a:off x="812800" y="377170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d.</a:t>
            </a:r>
            <a:r>
              <a:rPr lang="en-US" sz="1400" dirty="0">
                <a:solidFill>
                  <a:srgbClr val="1F1B18"/>
                </a:solidFill>
                <a:latin typeface="Georgia" pitchFamily="34" charset="0"/>
                <a:ea typeface="Georgia" pitchFamily="34" charset="-122"/>
                <a:cs typeface="Georgia" pitchFamily="34" charset="-120"/>
              </a:rPr>
              <a:t> F = A + A′B + A′B′C</a:t>
            </a:r>
            <a:endParaRPr lang="en-US" sz="1400" dirty="0"/>
          </a:p>
        </p:txBody>
      </p:sp>
      <p:sp>
        <p:nvSpPr>
          <p:cNvPr id="14" name="Text 12"/>
          <p:cNvSpPr/>
          <p:nvPr/>
        </p:nvSpPr>
        <p:spPr>
          <a:xfrm>
            <a:off x="1117600" y="401171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 + A′B′C</a:t>
            </a:r>
            <a:endParaRPr lang="en-US" sz="1400" dirty="0"/>
          </a:p>
        </p:txBody>
      </p:sp>
      <p:sp>
        <p:nvSpPr>
          <p:cNvPr id="15" name="Text 13"/>
          <p:cNvSpPr/>
          <p:nvPr/>
        </p:nvSpPr>
        <p:spPr>
          <a:xfrm>
            <a:off x="5384800" y="401171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 y, with x = A</a:t>
            </a:r>
            <a:endParaRPr lang="en-US" sz="1400" dirty="0"/>
          </a:p>
        </p:txBody>
      </p:sp>
      <p:sp>
        <p:nvSpPr>
          <p:cNvPr id="16" name="Text 14"/>
          <p:cNvSpPr/>
          <p:nvPr/>
        </p:nvSpPr>
        <p:spPr>
          <a:xfrm>
            <a:off x="1117600" y="425172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 + A′C</a:t>
            </a:r>
            <a:endParaRPr lang="en-US" sz="1400" dirty="0"/>
          </a:p>
        </p:txBody>
      </p:sp>
      <p:sp>
        <p:nvSpPr>
          <p:cNvPr id="17" name="Text 15"/>
          <p:cNvSpPr/>
          <p:nvPr/>
        </p:nvSpPr>
        <p:spPr>
          <a:xfrm>
            <a:off x="5384800" y="425172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 y, with x = B</a:t>
            </a:r>
            <a:endParaRPr lang="en-US" sz="1400" dirty="0"/>
          </a:p>
        </p:txBody>
      </p:sp>
      <p:sp>
        <p:nvSpPr>
          <p:cNvPr id="18" name="Text 16"/>
          <p:cNvSpPr/>
          <p:nvPr/>
        </p:nvSpPr>
        <p:spPr>
          <a:xfrm>
            <a:off x="1117600" y="449173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 + C</a:t>
            </a:r>
            <a:endParaRPr lang="en-US" sz="1400" dirty="0"/>
          </a:p>
        </p:txBody>
      </p:sp>
      <p:sp>
        <p:nvSpPr>
          <p:cNvPr id="19" name="Text 17"/>
          <p:cNvSpPr/>
          <p:nvPr/>
        </p:nvSpPr>
        <p:spPr>
          <a:xfrm>
            <a:off x="5384800" y="449173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 y, with x = A</a:t>
            </a:r>
            <a:endParaRPr lang="en-US" sz="1400" dirty="0"/>
          </a:p>
        </p:txBody>
      </p:sp>
      <p:sp>
        <p:nvSpPr>
          <p:cNvPr id="20" name="Text 1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21" name="Text 1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4 · Consensus: xy + x′z + yz = xy + x′z</a:t>
            </a:r>
            <a:endParaRPr lang="en-US" sz="3200" dirty="0"/>
          </a:p>
        </p:txBody>
      </p:sp>
      <p:sp>
        <p:nvSpPr>
          <p:cNvPr id="4" name="Shape 2"/>
          <p:cNvSpPr/>
          <p:nvPr/>
        </p:nvSpPr>
        <p:spPr>
          <a:xfrm>
            <a:off x="812800" y="1874441"/>
            <a:ext cx="4191000" cy="1639491"/>
          </a:xfrm>
          <a:prstGeom prst="roundRect">
            <a:avLst>
              <a:gd name="adj" fmla="val 4648"/>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17a</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xy + x′z + yz = xy + x′z</a:t>
            </a:r>
            <a:endParaRPr lang="en-US" sz="2000" dirty="0"/>
          </a:p>
        </p:txBody>
      </p:sp>
      <p:sp>
        <p:nvSpPr>
          <p:cNvPr id="7" name="Text 5"/>
          <p:cNvSpPr/>
          <p:nvPr/>
        </p:nvSpPr>
        <p:spPr>
          <a:xfrm>
            <a:off x="1016000" y="277356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17b</a:t>
            </a:r>
            <a:endParaRPr lang="en-US" sz="1200" dirty="0"/>
          </a:p>
        </p:txBody>
      </p:sp>
      <p:sp>
        <p:nvSpPr>
          <p:cNvPr id="8" name="Text 6"/>
          <p:cNvSpPr/>
          <p:nvPr/>
        </p:nvSpPr>
        <p:spPr>
          <a:xfrm>
            <a:off x="1016000" y="3063081"/>
            <a:ext cx="389813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F1B18"/>
                </a:solidFill>
                <a:latin typeface="Georgia" pitchFamily="34" charset="0"/>
                <a:ea typeface="Georgia" pitchFamily="34" charset="-122"/>
                <a:cs typeface="Georgia" pitchFamily="34" charset="-120"/>
              </a:rPr>
              <a:t>(x + y)(y + z)(x′ + z) = (x + y)(x′ + z)</a:t>
            </a:r>
            <a:endParaRPr lang="en-US" sz="1500" dirty="0"/>
          </a:p>
        </p:txBody>
      </p:sp>
      <p:sp>
        <p:nvSpPr>
          <p:cNvPr id="9" name="Text 7"/>
          <p:cNvSpPr/>
          <p:nvPr/>
        </p:nvSpPr>
        <p:spPr>
          <a:xfrm>
            <a:off x="812800" y="371713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10" name="Text 8"/>
          <p:cNvSpPr/>
          <p:nvPr/>
        </p:nvSpPr>
        <p:spPr>
          <a:xfrm>
            <a:off x="812800" y="402193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One term has x, another has x′. Multiply what is left of the two. If that product is also a term, delete it.</a:t>
            </a:r>
            <a:endParaRPr lang="en-US" sz="1500" dirty="0"/>
          </a:p>
        </p:txBody>
      </p:sp>
      <p:sp>
        <p:nvSpPr>
          <p:cNvPr id="11" name="Text 9"/>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a:t>
            </a:r>
            <a:endParaRPr lang="en-US" sz="1500" dirty="0"/>
          </a:p>
        </p:txBody>
      </p:sp>
      <p:sp>
        <p:nvSpPr>
          <p:cNvPr id="12" name="Text 10"/>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AB + A′C + BC</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1238250"/>
        </p:xfrm>
        <a:graphic>
          <a:graphicData uri="http://schemas.openxmlformats.org/drawingml/2006/table">
            <a:tbl>
              <a:tblPr/>
              <a:tblGrid>
                <a:gridCol w="3454654"/>
                <a:gridCol w="2501646"/>
              </a:tblGrid>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AB and A′C: x = A</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left over: B and 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BC is a term</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it is the consensus term</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AB + A′C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17a: delete 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4" name="Text 11"/>
          <p:cNvSpPr/>
          <p:nvPr/>
        </p:nvSpPr>
        <p:spPr>
          <a:xfrm>
            <a:off x="5410200" y="4141391"/>
            <a:ext cx="614807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Why: BC = ABC + A′BC. AB covers the first, A′C the second.</a:t>
            </a:r>
            <a:endParaRPr lang="en-US" sz="15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6"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4: consensus</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Find the redundant term and delete it.</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A′B′ + AC + B′C</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AB′C + A′D + B′CD</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AB + BC′ + AC</a:t>
            </a:r>
            <a:endParaRPr lang="en-US" sz="2000" dirty="0"/>
          </a:p>
        </p:txBody>
      </p:sp>
      <p:sp>
        <p:nvSpPr>
          <p:cNvPr id="8" name="Text 6"/>
          <p:cNvSpPr/>
          <p:nvPr/>
        </p:nvSpPr>
        <p:spPr>
          <a:xfrm>
            <a:off x="812800" y="40556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d.</a:t>
            </a:r>
            <a:r>
              <a:rPr lang="en-US" sz="2000" dirty="0">
                <a:solidFill>
                  <a:srgbClr val="1F1B18"/>
                </a:solidFill>
                <a:latin typeface="Georgia" pitchFamily="34" charset="0"/>
                <a:ea typeface="Georgia" pitchFamily="34" charset="-122"/>
                <a:cs typeface="Georgia" pitchFamily="34" charset="-120"/>
              </a:rPr>
              <a:t> F = (A + B)(A′ + C)(B + C)</a:t>
            </a:r>
            <a:endParaRPr lang="en-US" sz="20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4: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A′B′ + AC + B′C</a:t>
            </a:r>
            <a:endParaRPr lang="en-US" sz="1400" dirty="0"/>
          </a:p>
        </p:txBody>
      </p:sp>
      <p:sp>
        <p:nvSpPr>
          <p:cNvPr id="5" name="Text 3"/>
          <p:cNvSpPr/>
          <p:nvPr/>
        </p:nvSpPr>
        <p:spPr>
          <a:xfrm>
            <a:off x="1117600" y="211445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A′B′ and AC: x = A</a:t>
            </a:r>
            <a:endParaRPr lang="en-US" sz="1400" dirty="0"/>
          </a:p>
        </p:txBody>
      </p:sp>
      <p:sp>
        <p:nvSpPr>
          <p:cNvPr id="6" name="Text 4"/>
          <p:cNvSpPr/>
          <p:nvPr/>
        </p:nvSpPr>
        <p:spPr>
          <a:xfrm>
            <a:off x="5384800" y="211445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consensus term B′·C = B′C</a:t>
            </a:r>
            <a:endParaRPr lang="en-US" sz="1400" dirty="0"/>
          </a:p>
        </p:txBody>
      </p:sp>
      <p:sp>
        <p:nvSpPr>
          <p:cNvPr id="7" name="Text 5"/>
          <p:cNvSpPr/>
          <p:nvPr/>
        </p:nvSpPr>
        <p:spPr>
          <a:xfrm>
            <a:off x="1117600" y="235446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AC</a:t>
            </a:r>
            <a:endParaRPr lang="en-US" sz="1400" dirty="0"/>
          </a:p>
        </p:txBody>
      </p:sp>
      <p:sp>
        <p:nvSpPr>
          <p:cNvPr id="8" name="Text 6"/>
          <p:cNvSpPr/>
          <p:nvPr/>
        </p:nvSpPr>
        <p:spPr>
          <a:xfrm>
            <a:off x="5384800" y="235446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x′z + yz = xy + x′z: delete B′C</a:t>
            </a:r>
            <a:endParaRPr lang="en-US" sz="1400" dirty="0"/>
          </a:p>
        </p:txBody>
      </p:sp>
      <p:sp>
        <p:nvSpPr>
          <p:cNvPr id="9" name="Text 7"/>
          <p:cNvSpPr/>
          <p:nvPr/>
        </p:nvSpPr>
        <p:spPr>
          <a:xfrm>
            <a:off x="812800" y="274687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AB′C + A′D + B′CD</a:t>
            </a:r>
            <a:endParaRPr lang="en-US" sz="1400" dirty="0"/>
          </a:p>
        </p:txBody>
      </p:sp>
      <p:sp>
        <p:nvSpPr>
          <p:cNvPr id="10" name="Text 8"/>
          <p:cNvSpPr/>
          <p:nvPr/>
        </p:nvSpPr>
        <p:spPr>
          <a:xfrm>
            <a:off x="1117600" y="298688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AB′C and A′D: x = A</a:t>
            </a:r>
            <a:endParaRPr lang="en-US" sz="1400" dirty="0"/>
          </a:p>
        </p:txBody>
      </p:sp>
      <p:sp>
        <p:nvSpPr>
          <p:cNvPr id="11" name="Text 9"/>
          <p:cNvSpPr/>
          <p:nvPr/>
        </p:nvSpPr>
        <p:spPr>
          <a:xfrm>
            <a:off x="5384800" y="298688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consensus term B′C·D = B′CD</a:t>
            </a:r>
            <a:endParaRPr lang="en-US" sz="1400" dirty="0"/>
          </a:p>
        </p:txBody>
      </p:sp>
      <p:sp>
        <p:nvSpPr>
          <p:cNvPr id="12" name="Text 10"/>
          <p:cNvSpPr/>
          <p:nvPr/>
        </p:nvSpPr>
        <p:spPr>
          <a:xfrm>
            <a:off x="1117600" y="322689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 + A′D</a:t>
            </a:r>
            <a:endParaRPr lang="en-US" sz="1400" dirty="0"/>
          </a:p>
        </p:txBody>
      </p:sp>
      <p:sp>
        <p:nvSpPr>
          <p:cNvPr id="13" name="Text 11"/>
          <p:cNvSpPr/>
          <p:nvPr/>
        </p:nvSpPr>
        <p:spPr>
          <a:xfrm>
            <a:off x="5384800" y="322689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x′z + yz = xy + x′z: delete B′CD</a:t>
            </a:r>
            <a:endParaRPr lang="en-US" sz="1400" dirty="0"/>
          </a:p>
        </p:txBody>
      </p:sp>
      <p:sp>
        <p:nvSpPr>
          <p:cNvPr id="14" name="Text 12"/>
          <p:cNvSpPr/>
          <p:nvPr/>
        </p:nvSpPr>
        <p:spPr>
          <a:xfrm>
            <a:off x="812800" y="361930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AB + BC′ + AC</a:t>
            </a:r>
            <a:endParaRPr lang="en-US" sz="1400" dirty="0"/>
          </a:p>
        </p:txBody>
      </p:sp>
      <p:sp>
        <p:nvSpPr>
          <p:cNvPr id="15" name="Text 13"/>
          <p:cNvSpPr/>
          <p:nvPr/>
        </p:nvSpPr>
        <p:spPr>
          <a:xfrm>
            <a:off x="1117600" y="385931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BC′ and AC: x = C</a:t>
            </a:r>
            <a:endParaRPr lang="en-US" sz="1400" dirty="0"/>
          </a:p>
        </p:txBody>
      </p:sp>
      <p:sp>
        <p:nvSpPr>
          <p:cNvPr id="16" name="Text 14"/>
          <p:cNvSpPr/>
          <p:nvPr/>
        </p:nvSpPr>
        <p:spPr>
          <a:xfrm>
            <a:off x="5384800" y="385931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consensus term B·A = AB</a:t>
            </a:r>
            <a:endParaRPr lang="en-US" sz="1400" dirty="0"/>
          </a:p>
        </p:txBody>
      </p:sp>
      <p:sp>
        <p:nvSpPr>
          <p:cNvPr id="17" name="Text 15"/>
          <p:cNvSpPr/>
          <p:nvPr/>
        </p:nvSpPr>
        <p:spPr>
          <a:xfrm>
            <a:off x="1117600" y="409932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BC′ + AC</a:t>
            </a:r>
            <a:endParaRPr lang="en-US" sz="1400" dirty="0"/>
          </a:p>
        </p:txBody>
      </p:sp>
      <p:sp>
        <p:nvSpPr>
          <p:cNvPr id="18" name="Text 16"/>
          <p:cNvSpPr/>
          <p:nvPr/>
        </p:nvSpPr>
        <p:spPr>
          <a:xfrm>
            <a:off x="5384800" y="409932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x′z + yz = xy + x′z: delete AB</a:t>
            </a:r>
            <a:endParaRPr lang="en-US" sz="1400" dirty="0"/>
          </a:p>
        </p:txBody>
      </p:sp>
      <p:sp>
        <p:nvSpPr>
          <p:cNvPr id="19" name="Text 17"/>
          <p:cNvSpPr/>
          <p:nvPr/>
        </p:nvSpPr>
        <p:spPr>
          <a:xfrm>
            <a:off x="812800" y="449173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d.</a:t>
            </a:r>
            <a:r>
              <a:rPr lang="en-US" sz="1400" dirty="0">
                <a:solidFill>
                  <a:srgbClr val="1F1B18"/>
                </a:solidFill>
                <a:latin typeface="Georgia" pitchFamily="34" charset="0"/>
                <a:ea typeface="Georgia" pitchFamily="34" charset="-122"/>
                <a:cs typeface="Georgia" pitchFamily="34" charset="-120"/>
              </a:rPr>
              <a:t> F = (A + B)(A′ + C)(B + C)</a:t>
            </a:r>
            <a:endParaRPr lang="en-US" sz="1400" dirty="0"/>
          </a:p>
        </p:txBody>
      </p:sp>
      <p:sp>
        <p:nvSpPr>
          <p:cNvPr id="20" name="Text 18"/>
          <p:cNvSpPr/>
          <p:nvPr/>
        </p:nvSpPr>
        <p:spPr>
          <a:xfrm>
            <a:off x="1117600" y="473174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(A + B) and (A′ + C): x = A</a:t>
            </a:r>
            <a:endParaRPr lang="en-US" sz="1400" dirty="0"/>
          </a:p>
        </p:txBody>
      </p:sp>
      <p:sp>
        <p:nvSpPr>
          <p:cNvPr id="21" name="Text 19"/>
          <p:cNvSpPr/>
          <p:nvPr/>
        </p:nvSpPr>
        <p:spPr>
          <a:xfrm>
            <a:off x="5384800" y="473174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consensus term B + C</a:t>
            </a:r>
            <a:endParaRPr lang="en-US" sz="1400" dirty="0"/>
          </a:p>
        </p:txBody>
      </p:sp>
      <p:sp>
        <p:nvSpPr>
          <p:cNvPr id="22" name="Text 20"/>
          <p:cNvSpPr/>
          <p:nvPr/>
        </p:nvSpPr>
        <p:spPr>
          <a:xfrm>
            <a:off x="1117600" y="497175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B)(A′ + C)</a:t>
            </a:r>
            <a:endParaRPr lang="en-US" sz="1400" dirty="0"/>
          </a:p>
        </p:txBody>
      </p:sp>
      <p:sp>
        <p:nvSpPr>
          <p:cNvPr id="23" name="Text 21"/>
          <p:cNvSpPr/>
          <p:nvPr/>
        </p:nvSpPr>
        <p:spPr>
          <a:xfrm>
            <a:off x="5384800" y="497175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y)(y + z)(x′ + z) = (x + y)(x′ + z)</a:t>
            </a:r>
            <a:endParaRPr lang="en-US" sz="14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5 · DeMorgan first, then simplify</a:t>
            </a:r>
            <a:endParaRPr lang="en-US" sz="3200" dirty="0"/>
          </a:p>
        </p:txBody>
      </p:sp>
      <p:sp>
        <p:nvSpPr>
          <p:cNvPr id="4" name="Shape 2"/>
          <p:cNvSpPr/>
          <p:nvPr/>
        </p:nvSpPr>
        <p:spPr>
          <a:xfrm>
            <a:off x="812800" y="1874441"/>
            <a:ext cx="4191000" cy="1722041"/>
          </a:xfrm>
          <a:prstGeom prst="roundRect">
            <a:avLst>
              <a:gd name="adj" fmla="val 4425"/>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15a</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(xy)′ = x′ + y′</a:t>
            </a:r>
            <a:endParaRPr lang="en-US" sz="2000" dirty="0"/>
          </a:p>
        </p:txBody>
      </p:sp>
      <p:sp>
        <p:nvSpPr>
          <p:cNvPr id="7" name="Text 5"/>
          <p:cNvSpPr/>
          <p:nvPr/>
        </p:nvSpPr>
        <p:spPr>
          <a:xfrm>
            <a:off x="1016000" y="277356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15b</a:t>
            </a:r>
            <a:endParaRPr lang="en-US" sz="1200" dirty="0"/>
          </a:p>
        </p:txBody>
      </p:sp>
      <p:sp>
        <p:nvSpPr>
          <p:cNvPr id="8" name="Text 6"/>
          <p:cNvSpPr/>
          <p:nvPr/>
        </p:nvSpPr>
        <p:spPr>
          <a:xfrm>
            <a:off x="1016000" y="306308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 + y)′ = x′y′</a:t>
            </a:r>
            <a:endParaRPr lang="en-US" sz="2000" dirty="0"/>
          </a:p>
        </p:txBody>
      </p:sp>
      <p:sp>
        <p:nvSpPr>
          <p:cNvPr id="9" name="Text 7"/>
          <p:cNvSpPr/>
          <p:nvPr/>
        </p:nvSpPr>
        <p:spPr>
          <a:xfrm>
            <a:off x="812800" y="379968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10" name="Text 8"/>
          <p:cNvSpPr/>
          <p:nvPr/>
        </p:nvSpPr>
        <p:spPr>
          <a:xfrm>
            <a:off x="812800" y="410448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A prime covers more than one letter. Break it from the outside in, swapping · and + each time. Then look for types 1–4.</a:t>
            </a:r>
            <a:endParaRPr lang="en-US" sz="1500" dirty="0"/>
          </a:p>
        </p:txBody>
      </p:sp>
      <p:sp>
        <p:nvSpPr>
          <p:cNvPr id="11" name="Text 9"/>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a:t>
            </a:r>
            <a:endParaRPr lang="en-US" sz="1500" dirty="0"/>
          </a:p>
        </p:txBody>
      </p:sp>
      <p:sp>
        <p:nvSpPr>
          <p:cNvPr id="12" name="Text 10"/>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(A′B + C)′ + AC′</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1651000"/>
        </p:xfrm>
        <a:graphic>
          <a:graphicData uri="http://schemas.openxmlformats.org/drawingml/2006/table">
            <a:tbl>
              <a:tblPr/>
              <a:tblGrid>
                <a:gridCol w="3454654"/>
                <a:gridCol w="2501646"/>
              </a:tblGrid>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(A′B)′C′ + AC′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15b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 + B′)C′ + AC′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15a and 9</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AC′ + B′C′ + AC′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12a</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AC′ + 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7b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5: DeMorgan</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Remove every prime that covers more than one letter, then simplify.</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((AB)′ + C′)′ + AC</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 + BC′)′</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(A + B)′ + (A + B′)′</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5: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((AB)′ + C′)′ + AC</a:t>
            </a:r>
            <a:endParaRPr lang="en-US" sz="1400" dirty="0"/>
          </a:p>
        </p:txBody>
      </p:sp>
      <p:sp>
        <p:nvSpPr>
          <p:cNvPr id="5" name="Text 3"/>
          <p:cNvSpPr/>
          <p:nvPr/>
        </p:nvSpPr>
        <p:spPr>
          <a:xfrm>
            <a:off x="1117600" y="211445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 + AC</a:t>
            </a:r>
            <a:endParaRPr lang="en-US" sz="1400" dirty="0"/>
          </a:p>
        </p:txBody>
      </p:sp>
      <p:sp>
        <p:nvSpPr>
          <p:cNvPr id="6" name="Text 4"/>
          <p:cNvSpPr/>
          <p:nvPr/>
        </p:nvSpPr>
        <p:spPr>
          <a:xfrm>
            <a:off x="5384800" y="211445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 = x′y′</a:t>
            </a:r>
            <a:endParaRPr lang="en-US" sz="1400" dirty="0"/>
          </a:p>
        </p:txBody>
      </p:sp>
      <p:sp>
        <p:nvSpPr>
          <p:cNvPr id="7" name="Text 5"/>
          <p:cNvSpPr/>
          <p:nvPr/>
        </p:nvSpPr>
        <p:spPr>
          <a:xfrm>
            <a:off x="1117600" y="235446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 + AC</a:t>
            </a:r>
            <a:endParaRPr lang="en-US" sz="1400" dirty="0"/>
          </a:p>
        </p:txBody>
      </p:sp>
      <p:sp>
        <p:nvSpPr>
          <p:cNvPr id="8" name="Text 6"/>
          <p:cNvSpPr/>
          <p:nvPr/>
        </p:nvSpPr>
        <p:spPr>
          <a:xfrm>
            <a:off x="5384800" y="235446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a:t>
            </a:r>
            <a:endParaRPr lang="en-US" sz="1400" dirty="0"/>
          </a:p>
        </p:txBody>
      </p:sp>
      <p:sp>
        <p:nvSpPr>
          <p:cNvPr id="9" name="Text 7"/>
          <p:cNvSpPr/>
          <p:nvPr/>
        </p:nvSpPr>
        <p:spPr>
          <a:xfrm>
            <a:off x="1117600" y="259447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AC</a:t>
            </a:r>
            <a:endParaRPr lang="en-US" sz="1400" dirty="0"/>
          </a:p>
        </p:txBody>
      </p:sp>
      <p:sp>
        <p:nvSpPr>
          <p:cNvPr id="10" name="Text 8"/>
          <p:cNvSpPr/>
          <p:nvPr/>
        </p:nvSpPr>
        <p:spPr>
          <a:xfrm>
            <a:off x="5384800" y="259447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xy = x: ABC contains AC</a:t>
            </a:r>
            <a:endParaRPr lang="en-US" sz="1400" dirty="0"/>
          </a:p>
        </p:txBody>
      </p:sp>
      <p:sp>
        <p:nvSpPr>
          <p:cNvPr id="11" name="Text 9"/>
          <p:cNvSpPr/>
          <p:nvPr/>
        </p:nvSpPr>
        <p:spPr>
          <a:xfrm>
            <a:off x="812800" y="298688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 + BC′)′</a:t>
            </a:r>
            <a:endParaRPr lang="en-US" sz="1400" dirty="0"/>
          </a:p>
        </p:txBody>
      </p:sp>
      <p:sp>
        <p:nvSpPr>
          <p:cNvPr id="12" name="Text 10"/>
          <p:cNvSpPr/>
          <p:nvPr/>
        </p:nvSpPr>
        <p:spPr>
          <a:xfrm>
            <a:off x="1117600" y="322689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a:t>
            </a:r>
            <a:endParaRPr lang="en-US" sz="1400" dirty="0"/>
          </a:p>
        </p:txBody>
      </p:sp>
      <p:sp>
        <p:nvSpPr>
          <p:cNvPr id="13" name="Text 11"/>
          <p:cNvSpPr/>
          <p:nvPr/>
        </p:nvSpPr>
        <p:spPr>
          <a:xfrm>
            <a:off x="5384800" y="322689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 = x′y′</a:t>
            </a:r>
            <a:endParaRPr lang="en-US" sz="1400" dirty="0"/>
          </a:p>
        </p:txBody>
      </p:sp>
      <p:sp>
        <p:nvSpPr>
          <p:cNvPr id="14" name="Text 12"/>
          <p:cNvSpPr/>
          <p:nvPr/>
        </p:nvSpPr>
        <p:spPr>
          <a:xfrm>
            <a:off x="1117600" y="346690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a:t>
            </a:r>
            <a:endParaRPr lang="en-US" sz="1400" dirty="0"/>
          </a:p>
        </p:txBody>
      </p:sp>
      <p:sp>
        <p:nvSpPr>
          <p:cNvPr id="15" name="Text 13"/>
          <p:cNvSpPr/>
          <p:nvPr/>
        </p:nvSpPr>
        <p:spPr>
          <a:xfrm>
            <a:off x="5384800" y="346690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a:t>
            </a:r>
            <a:endParaRPr lang="en-US" sz="1400" dirty="0"/>
          </a:p>
        </p:txBody>
      </p:sp>
      <p:sp>
        <p:nvSpPr>
          <p:cNvPr id="16" name="Text 14"/>
          <p:cNvSpPr/>
          <p:nvPr/>
        </p:nvSpPr>
        <p:spPr>
          <a:xfrm>
            <a:off x="1117600" y="370691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(C′)′)</a:t>
            </a:r>
            <a:endParaRPr lang="en-US" sz="1400" dirty="0"/>
          </a:p>
        </p:txBody>
      </p:sp>
      <p:sp>
        <p:nvSpPr>
          <p:cNvPr id="17" name="Text 15"/>
          <p:cNvSpPr/>
          <p:nvPr/>
        </p:nvSpPr>
        <p:spPr>
          <a:xfrm>
            <a:off x="5384800" y="370691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 + y′</a:t>
            </a:r>
            <a:endParaRPr lang="en-US" sz="1400" dirty="0"/>
          </a:p>
        </p:txBody>
      </p:sp>
      <p:sp>
        <p:nvSpPr>
          <p:cNvPr id="18" name="Text 16"/>
          <p:cNvSpPr/>
          <p:nvPr/>
        </p:nvSpPr>
        <p:spPr>
          <a:xfrm>
            <a:off x="1117600" y="394692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C)</a:t>
            </a:r>
            <a:endParaRPr lang="en-US" sz="1400" dirty="0"/>
          </a:p>
        </p:txBody>
      </p:sp>
      <p:sp>
        <p:nvSpPr>
          <p:cNvPr id="19" name="Text 17"/>
          <p:cNvSpPr/>
          <p:nvPr/>
        </p:nvSpPr>
        <p:spPr>
          <a:xfrm>
            <a:off x="5384800" y="394692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a:t>
            </a:r>
            <a:endParaRPr lang="en-US" sz="1400" dirty="0"/>
          </a:p>
        </p:txBody>
      </p:sp>
      <p:sp>
        <p:nvSpPr>
          <p:cNvPr id="20" name="Text 18"/>
          <p:cNvSpPr/>
          <p:nvPr/>
        </p:nvSpPr>
        <p:spPr>
          <a:xfrm>
            <a:off x="1117600" y="418693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AC</a:t>
            </a:r>
            <a:endParaRPr lang="en-US" sz="1400" dirty="0"/>
          </a:p>
        </p:txBody>
      </p:sp>
      <p:sp>
        <p:nvSpPr>
          <p:cNvPr id="21" name="Text 19"/>
          <p:cNvSpPr/>
          <p:nvPr/>
        </p:nvSpPr>
        <p:spPr>
          <a:xfrm>
            <a:off x="5384800" y="418693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z) = xy + xz</a:t>
            </a:r>
            <a:endParaRPr lang="en-US" sz="1400" dirty="0"/>
          </a:p>
        </p:txBody>
      </p:sp>
      <p:sp>
        <p:nvSpPr>
          <p:cNvPr id="22" name="Text 20"/>
          <p:cNvSpPr/>
          <p:nvPr/>
        </p:nvSpPr>
        <p:spPr>
          <a:xfrm>
            <a:off x="812800" y="457934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(A + B)′ + (A + B′)′</a:t>
            </a:r>
            <a:endParaRPr lang="en-US" sz="1400" dirty="0"/>
          </a:p>
        </p:txBody>
      </p:sp>
      <p:sp>
        <p:nvSpPr>
          <p:cNvPr id="23" name="Text 21"/>
          <p:cNvSpPr/>
          <p:nvPr/>
        </p:nvSpPr>
        <p:spPr>
          <a:xfrm>
            <a:off x="1117600" y="481935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A′(B′)′</a:t>
            </a:r>
            <a:endParaRPr lang="en-US" sz="1400" dirty="0"/>
          </a:p>
        </p:txBody>
      </p:sp>
      <p:sp>
        <p:nvSpPr>
          <p:cNvPr id="24" name="Text 22"/>
          <p:cNvSpPr/>
          <p:nvPr/>
        </p:nvSpPr>
        <p:spPr>
          <a:xfrm>
            <a:off x="5384800" y="481935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 = x′y′ on each bracket</a:t>
            </a:r>
            <a:endParaRPr lang="en-US" sz="1400" dirty="0"/>
          </a:p>
        </p:txBody>
      </p:sp>
      <p:sp>
        <p:nvSpPr>
          <p:cNvPr id="25" name="Text 23"/>
          <p:cNvSpPr/>
          <p:nvPr/>
        </p:nvSpPr>
        <p:spPr>
          <a:xfrm>
            <a:off x="1117600" y="5059363"/>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A′B</a:t>
            </a:r>
            <a:endParaRPr lang="en-US" sz="1400" dirty="0"/>
          </a:p>
        </p:txBody>
      </p:sp>
      <p:sp>
        <p:nvSpPr>
          <p:cNvPr id="26" name="Text 24"/>
          <p:cNvSpPr/>
          <p:nvPr/>
        </p:nvSpPr>
        <p:spPr>
          <a:xfrm>
            <a:off x="5384800" y="5059363"/>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a:t>
            </a:r>
            <a:endParaRPr lang="en-US" sz="1400" dirty="0"/>
          </a:p>
        </p:txBody>
      </p:sp>
      <p:sp>
        <p:nvSpPr>
          <p:cNvPr id="27" name="Text 25"/>
          <p:cNvSpPr/>
          <p:nvPr/>
        </p:nvSpPr>
        <p:spPr>
          <a:xfrm>
            <a:off x="1117600" y="5299373"/>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a:t>
            </a:r>
            <a:endParaRPr lang="en-US" sz="1400" dirty="0"/>
          </a:p>
        </p:txBody>
      </p:sp>
      <p:sp>
        <p:nvSpPr>
          <p:cNvPr id="28" name="Text 26"/>
          <p:cNvSpPr/>
          <p:nvPr/>
        </p:nvSpPr>
        <p:spPr>
          <a:xfrm>
            <a:off x="5384800" y="5299373"/>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(differ only in B)</a:t>
            </a:r>
            <a:endParaRPr lang="en-US" sz="1400" dirty="0"/>
          </a:p>
        </p:txBody>
      </p:sp>
      <p:sp>
        <p:nvSpPr>
          <p:cNvPr id="29" name="Text 2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30" name="Text 2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6 · Brackets: multiply out or factor</a:t>
            </a:r>
            <a:endParaRPr lang="en-US" sz="3200" dirty="0"/>
          </a:p>
        </p:txBody>
      </p:sp>
      <p:sp>
        <p:nvSpPr>
          <p:cNvPr id="4" name="Shape 2"/>
          <p:cNvSpPr/>
          <p:nvPr/>
        </p:nvSpPr>
        <p:spPr>
          <a:xfrm>
            <a:off x="812800" y="1874441"/>
            <a:ext cx="4191000" cy="1639491"/>
          </a:xfrm>
          <a:prstGeom prst="roundRect">
            <a:avLst>
              <a:gd name="adj" fmla="val 4648"/>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12a</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x(y + z) = xy + xz</a:t>
            </a:r>
            <a:endParaRPr lang="en-US" sz="2000" dirty="0"/>
          </a:p>
        </p:txBody>
      </p:sp>
      <p:sp>
        <p:nvSpPr>
          <p:cNvPr id="7" name="Text 5"/>
          <p:cNvSpPr/>
          <p:nvPr/>
        </p:nvSpPr>
        <p:spPr>
          <a:xfrm>
            <a:off x="1016000" y="277356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12b</a:t>
            </a:r>
            <a:endParaRPr lang="en-US" sz="1200" dirty="0"/>
          </a:p>
        </p:txBody>
      </p:sp>
      <p:sp>
        <p:nvSpPr>
          <p:cNvPr id="8" name="Text 6"/>
          <p:cNvSpPr/>
          <p:nvPr/>
        </p:nvSpPr>
        <p:spPr>
          <a:xfrm>
            <a:off x="1016000" y="3063081"/>
            <a:ext cx="389813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F1B18"/>
                </a:solidFill>
                <a:latin typeface="Georgia" pitchFamily="34" charset="0"/>
                <a:ea typeface="Georgia" pitchFamily="34" charset="-122"/>
                <a:cs typeface="Georgia" pitchFamily="34" charset="-120"/>
              </a:rPr>
              <a:t>x + yz = (x + y)(x + z)</a:t>
            </a:r>
            <a:endParaRPr lang="en-US" sz="1500" dirty="0"/>
          </a:p>
        </p:txBody>
      </p:sp>
      <p:sp>
        <p:nvSpPr>
          <p:cNvPr id="9" name="Text 7"/>
          <p:cNvSpPr/>
          <p:nvPr/>
        </p:nvSpPr>
        <p:spPr>
          <a:xfrm>
            <a:off x="812800" y="371713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10" name="Text 8"/>
          <p:cNvSpPr/>
          <p:nvPr/>
        </p:nvSpPr>
        <p:spPr>
          <a:xfrm>
            <a:off x="812800" y="402193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Brackets multiplied together. If they share a part, factor it out with 12b. If not, multiply out with 12a and clean up.</a:t>
            </a:r>
            <a:endParaRPr lang="en-US" sz="1500" dirty="0"/>
          </a:p>
        </p:txBody>
      </p:sp>
      <p:sp>
        <p:nvSpPr>
          <p:cNvPr id="11" name="Text 9"/>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a:t>
            </a:r>
            <a:endParaRPr lang="en-US" sz="1500" dirty="0"/>
          </a:p>
        </p:txBody>
      </p:sp>
      <p:sp>
        <p:nvSpPr>
          <p:cNvPr id="12" name="Text 10"/>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(A + B)(A + C)</a:t>
            </a:r>
            <a:endParaRPr lang="en-US" sz="2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1651000"/>
        </p:xfrm>
        <a:graphic>
          <a:graphicData uri="http://schemas.openxmlformats.org/drawingml/2006/table">
            <a:tbl>
              <a:tblPr/>
              <a:tblGrid>
                <a:gridCol w="3454654"/>
                <a:gridCol w="2501646"/>
              </a:tblGrid>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 + 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12b, read right to left</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or: = AA + AC + AB + 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12a</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 + AC + AB + 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7a</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 + 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13a twice</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4"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5"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6: brackets</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Simplify. Name the theorem at each step.</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(A + BC)(A + B′C)</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 + B′)(A′ + C)</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(A + B + C)(A + B + D)</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6: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(A + BC)(A + B′C)</a:t>
            </a:r>
            <a:endParaRPr lang="en-US" sz="1400" dirty="0"/>
          </a:p>
        </p:txBody>
      </p:sp>
      <p:sp>
        <p:nvSpPr>
          <p:cNvPr id="5" name="Text 3"/>
          <p:cNvSpPr/>
          <p:nvPr/>
        </p:nvSpPr>
        <p:spPr>
          <a:xfrm>
            <a:off x="1117600" y="211445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(BC)(B′C)</a:t>
            </a:r>
            <a:endParaRPr lang="en-US" sz="1400" dirty="0"/>
          </a:p>
        </p:txBody>
      </p:sp>
      <p:sp>
        <p:nvSpPr>
          <p:cNvPr id="6" name="Text 4"/>
          <p:cNvSpPr/>
          <p:nvPr/>
        </p:nvSpPr>
        <p:spPr>
          <a:xfrm>
            <a:off x="5384800" y="211445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yz = (x + y)(x + z), with x = A</a:t>
            </a:r>
            <a:endParaRPr lang="en-US" sz="1400" dirty="0"/>
          </a:p>
        </p:txBody>
      </p:sp>
      <p:sp>
        <p:nvSpPr>
          <p:cNvPr id="7" name="Text 5"/>
          <p:cNvSpPr/>
          <p:nvPr/>
        </p:nvSpPr>
        <p:spPr>
          <a:xfrm>
            <a:off x="1117600" y="235446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BB′C</a:t>
            </a:r>
            <a:endParaRPr lang="en-US" sz="1400" dirty="0"/>
          </a:p>
        </p:txBody>
      </p:sp>
      <p:sp>
        <p:nvSpPr>
          <p:cNvPr id="8" name="Text 6"/>
          <p:cNvSpPr/>
          <p:nvPr/>
        </p:nvSpPr>
        <p:spPr>
          <a:xfrm>
            <a:off x="5384800" y="235446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yx and x·x = x (C·C = C)</a:t>
            </a:r>
            <a:endParaRPr lang="en-US" sz="1400" dirty="0"/>
          </a:p>
        </p:txBody>
      </p:sp>
      <p:sp>
        <p:nvSpPr>
          <p:cNvPr id="9" name="Text 7"/>
          <p:cNvSpPr/>
          <p:nvPr/>
        </p:nvSpPr>
        <p:spPr>
          <a:xfrm>
            <a:off x="1117600" y="259447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+ 0·C</a:t>
            </a:r>
            <a:endParaRPr lang="en-US" sz="1400" dirty="0"/>
          </a:p>
        </p:txBody>
      </p:sp>
      <p:sp>
        <p:nvSpPr>
          <p:cNvPr id="10" name="Text 8"/>
          <p:cNvSpPr/>
          <p:nvPr/>
        </p:nvSpPr>
        <p:spPr>
          <a:xfrm>
            <a:off x="5384800" y="259447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x·x′ = 0</a:t>
            </a:r>
            <a:endParaRPr lang="en-US" sz="1400" dirty="0"/>
          </a:p>
        </p:txBody>
      </p:sp>
      <p:sp>
        <p:nvSpPr>
          <p:cNvPr id="11" name="Text 9"/>
          <p:cNvSpPr/>
          <p:nvPr/>
        </p:nvSpPr>
        <p:spPr>
          <a:xfrm>
            <a:off x="1117600" y="2834481"/>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a:t>
            </a:r>
            <a:endParaRPr lang="en-US" sz="1400" dirty="0"/>
          </a:p>
        </p:txBody>
      </p:sp>
      <p:sp>
        <p:nvSpPr>
          <p:cNvPr id="12" name="Text 10"/>
          <p:cNvSpPr/>
          <p:nvPr/>
        </p:nvSpPr>
        <p:spPr>
          <a:xfrm>
            <a:off x="5384800" y="2834481"/>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x·0 = 0, then x + 0 = x</a:t>
            </a:r>
            <a:endParaRPr lang="en-US" sz="1400" dirty="0"/>
          </a:p>
        </p:txBody>
      </p:sp>
      <p:sp>
        <p:nvSpPr>
          <p:cNvPr id="13" name="Text 11"/>
          <p:cNvSpPr/>
          <p:nvPr/>
        </p:nvSpPr>
        <p:spPr>
          <a:xfrm>
            <a:off x="812800" y="322689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 + B′)(A′ + C)</a:t>
            </a:r>
            <a:endParaRPr lang="en-US" sz="1400" dirty="0"/>
          </a:p>
        </p:txBody>
      </p:sp>
      <p:sp>
        <p:nvSpPr>
          <p:cNvPr id="14" name="Text 12"/>
          <p:cNvSpPr/>
          <p:nvPr/>
        </p:nvSpPr>
        <p:spPr>
          <a:xfrm>
            <a:off x="1117600" y="346690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AA′ + AC + A′B′ + B′C</a:t>
            </a:r>
            <a:endParaRPr lang="en-US" sz="1400" dirty="0"/>
          </a:p>
        </p:txBody>
      </p:sp>
      <p:sp>
        <p:nvSpPr>
          <p:cNvPr id="15" name="Text 13"/>
          <p:cNvSpPr/>
          <p:nvPr/>
        </p:nvSpPr>
        <p:spPr>
          <a:xfrm>
            <a:off x="5384800" y="346690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z) = xy + xz</a:t>
            </a:r>
            <a:endParaRPr lang="en-US" sz="1400" dirty="0"/>
          </a:p>
        </p:txBody>
      </p:sp>
      <p:sp>
        <p:nvSpPr>
          <p:cNvPr id="16" name="Text 14"/>
          <p:cNvSpPr/>
          <p:nvPr/>
        </p:nvSpPr>
        <p:spPr>
          <a:xfrm>
            <a:off x="1117600" y="370691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AC + A′B′ + B′C</a:t>
            </a:r>
            <a:endParaRPr lang="en-US" sz="1400" dirty="0"/>
          </a:p>
        </p:txBody>
      </p:sp>
      <p:sp>
        <p:nvSpPr>
          <p:cNvPr id="17" name="Text 15"/>
          <p:cNvSpPr/>
          <p:nvPr/>
        </p:nvSpPr>
        <p:spPr>
          <a:xfrm>
            <a:off x="5384800" y="370691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x·x′ = 0, then x + 0 = x</a:t>
            </a:r>
            <a:endParaRPr lang="en-US" sz="1400" dirty="0"/>
          </a:p>
        </p:txBody>
      </p:sp>
      <p:sp>
        <p:nvSpPr>
          <p:cNvPr id="18" name="Text 16"/>
          <p:cNvSpPr/>
          <p:nvPr/>
        </p:nvSpPr>
        <p:spPr>
          <a:xfrm>
            <a:off x="1117600" y="394692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AC + A′B′</a:t>
            </a:r>
            <a:endParaRPr lang="en-US" sz="1400" dirty="0"/>
          </a:p>
        </p:txBody>
      </p:sp>
      <p:sp>
        <p:nvSpPr>
          <p:cNvPr id="19" name="Text 17"/>
          <p:cNvSpPr/>
          <p:nvPr/>
        </p:nvSpPr>
        <p:spPr>
          <a:xfrm>
            <a:off x="5384800" y="394692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x′z + yz = xy + x′z: delete B′C</a:t>
            </a:r>
            <a:endParaRPr lang="en-US" sz="1400" dirty="0"/>
          </a:p>
        </p:txBody>
      </p:sp>
      <p:sp>
        <p:nvSpPr>
          <p:cNvPr id="20" name="Text 18"/>
          <p:cNvSpPr/>
          <p:nvPr/>
        </p:nvSpPr>
        <p:spPr>
          <a:xfrm>
            <a:off x="812800" y="433933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(A + B + C)(A + B + D)</a:t>
            </a:r>
            <a:endParaRPr lang="en-US" sz="1400" dirty="0"/>
          </a:p>
        </p:txBody>
      </p:sp>
      <p:sp>
        <p:nvSpPr>
          <p:cNvPr id="21" name="Text 19"/>
          <p:cNvSpPr/>
          <p:nvPr/>
        </p:nvSpPr>
        <p:spPr>
          <a:xfrm>
            <a:off x="1117600" y="4579342"/>
            <a:ext cx="418592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 + B + CD</a:t>
            </a:r>
            <a:endParaRPr lang="en-US" sz="1400" dirty="0"/>
          </a:p>
        </p:txBody>
      </p:sp>
      <p:sp>
        <p:nvSpPr>
          <p:cNvPr id="22" name="Text 20"/>
          <p:cNvSpPr/>
          <p:nvPr/>
        </p:nvSpPr>
        <p:spPr>
          <a:xfrm>
            <a:off x="5384800" y="4579342"/>
            <a:ext cx="617423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yz = (x + y)(x + z), with x = A + B</a:t>
            </a:r>
            <a:endParaRPr lang="en-US" sz="14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Type 7 · Use one term twice</a:t>
            </a:r>
            <a:endParaRPr lang="en-US" sz="3200" dirty="0"/>
          </a:p>
        </p:txBody>
      </p:sp>
      <p:sp>
        <p:nvSpPr>
          <p:cNvPr id="4" name="Shape 2"/>
          <p:cNvSpPr/>
          <p:nvPr/>
        </p:nvSpPr>
        <p:spPr>
          <a:xfrm>
            <a:off x="812800" y="1874441"/>
            <a:ext cx="4191000" cy="1026120"/>
          </a:xfrm>
          <a:prstGeom prst="roundRect">
            <a:avLst>
              <a:gd name="adj" fmla="val 7426"/>
            </a:avLst>
          </a:prstGeom>
          <a:solidFill>
            <a:srgbClr val="EBE8E3"/>
          </a:solidFill>
          <a:ln/>
        </p:spPr>
      </p:sp>
      <p:sp>
        <p:nvSpPr>
          <p:cNvPr id="5" name="Text 3"/>
          <p:cNvSpPr/>
          <p:nvPr/>
        </p:nvSpPr>
        <p:spPr>
          <a:xfrm>
            <a:off x="1016000" y="2077641"/>
            <a:ext cx="38981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292A"/>
                </a:solidFill>
                <a:latin typeface="Georgia" pitchFamily="34" charset="0"/>
                <a:ea typeface="Georgia" pitchFamily="34" charset="-122"/>
                <a:cs typeface="Georgia" pitchFamily="34" charset="-120"/>
              </a:rPr>
              <a:t>7b, read backwards</a:t>
            </a:r>
            <a:endParaRPr lang="en-US" sz="1200" dirty="0"/>
          </a:p>
        </p:txBody>
      </p:sp>
      <p:sp>
        <p:nvSpPr>
          <p:cNvPr id="6" name="Text 4"/>
          <p:cNvSpPr/>
          <p:nvPr/>
        </p:nvSpPr>
        <p:spPr>
          <a:xfrm>
            <a:off x="1016000" y="2367161"/>
            <a:ext cx="389813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x = x + x</a:t>
            </a:r>
            <a:endParaRPr lang="en-US" sz="2000" dirty="0"/>
          </a:p>
        </p:txBody>
      </p:sp>
      <p:sp>
        <p:nvSpPr>
          <p:cNvPr id="7" name="Text 5"/>
          <p:cNvSpPr/>
          <p:nvPr/>
        </p:nvSpPr>
        <p:spPr>
          <a:xfrm>
            <a:off x="812800" y="3103761"/>
            <a:ext cx="431673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How to spot it</a:t>
            </a:r>
            <a:endParaRPr lang="en-US" sz="1500" dirty="0"/>
          </a:p>
        </p:txBody>
      </p:sp>
      <p:sp>
        <p:nvSpPr>
          <p:cNvPr id="8" name="Text 6"/>
          <p:cNvSpPr/>
          <p:nvPr/>
        </p:nvSpPr>
        <p:spPr>
          <a:xfrm>
            <a:off x="812800" y="3408561"/>
            <a:ext cx="431673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One term can merge with two different neighbours but appears only once. Write it twice, and merge each copy with one neighbour.</a:t>
            </a:r>
            <a:endParaRPr lang="en-US" sz="1500" dirty="0"/>
          </a:p>
        </p:txBody>
      </p:sp>
      <p:sp>
        <p:nvSpPr>
          <p:cNvPr id="9" name="Text 7"/>
          <p:cNvSpPr/>
          <p:nvPr/>
        </p:nvSpPr>
        <p:spPr>
          <a:xfrm>
            <a:off x="5410200" y="1874441"/>
            <a:ext cx="61480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1B18"/>
                </a:solidFill>
                <a:latin typeface="Georgia" pitchFamily="34" charset="0"/>
                <a:ea typeface="Georgia" pitchFamily="34" charset="-122"/>
                <a:cs typeface="Georgia" pitchFamily="34" charset="-120"/>
              </a:rPr>
              <a:t>Example</a:t>
            </a:r>
            <a:endParaRPr lang="en-US" sz="1500" dirty="0"/>
          </a:p>
        </p:txBody>
      </p:sp>
      <p:sp>
        <p:nvSpPr>
          <p:cNvPr id="10" name="Text 8"/>
          <p:cNvSpPr/>
          <p:nvPr/>
        </p:nvSpPr>
        <p:spPr>
          <a:xfrm>
            <a:off x="5410200" y="2255441"/>
            <a:ext cx="614807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F1B18"/>
                </a:solidFill>
                <a:latin typeface="Georgia" pitchFamily="34" charset="0"/>
                <a:ea typeface="Georgia" pitchFamily="34" charset="-122"/>
                <a:cs typeface="Georgia" pitchFamily="34" charset="-120"/>
              </a:rPr>
              <a:t>F = A′BC + AB′C + ABC′ + ABC</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22900" y="2750741"/>
          <a:ext cx="5956300" cy="1092200"/>
        </p:xfrm>
        <a:graphic>
          <a:graphicData uri="http://schemas.openxmlformats.org/drawingml/2006/table">
            <a:tbl>
              <a:tblPr/>
              <a:tblGrid>
                <a:gridCol w="3454654"/>
                <a:gridCol w="2501646"/>
              </a:tblGrid>
              <a:tr h="6794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(A′BC + ABC) + (AB′C + ABC) + (ABC′ + ABC)</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7b: ABC written three times</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r h="412750">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 BC + AC + AB</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c>
                  <a:txBody>
                    <a:bodyPr/>
                    <a:lstStyle/>
                    <a:p>
                      <a:pPr indent="0" marL="0">
                        <a:lnSpc>
                          <a:spcPts val="2100"/>
                        </a:lnSpc>
                        <a:buNone/>
                      </a:pPr>
                      <a:r>
                        <a:rPr lang="en-US" sz="1500" dirty="0">
                          <a:solidFill>
                            <a:srgbClr val="3B3631"/>
                          </a:solidFill>
                          <a:latin typeface="Georgia" pitchFamily="34" charset="0"/>
                          <a:ea typeface="Georgia" pitchFamily="34" charset="-122"/>
                          <a:cs typeface="Georgia" pitchFamily="34" charset="-120"/>
                        </a:rPr>
                        <a:t>14a on each pair</a:t>
                      </a:r>
                      <a:endParaRPr lang="en-US" sz="1500" dirty="0">
                        <a:latin typeface="Georgia" charset="0"/>
                        <a:ea typeface="Georgia" charset="0"/>
                        <a:cs typeface="Georgia" charset="0"/>
                      </a:endParaRPr>
                    </a:p>
                  </a:txBody>
                  <a:tcPr marL="66675" marR="66675" marT="66675" marB="66675" anchor="t">
                    <a:lnL w="12700" cap="flat" cmpd="sng" algn="ctr">
                      <a:solidFill>
                        <a:srgbClr val="C7C5C1"/>
                      </a:solidFill>
                      <a:prstDash val="solid"/>
                      <a:round/>
                      <a:headEnd type="none" w="med" len="med"/>
                      <a:tailEnd type="none" w="med" len="med"/>
                    </a:lnL>
                    <a:lnR w="12700" cap="flat" cmpd="sng" algn="ctr">
                      <a:solidFill>
                        <a:srgbClr val="C7C5C1"/>
                      </a:solidFill>
                      <a:prstDash val="solid"/>
                      <a:round/>
                      <a:headEnd type="none" w="med" len="med"/>
                      <a:tailEnd type="none" w="med" len="med"/>
                    </a:lnR>
                    <a:lnT w="12700" cap="flat" cmpd="sng" algn="ctr">
                      <a:solidFill>
                        <a:srgbClr val="C7C5C1"/>
                      </a:solidFill>
                      <a:prstDash val="solid"/>
                      <a:round/>
                      <a:headEnd type="none" w="med" len="med"/>
                      <a:tailEnd type="none" w="med" len="med"/>
                    </a:lnT>
                    <a:lnB w="12700" cap="flat" cmpd="sng" algn="ctr">
                      <a:solidFill>
                        <a:srgbClr val="C7C5C1"/>
                      </a:solidFill>
                      <a:prstDash val="solid"/>
                      <a:round/>
                      <a:headEnd type="none" w="med" len="med"/>
                      <a:tailEnd type="none" w="med" len="med"/>
                    </a:lnB>
                  </a:tcPr>
                </a:tc>
              </a:tr>
            </a:tbl>
          </a:graphicData>
        </a:graphic>
      </p:graphicFrame>
      <p:sp>
        <p:nvSpPr>
          <p:cNvPr id="12" name="Text 9"/>
          <p:cNvSpPr/>
          <p:nvPr/>
        </p:nvSpPr>
        <p:spPr>
          <a:xfrm>
            <a:off x="5410200" y="3995341"/>
            <a:ext cx="614807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ABC differs from each of the other three terms in one variable. F is the majority function: 1 when at least two inputs are 1.</a:t>
            </a:r>
            <a:endParaRPr lang="en-US" sz="15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7: using a term twice</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Simplify. Say which term you copy.</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A′B′C′ + A′B′C + A′BC</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AB′C′ + AB′C + ABC</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A′BC′D + A′BCD + ABCD</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1 · ALGEBRAIC SIMPLIFICATION</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7: answers</a:t>
            </a:r>
            <a:endParaRPr lang="en-US" sz="3200" dirty="0"/>
          </a:p>
        </p:txBody>
      </p:sp>
      <p:sp>
        <p:nvSpPr>
          <p:cNvPr id="4" name="Text 2"/>
          <p:cNvSpPr/>
          <p:nvPr/>
        </p:nvSpPr>
        <p:spPr>
          <a:xfrm>
            <a:off x="812800" y="187444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a.</a:t>
            </a:r>
            <a:r>
              <a:rPr lang="en-US" sz="1400" dirty="0">
                <a:solidFill>
                  <a:srgbClr val="1F1B18"/>
                </a:solidFill>
                <a:latin typeface="Georgia" pitchFamily="34" charset="0"/>
                <a:ea typeface="Georgia" pitchFamily="34" charset="-122"/>
                <a:cs typeface="Georgia" pitchFamily="34" charset="-120"/>
              </a:rPr>
              <a:t> F = A′B′C′ + A′B′C + A′BC</a:t>
            </a:r>
            <a:endParaRPr lang="en-US" sz="1400" dirty="0"/>
          </a:p>
        </p:txBody>
      </p:sp>
      <p:sp>
        <p:nvSpPr>
          <p:cNvPr id="5" name="Text 3"/>
          <p:cNvSpPr/>
          <p:nvPr/>
        </p:nvSpPr>
        <p:spPr>
          <a:xfrm>
            <a:off x="1117600" y="2114451"/>
            <a:ext cx="49707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 + A′B′C) + (A′B′C + A′BC)</a:t>
            </a:r>
            <a:endParaRPr lang="en-US" sz="1400" dirty="0"/>
          </a:p>
        </p:txBody>
      </p:sp>
      <p:sp>
        <p:nvSpPr>
          <p:cNvPr id="6" name="Text 4"/>
          <p:cNvSpPr/>
          <p:nvPr/>
        </p:nvSpPr>
        <p:spPr>
          <a:xfrm>
            <a:off x="6146800" y="2114451"/>
            <a:ext cx="53893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 = x, read backwards: copy A′B′C</a:t>
            </a:r>
            <a:endParaRPr lang="en-US" sz="1400" dirty="0"/>
          </a:p>
        </p:txBody>
      </p:sp>
      <p:sp>
        <p:nvSpPr>
          <p:cNvPr id="7" name="Text 5"/>
          <p:cNvSpPr/>
          <p:nvPr/>
        </p:nvSpPr>
        <p:spPr>
          <a:xfrm>
            <a:off x="1117600" y="2354461"/>
            <a:ext cx="49707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A′C</a:t>
            </a:r>
            <a:endParaRPr lang="en-US" sz="1400" dirty="0"/>
          </a:p>
        </p:txBody>
      </p:sp>
      <p:sp>
        <p:nvSpPr>
          <p:cNvPr id="8" name="Text 6"/>
          <p:cNvSpPr/>
          <p:nvPr/>
        </p:nvSpPr>
        <p:spPr>
          <a:xfrm>
            <a:off x="6146800" y="2354461"/>
            <a:ext cx="53893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on each pair</a:t>
            </a:r>
            <a:endParaRPr lang="en-US" sz="1400" dirty="0"/>
          </a:p>
        </p:txBody>
      </p:sp>
      <p:sp>
        <p:nvSpPr>
          <p:cNvPr id="9" name="Text 7"/>
          <p:cNvSpPr/>
          <p:nvPr/>
        </p:nvSpPr>
        <p:spPr>
          <a:xfrm>
            <a:off x="812800" y="2746871"/>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b.</a:t>
            </a:r>
            <a:r>
              <a:rPr lang="en-US" sz="1400" dirty="0">
                <a:solidFill>
                  <a:srgbClr val="1F1B18"/>
                </a:solidFill>
                <a:latin typeface="Georgia" pitchFamily="34" charset="0"/>
                <a:ea typeface="Georgia" pitchFamily="34" charset="-122"/>
                <a:cs typeface="Georgia" pitchFamily="34" charset="-120"/>
              </a:rPr>
              <a:t> F = AB′C′ + AB′C + ABC</a:t>
            </a:r>
            <a:endParaRPr lang="en-US" sz="1400" dirty="0"/>
          </a:p>
        </p:txBody>
      </p:sp>
      <p:sp>
        <p:nvSpPr>
          <p:cNvPr id="10" name="Text 8"/>
          <p:cNvSpPr/>
          <p:nvPr/>
        </p:nvSpPr>
        <p:spPr>
          <a:xfrm>
            <a:off x="1117600" y="2986881"/>
            <a:ext cx="49707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 + AB′C) + (AB′C + ABC)</a:t>
            </a:r>
            <a:endParaRPr lang="en-US" sz="1400" dirty="0"/>
          </a:p>
        </p:txBody>
      </p:sp>
      <p:sp>
        <p:nvSpPr>
          <p:cNvPr id="11" name="Text 9"/>
          <p:cNvSpPr/>
          <p:nvPr/>
        </p:nvSpPr>
        <p:spPr>
          <a:xfrm>
            <a:off x="6146800" y="2986881"/>
            <a:ext cx="53893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 = x, read backwards: copy AB′C</a:t>
            </a:r>
            <a:endParaRPr lang="en-US" sz="1400" dirty="0"/>
          </a:p>
        </p:txBody>
      </p:sp>
      <p:sp>
        <p:nvSpPr>
          <p:cNvPr id="12" name="Text 10"/>
          <p:cNvSpPr/>
          <p:nvPr/>
        </p:nvSpPr>
        <p:spPr>
          <a:xfrm>
            <a:off x="1117600" y="3226891"/>
            <a:ext cx="49707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 + AC</a:t>
            </a:r>
            <a:endParaRPr lang="en-US" sz="1400" dirty="0"/>
          </a:p>
        </p:txBody>
      </p:sp>
      <p:sp>
        <p:nvSpPr>
          <p:cNvPr id="13" name="Text 11"/>
          <p:cNvSpPr/>
          <p:nvPr/>
        </p:nvSpPr>
        <p:spPr>
          <a:xfrm>
            <a:off x="6146800" y="3226891"/>
            <a:ext cx="53893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on each pair</a:t>
            </a:r>
            <a:endParaRPr lang="en-US" sz="1400" dirty="0"/>
          </a:p>
        </p:txBody>
      </p:sp>
      <p:sp>
        <p:nvSpPr>
          <p:cNvPr id="14" name="Text 12"/>
          <p:cNvSpPr/>
          <p:nvPr/>
        </p:nvSpPr>
        <p:spPr>
          <a:xfrm>
            <a:off x="812800" y="3619302"/>
            <a:ext cx="10883392"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c.</a:t>
            </a:r>
            <a:r>
              <a:rPr lang="en-US" sz="1400" dirty="0">
                <a:solidFill>
                  <a:srgbClr val="1F1B18"/>
                </a:solidFill>
                <a:latin typeface="Georgia" pitchFamily="34" charset="0"/>
                <a:ea typeface="Georgia" pitchFamily="34" charset="-122"/>
                <a:cs typeface="Georgia" pitchFamily="34" charset="-120"/>
              </a:rPr>
              <a:t> F = A′BC′D + A′BCD + ABCD</a:t>
            </a:r>
            <a:endParaRPr lang="en-US" sz="1400" dirty="0"/>
          </a:p>
        </p:txBody>
      </p:sp>
      <p:sp>
        <p:nvSpPr>
          <p:cNvPr id="15" name="Text 13"/>
          <p:cNvSpPr/>
          <p:nvPr/>
        </p:nvSpPr>
        <p:spPr>
          <a:xfrm>
            <a:off x="1117600" y="3859312"/>
            <a:ext cx="49707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(A′BC′D + A′BCD) + (A′BCD + ABCD)</a:t>
            </a:r>
            <a:endParaRPr lang="en-US" sz="1400" dirty="0"/>
          </a:p>
        </p:txBody>
      </p:sp>
      <p:sp>
        <p:nvSpPr>
          <p:cNvPr id="16" name="Text 14"/>
          <p:cNvSpPr/>
          <p:nvPr/>
        </p:nvSpPr>
        <p:spPr>
          <a:xfrm>
            <a:off x="6146800" y="3859312"/>
            <a:ext cx="53893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 + x = x, read backwards: copy A′BCD</a:t>
            </a:r>
            <a:endParaRPr lang="en-US" sz="1400" dirty="0"/>
          </a:p>
        </p:txBody>
      </p:sp>
      <p:sp>
        <p:nvSpPr>
          <p:cNvPr id="17" name="Text 15"/>
          <p:cNvSpPr/>
          <p:nvPr/>
        </p:nvSpPr>
        <p:spPr>
          <a:xfrm>
            <a:off x="1117600" y="4099322"/>
            <a:ext cx="497078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F1B18"/>
                </a:solidFill>
                <a:latin typeface="Georgia" pitchFamily="34" charset="0"/>
                <a:ea typeface="Georgia" pitchFamily="34" charset="-122"/>
                <a:cs typeface="Georgia" pitchFamily="34" charset="-120"/>
              </a:rPr>
              <a:t>= A′BD + BCD</a:t>
            </a:r>
            <a:endParaRPr lang="en-US" sz="1400" dirty="0"/>
          </a:p>
        </p:txBody>
      </p:sp>
      <p:sp>
        <p:nvSpPr>
          <p:cNvPr id="18" name="Text 16"/>
          <p:cNvSpPr/>
          <p:nvPr/>
        </p:nvSpPr>
        <p:spPr>
          <a:xfrm>
            <a:off x="6146800" y="4099322"/>
            <a:ext cx="5389372"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6F665D"/>
                </a:solidFill>
                <a:latin typeface="Georgia" pitchFamily="34" charset="0"/>
                <a:ea typeface="Georgia" pitchFamily="34" charset="-122"/>
                <a:cs typeface="Georgia" pitchFamily="34" charset="-120"/>
              </a:rPr>
              <a:t>xy + xy′ = x on each pair</a:t>
            </a:r>
            <a:endParaRPr lang="en-US" sz="14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What a K-map is</a:t>
            </a:r>
            <a:endParaRPr lang="en-US" sz="3200" dirty="0"/>
          </a:p>
        </p:txBody>
      </p:sp>
      <p:sp>
        <p:nvSpPr>
          <p:cNvPr id="4" name="Text 2"/>
          <p:cNvSpPr/>
          <p:nvPr/>
        </p:nvSpPr>
        <p:spPr>
          <a:xfrm>
            <a:off x="787400" y="1874441"/>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5" name="Text 3"/>
          <p:cNvSpPr/>
          <p:nvPr/>
        </p:nvSpPr>
        <p:spPr>
          <a:xfrm>
            <a:off x="15875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6" name="Text 4"/>
          <p:cNvSpPr/>
          <p:nvPr/>
        </p:nvSpPr>
        <p:spPr>
          <a:xfrm>
            <a:off x="22352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7" name="Text 5"/>
          <p:cNvSpPr/>
          <p:nvPr/>
        </p:nvSpPr>
        <p:spPr>
          <a:xfrm>
            <a:off x="28829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8" name="Text 6"/>
          <p:cNvSpPr/>
          <p:nvPr/>
        </p:nvSpPr>
        <p:spPr>
          <a:xfrm>
            <a:off x="35306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9" name="Text 7"/>
          <p:cNvSpPr/>
          <p:nvPr/>
        </p:nvSpPr>
        <p:spPr>
          <a:xfrm>
            <a:off x="787400" y="23189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10" name="Shape 8"/>
          <p:cNvSpPr/>
          <p:nvPr/>
        </p:nvSpPr>
        <p:spPr>
          <a:xfrm>
            <a:off x="1612900" y="2318941"/>
            <a:ext cx="609600" cy="609600"/>
          </a:xfrm>
          <a:prstGeom prst="roundRect">
            <a:avLst>
              <a:gd name="adj" fmla="val 8333"/>
            </a:avLst>
          </a:prstGeom>
          <a:solidFill>
            <a:srgbClr val="EBE8E3"/>
          </a:solidFill>
          <a:ln/>
        </p:spPr>
      </p:sp>
      <p:sp>
        <p:nvSpPr>
          <p:cNvPr id="11" name="Text 9"/>
          <p:cNvSpPr/>
          <p:nvPr/>
        </p:nvSpPr>
        <p:spPr>
          <a:xfrm>
            <a:off x="15875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m0</a:t>
            </a:r>
            <a:endParaRPr lang="en-US" sz="1600" dirty="0"/>
          </a:p>
        </p:txBody>
      </p:sp>
      <p:sp>
        <p:nvSpPr>
          <p:cNvPr id="12" name="Shape 10"/>
          <p:cNvSpPr/>
          <p:nvPr/>
        </p:nvSpPr>
        <p:spPr>
          <a:xfrm>
            <a:off x="2260600" y="2318941"/>
            <a:ext cx="609600" cy="609600"/>
          </a:xfrm>
          <a:prstGeom prst="roundRect">
            <a:avLst>
              <a:gd name="adj" fmla="val 8333"/>
            </a:avLst>
          </a:prstGeom>
          <a:solidFill>
            <a:srgbClr val="EBE8E3"/>
          </a:solidFill>
          <a:ln/>
        </p:spPr>
      </p:sp>
      <p:sp>
        <p:nvSpPr>
          <p:cNvPr id="13" name="Text 11"/>
          <p:cNvSpPr/>
          <p:nvPr/>
        </p:nvSpPr>
        <p:spPr>
          <a:xfrm>
            <a:off x="22352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m1</a:t>
            </a:r>
            <a:endParaRPr lang="en-US" sz="1600" dirty="0"/>
          </a:p>
        </p:txBody>
      </p:sp>
      <p:sp>
        <p:nvSpPr>
          <p:cNvPr id="14" name="Shape 12"/>
          <p:cNvSpPr/>
          <p:nvPr/>
        </p:nvSpPr>
        <p:spPr>
          <a:xfrm>
            <a:off x="2908300" y="2318941"/>
            <a:ext cx="609600" cy="609600"/>
          </a:xfrm>
          <a:prstGeom prst="roundRect">
            <a:avLst>
              <a:gd name="adj" fmla="val 8333"/>
            </a:avLst>
          </a:prstGeom>
          <a:solidFill>
            <a:srgbClr val="EBE8E3"/>
          </a:solidFill>
          <a:ln/>
        </p:spPr>
      </p:sp>
      <p:sp>
        <p:nvSpPr>
          <p:cNvPr id="15" name="Text 13"/>
          <p:cNvSpPr/>
          <p:nvPr/>
        </p:nvSpPr>
        <p:spPr>
          <a:xfrm>
            <a:off x="28829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m3</a:t>
            </a:r>
            <a:endParaRPr lang="en-US" sz="1600" dirty="0"/>
          </a:p>
        </p:txBody>
      </p:sp>
      <p:sp>
        <p:nvSpPr>
          <p:cNvPr id="16" name="Shape 14"/>
          <p:cNvSpPr/>
          <p:nvPr/>
        </p:nvSpPr>
        <p:spPr>
          <a:xfrm>
            <a:off x="3556000" y="2318941"/>
            <a:ext cx="609600" cy="609600"/>
          </a:xfrm>
          <a:prstGeom prst="roundRect">
            <a:avLst>
              <a:gd name="adj" fmla="val 8333"/>
            </a:avLst>
          </a:prstGeom>
          <a:solidFill>
            <a:srgbClr val="EBE8E3"/>
          </a:solidFill>
          <a:ln/>
        </p:spPr>
      </p:sp>
      <p:sp>
        <p:nvSpPr>
          <p:cNvPr id="17" name="Text 15"/>
          <p:cNvSpPr/>
          <p:nvPr/>
        </p:nvSpPr>
        <p:spPr>
          <a:xfrm>
            <a:off x="35306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m2</a:t>
            </a:r>
            <a:endParaRPr lang="en-US" sz="1600" dirty="0"/>
          </a:p>
        </p:txBody>
      </p:sp>
      <p:sp>
        <p:nvSpPr>
          <p:cNvPr id="18" name="Text 16"/>
          <p:cNvSpPr/>
          <p:nvPr/>
        </p:nvSpPr>
        <p:spPr>
          <a:xfrm>
            <a:off x="787400" y="29666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19" name="Shape 17"/>
          <p:cNvSpPr/>
          <p:nvPr/>
        </p:nvSpPr>
        <p:spPr>
          <a:xfrm>
            <a:off x="1612900" y="2966641"/>
            <a:ext cx="609600" cy="609600"/>
          </a:xfrm>
          <a:prstGeom prst="roundRect">
            <a:avLst>
              <a:gd name="adj" fmla="val 8333"/>
            </a:avLst>
          </a:prstGeom>
          <a:solidFill>
            <a:srgbClr val="EBE8E3"/>
          </a:solidFill>
          <a:ln/>
        </p:spPr>
      </p:sp>
      <p:sp>
        <p:nvSpPr>
          <p:cNvPr id="20" name="Text 18"/>
          <p:cNvSpPr/>
          <p:nvPr/>
        </p:nvSpPr>
        <p:spPr>
          <a:xfrm>
            <a:off x="15875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m4</a:t>
            </a:r>
            <a:endParaRPr lang="en-US" sz="1600" dirty="0"/>
          </a:p>
        </p:txBody>
      </p:sp>
      <p:sp>
        <p:nvSpPr>
          <p:cNvPr id="21" name="Shape 19"/>
          <p:cNvSpPr/>
          <p:nvPr/>
        </p:nvSpPr>
        <p:spPr>
          <a:xfrm>
            <a:off x="2260600" y="2966641"/>
            <a:ext cx="609600" cy="609600"/>
          </a:xfrm>
          <a:prstGeom prst="roundRect">
            <a:avLst>
              <a:gd name="adj" fmla="val 8333"/>
            </a:avLst>
          </a:prstGeom>
          <a:solidFill>
            <a:srgbClr val="EBE8E3"/>
          </a:solidFill>
          <a:ln/>
        </p:spPr>
      </p:sp>
      <p:sp>
        <p:nvSpPr>
          <p:cNvPr id="22" name="Text 20"/>
          <p:cNvSpPr/>
          <p:nvPr/>
        </p:nvSpPr>
        <p:spPr>
          <a:xfrm>
            <a:off x="22352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m5</a:t>
            </a:r>
            <a:endParaRPr lang="en-US" sz="1600" dirty="0"/>
          </a:p>
        </p:txBody>
      </p:sp>
      <p:sp>
        <p:nvSpPr>
          <p:cNvPr id="23" name="Shape 21"/>
          <p:cNvSpPr/>
          <p:nvPr/>
        </p:nvSpPr>
        <p:spPr>
          <a:xfrm>
            <a:off x="2908300" y="2966641"/>
            <a:ext cx="609600" cy="609600"/>
          </a:xfrm>
          <a:prstGeom prst="roundRect">
            <a:avLst>
              <a:gd name="adj" fmla="val 8333"/>
            </a:avLst>
          </a:prstGeom>
          <a:solidFill>
            <a:srgbClr val="EBE8E3"/>
          </a:solidFill>
          <a:ln/>
        </p:spPr>
      </p:sp>
      <p:sp>
        <p:nvSpPr>
          <p:cNvPr id="24" name="Text 22"/>
          <p:cNvSpPr/>
          <p:nvPr/>
        </p:nvSpPr>
        <p:spPr>
          <a:xfrm>
            <a:off x="28829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m7</a:t>
            </a:r>
            <a:endParaRPr lang="en-US" sz="1600" dirty="0"/>
          </a:p>
        </p:txBody>
      </p:sp>
      <p:sp>
        <p:nvSpPr>
          <p:cNvPr id="25" name="Shape 23"/>
          <p:cNvSpPr/>
          <p:nvPr/>
        </p:nvSpPr>
        <p:spPr>
          <a:xfrm>
            <a:off x="3556000" y="2966641"/>
            <a:ext cx="609600" cy="609600"/>
          </a:xfrm>
          <a:prstGeom prst="roundRect">
            <a:avLst>
              <a:gd name="adj" fmla="val 8333"/>
            </a:avLst>
          </a:prstGeom>
          <a:solidFill>
            <a:srgbClr val="EBE8E3"/>
          </a:solidFill>
          <a:ln/>
        </p:spPr>
      </p:sp>
      <p:sp>
        <p:nvSpPr>
          <p:cNvPr id="26" name="Text 24"/>
          <p:cNvSpPr/>
          <p:nvPr/>
        </p:nvSpPr>
        <p:spPr>
          <a:xfrm>
            <a:off x="35306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1600" dirty="0">
                <a:solidFill>
                  <a:srgbClr val="3B3631"/>
                </a:solidFill>
                <a:latin typeface="Georgia" pitchFamily="34" charset="0"/>
                <a:ea typeface="Georgia" pitchFamily="34" charset="-122"/>
                <a:cs typeface="Georgia" pitchFamily="34" charset="-120"/>
              </a:rPr>
              <a:t>m6</a:t>
            </a:r>
            <a:endParaRPr lang="en-US" sz="1600" dirty="0"/>
          </a:p>
        </p:txBody>
      </p:sp>
      <p:sp>
        <p:nvSpPr>
          <p:cNvPr id="27" name="Text 25"/>
          <p:cNvSpPr/>
          <p:nvPr/>
        </p:nvSpPr>
        <p:spPr>
          <a:xfrm>
            <a:off x="4775200" y="1874441"/>
            <a:ext cx="680212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B3631"/>
                </a:solidFill>
                <a:latin typeface="Georgia" pitchFamily="34" charset="0"/>
                <a:ea typeface="Georgia" pitchFamily="34" charset="-122"/>
                <a:cs typeface="Georgia" pitchFamily="34" charset="-120"/>
              </a:rPr>
              <a:t>A truth table drawn as a grid.</a:t>
            </a:r>
            <a:r>
              <a:rPr lang="en-US" sz="1500" dirty="0">
                <a:solidFill>
                  <a:srgbClr val="3B3631"/>
                </a:solidFill>
                <a:latin typeface="Georgia" pitchFamily="34" charset="0"/>
                <a:ea typeface="Georgia" pitchFamily="34" charset="-122"/>
                <a:cs typeface="Georgia" pitchFamily="34" charset="-120"/>
              </a:rPr>
              <a:t> Each cell is one row: m5 is the row ABC = 101, so m5 = AB′C.</a:t>
            </a:r>
            <a:endParaRPr lang="en-US" sz="1500" dirty="0"/>
          </a:p>
        </p:txBody>
      </p:sp>
      <p:sp>
        <p:nvSpPr>
          <p:cNvPr id="28" name="Text 26"/>
          <p:cNvSpPr/>
          <p:nvPr/>
        </p:nvSpPr>
        <p:spPr>
          <a:xfrm>
            <a:off x="4775200" y="2604691"/>
            <a:ext cx="680212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B3631"/>
                </a:solidFill>
                <a:latin typeface="Georgia" pitchFamily="34" charset="0"/>
                <a:ea typeface="Georgia" pitchFamily="34" charset="-122"/>
                <a:cs typeface="Georgia" pitchFamily="34" charset="-120"/>
              </a:rPr>
              <a:t>Columns go 00, 01, 11, 10.</a:t>
            </a:r>
            <a:r>
              <a:rPr lang="en-US" sz="1500" dirty="0">
                <a:solidFill>
                  <a:srgbClr val="3B3631"/>
                </a:solidFill>
                <a:latin typeface="Georgia" pitchFamily="34" charset="0"/>
                <a:ea typeface="Georgia" pitchFamily="34" charset="-122"/>
                <a:cs typeface="Georgia" pitchFamily="34" charset="-120"/>
              </a:rPr>
              <a:t> Cells next to each other differ in one variable, so they merge by 14a. The left and right edges touch too.</a:t>
            </a:r>
            <a:endParaRPr lang="en-US" sz="1500" dirty="0"/>
          </a:p>
        </p:txBody>
      </p:sp>
      <p:sp>
        <p:nvSpPr>
          <p:cNvPr id="29" name="Text 27"/>
          <p:cNvSpPr/>
          <p:nvPr/>
        </p:nvSpPr>
        <p:spPr>
          <a:xfrm>
            <a:off x="4775200" y="3334941"/>
            <a:ext cx="680212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B3631"/>
                </a:solidFill>
                <a:latin typeface="Georgia" pitchFamily="34" charset="0"/>
                <a:ea typeface="Georgia" pitchFamily="34" charset="-122"/>
                <a:cs typeface="Georgia" pitchFamily="34" charset="-120"/>
              </a:rPr>
              <a:t>Circle the 1s</a:t>
            </a:r>
            <a:r>
              <a:rPr lang="en-US" sz="1500" dirty="0">
                <a:solidFill>
                  <a:srgbClr val="3B3631"/>
                </a:solidFill>
                <a:latin typeface="Georgia" pitchFamily="34" charset="0"/>
                <a:ea typeface="Georgia" pitchFamily="34" charset="-122"/>
                <a:cs typeface="Georgia" pitchFamily="34" charset="-120"/>
              </a:rPr>
              <a:t> in groups of 1, 2, 4 or 8, as large as possible. In each group, keep the variables that do not change.</a:t>
            </a:r>
            <a:endParaRPr lang="en-US" sz="1500" dirty="0"/>
          </a:p>
        </p:txBody>
      </p:sp>
      <p:sp>
        <p:nvSpPr>
          <p:cNvPr id="30" name="Text 28"/>
          <p:cNvSpPr/>
          <p:nvPr/>
        </p:nvSpPr>
        <p:spPr>
          <a:xfrm>
            <a:off x="4775200" y="4065191"/>
            <a:ext cx="680212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F = Σm(1, 3, 5) means F = 1 on rows 1, 3 and 5.</a:t>
            </a:r>
            <a:endParaRPr lang="en-US" sz="1500" dirty="0"/>
          </a:p>
        </p:txBody>
      </p:sp>
      <p:sp>
        <p:nvSpPr>
          <p:cNvPr id="31" name="Text 2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Example 1: a 3-variable map</a:t>
            </a:r>
            <a:endParaRPr lang="en-US" sz="3200" dirty="0"/>
          </a:p>
        </p:txBody>
      </p:sp>
      <p:sp>
        <p:nvSpPr>
          <p:cNvPr id="4" name="Text 2"/>
          <p:cNvSpPr/>
          <p:nvPr/>
        </p:nvSpPr>
        <p:spPr>
          <a:xfrm>
            <a:off x="812800" y="1874441"/>
            <a:ext cx="6906768" cy="3937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1F1B18"/>
                </a:solidFill>
                <a:latin typeface="Georgia" pitchFamily="34" charset="0"/>
                <a:ea typeface="Georgia" pitchFamily="34" charset="-122"/>
                <a:cs typeface="Georgia" pitchFamily="34" charset="-120"/>
              </a:rPr>
              <a:t>F = Σm(1, 3, 5, 6, 7)</a:t>
            </a:r>
            <a:endParaRPr lang="en-US" sz="2000" dirty="0"/>
          </a:p>
        </p:txBody>
      </p:sp>
      <p:sp>
        <p:nvSpPr>
          <p:cNvPr id="5" name="Text 3"/>
          <p:cNvSpPr/>
          <p:nvPr/>
        </p:nvSpPr>
        <p:spPr>
          <a:xfrm>
            <a:off x="812800" y="2420541"/>
            <a:ext cx="6906768" cy="1130300"/>
          </a:xfrm>
          <a:prstGeom prst="rect">
            <a:avLst/>
          </a:prstGeom>
          <a:noFill/>
          <a:ln/>
        </p:spPr>
        <p:txBody>
          <a:bodyPr wrap="square" lIns="0" tIns="0" rIns="0" bIns="0" rtlCol="0" anchor="t">
            <a:normAutofit/>
          </a:bodyPr>
          <a:lstStyle/>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Put a 1 in cells m1, m3, m5, m6 and m7.</a:t>
            </a:r>
            <a:endParaRPr lang="en-US" sz="1500" dirty="0"/>
          </a:p>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m1, m3, m5, m7 form a square. A and B change, C stays 1: the group is C.</a:t>
            </a:r>
            <a:endParaRPr lang="en-US" sz="1500" dirty="0"/>
          </a:p>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m6 is left. Pair it with m7: A = 1 and B = 1 stay, C changes: AB.</a:t>
            </a:r>
            <a:endParaRPr lang="en-US" sz="1500" dirty="0"/>
          </a:p>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OR the groups: F = C + AB.</a:t>
            </a:r>
            <a:endParaRPr lang="en-US" sz="1500" dirty="0"/>
          </a:p>
        </p:txBody>
      </p:sp>
      <p:sp>
        <p:nvSpPr>
          <p:cNvPr id="6" name="Text 4"/>
          <p:cNvSpPr/>
          <p:nvPr/>
        </p:nvSpPr>
        <p:spPr>
          <a:xfrm>
            <a:off x="8001000" y="1874441"/>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7" name="Text 5"/>
          <p:cNvSpPr/>
          <p:nvPr/>
        </p:nvSpPr>
        <p:spPr>
          <a:xfrm>
            <a:off x="88011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8" name="Text 6"/>
          <p:cNvSpPr/>
          <p:nvPr/>
        </p:nvSpPr>
        <p:spPr>
          <a:xfrm>
            <a:off x="94488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9" name="Text 7"/>
          <p:cNvSpPr/>
          <p:nvPr/>
        </p:nvSpPr>
        <p:spPr>
          <a:xfrm>
            <a:off x="100965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10" name="Text 8"/>
          <p:cNvSpPr/>
          <p:nvPr/>
        </p:nvSpPr>
        <p:spPr>
          <a:xfrm>
            <a:off x="107442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1" name="Text 9"/>
          <p:cNvSpPr/>
          <p:nvPr/>
        </p:nvSpPr>
        <p:spPr>
          <a:xfrm>
            <a:off x="8001000" y="23189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12" name="Shape 10"/>
          <p:cNvSpPr/>
          <p:nvPr/>
        </p:nvSpPr>
        <p:spPr>
          <a:xfrm>
            <a:off x="8826500" y="2318941"/>
            <a:ext cx="609600" cy="609600"/>
          </a:xfrm>
          <a:prstGeom prst="roundRect">
            <a:avLst>
              <a:gd name="adj" fmla="val 8333"/>
            </a:avLst>
          </a:prstGeom>
          <a:solidFill>
            <a:srgbClr val="EBE8E3"/>
          </a:solidFill>
          <a:ln/>
        </p:spPr>
      </p:sp>
      <p:sp>
        <p:nvSpPr>
          <p:cNvPr id="13" name="Text 11"/>
          <p:cNvSpPr/>
          <p:nvPr/>
        </p:nvSpPr>
        <p:spPr>
          <a:xfrm>
            <a:off x="88011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4" name="Shape 12"/>
          <p:cNvSpPr/>
          <p:nvPr/>
        </p:nvSpPr>
        <p:spPr>
          <a:xfrm>
            <a:off x="9474200" y="2318941"/>
            <a:ext cx="609600" cy="609600"/>
          </a:xfrm>
          <a:prstGeom prst="roundRect">
            <a:avLst>
              <a:gd name="adj" fmla="val 8333"/>
            </a:avLst>
          </a:prstGeom>
          <a:solidFill>
            <a:srgbClr val="EBE8E3"/>
          </a:solidFill>
          <a:ln/>
        </p:spPr>
      </p:sp>
      <p:sp>
        <p:nvSpPr>
          <p:cNvPr id="15" name="Text 13"/>
          <p:cNvSpPr/>
          <p:nvPr/>
        </p:nvSpPr>
        <p:spPr>
          <a:xfrm>
            <a:off x="94488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6" name="Shape 14"/>
          <p:cNvSpPr/>
          <p:nvPr/>
        </p:nvSpPr>
        <p:spPr>
          <a:xfrm>
            <a:off x="10121900" y="2318941"/>
            <a:ext cx="609600" cy="609600"/>
          </a:xfrm>
          <a:prstGeom prst="roundRect">
            <a:avLst>
              <a:gd name="adj" fmla="val 8333"/>
            </a:avLst>
          </a:prstGeom>
          <a:solidFill>
            <a:srgbClr val="EBE8E3"/>
          </a:solidFill>
          <a:ln/>
        </p:spPr>
      </p:sp>
      <p:sp>
        <p:nvSpPr>
          <p:cNvPr id="17" name="Text 15"/>
          <p:cNvSpPr/>
          <p:nvPr/>
        </p:nvSpPr>
        <p:spPr>
          <a:xfrm>
            <a:off x="100965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8" name="Shape 16"/>
          <p:cNvSpPr/>
          <p:nvPr/>
        </p:nvSpPr>
        <p:spPr>
          <a:xfrm>
            <a:off x="10769600" y="2318941"/>
            <a:ext cx="609600" cy="609600"/>
          </a:xfrm>
          <a:prstGeom prst="roundRect">
            <a:avLst>
              <a:gd name="adj" fmla="val 8333"/>
            </a:avLst>
          </a:prstGeom>
          <a:solidFill>
            <a:srgbClr val="EBE8E3"/>
          </a:solidFill>
          <a:ln/>
        </p:spPr>
      </p:sp>
      <p:sp>
        <p:nvSpPr>
          <p:cNvPr id="19" name="Text 17"/>
          <p:cNvSpPr/>
          <p:nvPr/>
        </p:nvSpPr>
        <p:spPr>
          <a:xfrm>
            <a:off x="107442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0" name="Text 18"/>
          <p:cNvSpPr/>
          <p:nvPr/>
        </p:nvSpPr>
        <p:spPr>
          <a:xfrm>
            <a:off x="8001000" y="29666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21" name="Shape 19"/>
          <p:cNvSpPr/>
          <p:nvPr/>
        </p:nvSpPr>
        <p:spPr>
          <a:xfrm>
            <a:off x="8826500" y="2966641"/>
            <a:ext cx="609600" cy="609600"/>
          </a:xfrm>
          <a:prstGeom prst="roundRect">
            <a:avLst>
              <a:gd name="adj" fmla="val 8333"/>
            </a:avLst>
          </a:prstGeom>
          <a:solidFill>
            <a:srgbClr val="EBE8E3"/>
          </a:solidFill>
          <a:ln/>
        </p:spPr>
      </p:sp>
      <p:sp>
        <p:nvSpPr>
          <p:cNvPr id="22" name="Text 20"/>
          <p:cNvSpPr/>
          <p:nvPr/>
        </p:nvSpPr>
        <p:spPr>
          <a:xfrm>
            <a:off x="88011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3" name="Shape 21"/>
          <p:cNvSpPr/>
          <p:nvPr/>
        </p:nvSpPr>
        <p:spPr>
          <a:xfrm>
            <a:off x="9474200" y="2966641"/>
            <a:ext cx="609600" cy="609600"/>
          </a:xfrm>
          <a:prstGeom prst="roundRect">
            <a:avLst>
              <a:gd name="adj" fmla="val 8333"/>
            </a:avLst>
          </a:prstGeom>
          <a:solidFill>
            <a:srgbClr val="EBE8E3"/>
          </a:solidFill>
          <a:ln/>
        </p:spPr>
      </p:sp>
      <p:sp>
        <p:nvSpPr>
          <p:cNvPr id="24" name="Text 22"/>
          <p:cNvSpPr/>
          <p:nvPr/>
        </p:nvSpPr>
        <p:spPr>
          <a:xfrm>
            <a:off x="94488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5" name="Shape 23"/>
          <p:cNvSpPr/>
          <p:nvPr/>
        </p:nvSpPr>
        <p:spPr>
          <a:xfrm>
            <a:off x="10121900" y="2966641"/>
            <a:ext cx="609600" cy="609600"/>
          </a:xfrm>
          <a:prstGeom prst="roundRect">
            <a:avLst>
              <a:gd name="adj" fmla="val 8333"/>
            </a:avLst>
          </a:prstGeom>
          <a:solidFill>
            <a:srgbClr val="EBE8E3"/>
          </a:solidFill>
          <a:ln/>
        </p:spPr>
      </p:sp>
      <p:sp>
        <p:nvSpPr>
          <p:cNvPr id="26" name="Text 24"/>
          <p:cNvSpPr/>
          <p:nvPr/>
        </p:nvSpPr>
        <p:spPr>
          <a:xfrm>
            <a:off x="100965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7" name="Shape 25"/>
          <p:cNvSpPr/>
          <p:nvPr/>
        </p:nvSpPr>
        <p:spPr>
          <a:xfrm>
            <a:off x="10769600" y="2966641"/>
            <a:ext cx="609600" cy="609600"/>
          </a:xfrm>
          <a:prstGeom prst="roundRect">
            <a:avLst>
              <a:gd name="adj" fmla="val 8333"/>
            </a:avLst>
          </a:prstGeom>
          <a:solidFill>
            <a:srgbClr val="EBE8E3"/>
          </a:solidFill>
          <a:ln/>
        </p:spPr>
      </p:sp>
      <p:sp>
        <p:nvSpPr>
          <p:cNvPr id="28" name="Text 26"/>
          <p:cNvSpPr/>
          <p:nvPr/>
        </p:nvSpPr>
        <p:spPr>
          <a:xfrm>
            <a:off x="107442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9" name="Shape 27"/>
          <p:cNvSpPr/>
          <p:nvPr/>
        </p:nvSpPr>
        <p:spPr>
          <a:xfrm>
            <a:off x="9426575" y="2271316"/>
            <a:ext cx="1352550" cy="1352550"/>
          </a:xfrm>
          <a:prstGeom prst="roundRect">
            <a:avLst>
              <a:gd name="adj" fmla="val 9155"/>
            </a:avLst>
          </a:prstGeom>
          <a:noFill/>
          <a:ln w="31750">
            <a:solidFill>
              <a:srgbClr val="A3292A"/>
            </a:solidFill>
            <a:prstDash val="solid"/>
          </a:ln>
        </p:spPr>
      </p:sp>
      <p:sp>
        <p:nvSpPr>
          <p:cNvPr id="30" name="Shape 28"/>
          <p:cNvSpPr/>
          <p:nvPr/>
        </p:nvSpPr>
        <p:spPr>
          <a:xfrm>
            <a:off x="10163175" y="3007916"/>
            <a:ext cx="1174750" cy="527050"/>
          </a:xfrm>
          <a:prstGeom prst="roundRect">
            <a:avLst>
              <a:gd name="adj" fmla="val 23494"/>
            </a:avLst>
          </a:prstGeom>
          <a:noFill/>
          <a:ln w="31750">
            <a:solidFill>
              <a:srgbClr val="1F5FA8"/>
            </a:solidFill>
            <a:prstDash val="dash"/>
          </a:ln>
        </p:spPr>
      </p:sp>
      <p:sp>
        <p:nvSpPr>
          <p:cNvPr id="31" name="Text 29"/>
          <p:cNvSpPr/>
          <p:nvPr/>
        </p:nvSpPr>
        <p:spPr>
          <a:xfrm>
            <a:off x="8026400" y="367784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A3292A"/>
                </a:solidFill>
                <a:latin typeface="Georgia" pitchFamily="34" charset="0"/>
                <a:ea typeface="Georgia" pitchFamily="34" charset="-122"/>
                <a:cs typeface="Georgia" pitchFamily="34" charset="-120"/>
              </a:rPr>
              <a:t>C</a:t>
            </a:r>
            <a:r>
              <a:rPr lang="en-US" sz="1400" dirty="0">
                <a:solidFill>
                  <a:srgbClr val="3B3631"/>
                </a:solidFill>
                <a:latin typeface="Georgia" pitchFamily="34" charset="0"/>
                <a:ea typeface="Georgia" pitchFamily="34" charset="-122"/>
                <a:cs typeface="Georgia" pitchFamily="34" charset="-120"/>
              </a:rPr>
              <a:t>: m1, m3, m5, m7</a:t>
            </a:r>
            <a:endParaRPr lang="en-US" sz="1400" dirty="0"/>
          </a:p>
        </p:txBody>
      </p:sp>
      <p:sp>
        <p:nvSpPr>
          <p:cNvPr id="32" name="Text 30"/>
          <p:cNvSpPr/>
          <p:nvPr/>
        </p:nvSpPr>
        <p:spPr>
          <a:xfrm>
            <a:off x="8026400" y="401945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5FA8"/>
                </a:solidFill>
                <a:latin typeface="Georgia" pitchFamily="34" charset="0"/>
                <a:ea typeface="Georgia" pitchFamily="34" charset="-122"/>
                <a:cs typeface="Georgia" pitchFamily="34" charset="-120"/>
              </a:rPr>
              <a:t>AB</a:t>
            </a:r>
            <a:r>
              <a:rPr lang="en-US" sz="1400" dirty="0">
                <a:solidFill>
                  <a:srgbClr val="3B3631"/>
                </a:solidFill>
                <a:latin typeface="Georgia" pitchFamily="34" charset="0"/>
                <a:ea typeface="Georgia" pitchFamily="34" charset="-122"/>
                <a:cs typeface="Georgia" pitchFamily="34" charset="-120"/>
              </a:rPr>
              <a:t>: m6, m7</a:t>
            </a:r>
            <a:endParaRPr lang="en-US" sz="1400" dirty="0"/>
          </a:p>
        </p:txBody>
      </p:sp>
      <p:sp>
        <p:nvSpPr>
          <p:cNvPr id="33" name="Text 3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34" name="Text 3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Example 2: a 4-variable map</a:t>
            </a:r>
            <a:endParaRPr lang="en-US" sz="3200" dirty="0"/>
          </a:p>
        </p:txBody>
      </p:sp>
      <p:sp>
        <p:nvSpPr>
          <p:cNvPr id="4" name="Text 2"/>
          <p:cNvSpPr/>
          <p:nvPr/>
        </p:nvSpPr>
        <p:spPr>
          <a:xfrm>
            <a:off x="812800" y="1874441"/>
            <a:ext cx="6906768"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1B18"/>
                </a:solidFill>
                <a:latin typeface="Georgia" pitchFamily="34" charset="0"/>
                <a:ea typeface="Georgia" pitchFamily="34" charset="-122"/>
                <a:cs typeface="Georgia" pitchFamily="34" charset="-120"/>
              </a:rPr>
              <a:t>F = Σm(0, 1, 2, 4, 5, 6, 8, 9, 12, 13, 14)</a:t>
            </a:r>
            <a:endParaRPr lang="en-US" sz="1500" dirty="0"/>
          </a:p>
        </p:txBody>
      </p:sp>
      <p:sp>
        <p:nvSpPr>
          <p:cNvPr id="5" name="Text 3"/>
          <p:cNvSpPr/>
          <p:nvPr/>
        </p:nvSpPr>
        <p:spPr>
          <a:xfrm>
            <a:off x="812800" y="2303066"/>
            <a:ext cx="6906768"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6F665D"/>
                </a:solidFill>
                <a:latin typeface="Georgia" pitchFamily="34" charset="0"/>
                <a:ea typeface="Georgia" pitchFamily="34" charset="-122"/>
                <a:cs typeface="Georgia" pitchFamily="34" charset="-120"/>
              </a:rPr>
              <a:t>Rows are AB and columns are CD, both in the order 00, 01, 11, 10. Top and bottom touch, left and right touch.</a:t>
            </a:r>
            <a:endParaRPr lang="en-US" sz="1500" dirty="0"/>
          </a:p>
        </p:txBody>
      </p:sp>
      <p:sp>
        <p:nvSpPr>
          <p:cNvPr id="6" name="Text 4"/>
          <p:cNvSpPr/>
          <p:nvPr/>
        </p:nvSpPr>
        <p:spPr>
          <a:xfrm>
            <a:off x="812800" y="3007916"/>
            <a:ext cx="6906768" cy="1406525"/>
          </a:xfrm>
          <a:prstGeom prst="rect">
            <a:avLst/>
          </a:prstGeom>
          <a:noFill/>
          <a:ln/>
        </p:spPr>
        <p:txBody>
          <a:bodyPr wrap="square" lIns="0" tIns="0" rIns="0" bIns="0" rtlCol="0" anchor="t">
            <a:normAutofit/>
          </a:bodyPr>
          <a:lstStyle/>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The first two columns are all 1s: a group of 8. Only C = 0 stays: C′.</a:t>
            </a:r>
            <a:endParaRPr lang="en-US" sz="1500" dirty="0"/>
          </a:p>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m2 and m6 are left. They join m0 and m4 across the edge: A = 0, D = 0: A′D′.</a:t>
            </a:r>
            <a:endParaRPr lang="en-US" sz="1500" dirty="0"/>
          </a:p>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m14 is left. It joins m4, m6, m12 across the edge: B = 1, D = 0: BD′.</a:t>
            </a:r>
            <a:endParaRPr lang="en-US" sz="1500" dirty="0"/>
          </a:p>
          <a:p>
            <a:pPr algn="l" marL="228600" indent="-228600">
              <a:lnSpc>
                <a:spcPts val="2175"/>
              </a:lnSpc>
              <a:buSzPct val="100000"/>
              <a:buFontTx/>
              <a:buAutoNum type="arabicPeriod" startAt="1"/>
            </a:pPr>
            <a:r>
              <a:rPr lang="en-US" sz="1500" dirty="0">
                <a:solidFill>
                  <a:srgbClr val="3B3631"/>
                </a:solidFill>
                <a:latin typeface="Georgia" pitchFamily="34" charset="0"/>
                <a:ea typeface="Georgia" pitchFamily="34" charset="-122"/>
                <a:cs typeface="Georgia" pitchFamily="34" charset="-120"/>
              </a:rPr>
              <a:t>F = C′ + A′D′ + BD′.</a:t>
            </a:r>
            <a:endParaRPr lang="en-US" sz="1500" dirty="0"/>
          </a:p>
        </p:txBody>
      </p:sp>
      <p:sp>
        <p:nvSpPr>
          <p:cNvPr id="7" name="Text 5"/>
          <p:cNvSpPr/>
          <p:nvPr/>
        </p:nvSpPr>
        <p:spPr>
          <a:xfrm>
            <a:off x="8001000" y="1874441"/>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AB \ CD</a:t>
            </a:r>
            <a:endParaRPr lang="en-US" sz="1200" dirty="0"/>
          </a:p>
        </p:txBody>
      </p:sp>
      <p:sp>
        <p:nvSpPr>
          <p:cNvPr id="8" name="Text 6"/>
          <p:cNvSpPr/>
          <p:nvPr/>
        </p:nvSpPr>
        <p:spPr>
          <a:xfrm>
            <a:off x="88011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9" name="Text 7"/>
          <p:cNvSpPr/>
          <p:nvPr/>
        </p:nvSpPr>
        <p:spPr>
          <a:xfrm>
            <a:off x="94488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10" name="Text 8"/>
          <p:cNvSpPr/>
          <p:nvPr/>
        </p:nvSpPr>
        <p:spPr>
          <a:xfrm>
            <a:off x="100965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11" name="Text 9"/>
          <p:cNvSpPr/>
          <p:nvPr/>
        </p:nvSpPr>
        <p:spPr>
          <a:xfrm>
            <a:off x="10744200" y="187444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2" name="Text 10"/>
          <p:cNvSpPr/>
          <p:nvPr/>
        </p:nvSpPr>
        <p:spPr>
          <a:xfrm>
            <a:off x="8001000" y="23189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13" name="Shape 11"/>
          <p:cNvSpPr/>
          <p:nvPr/>
        </p:nvSpPr>
        <p:spPr>
          <a:xfrm>
            <a:off x="8826500" y="2318941"/>
            <a:ext cx="609600" cy="609600"/>
          </a:xfrm>
          <a:prstGeom prst="roundRect">
            <a:avLst>
              <a:gd name="adj" fmla="val 8333"/>
            </a:avLst>
          </a:prstGeom>
          <a:solidFill>
            <a:srgbClr val="EBE8E3"/>
          </a:solidFill>
          <a:ln/>
        </p:spPr>
      </p:sp>
      <p:sp>
        <p:nvSpPr>
          <p:cNvPr id="14" name="Text 12"/>
          <p:cNvSpPr/>
          <p:nvPr/>
        </p:nvSpPr>
        <p:spPr>
          <a:xfrm>
            <a:off x="88011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5" name="Shape 13"/>
          <p:cNvSpPr/>
          <p:nvPr/>
        </p:nvSpPr>
        <p:spPr>
          <a:xfrm>
            <a:off x="9474200" y="2318941"/>
            <a:ext cx="609600" cy="609600"/>
          </a:xfrm>
          <a:prstGeom prst="roundRect">
            <a:avLst>
              <a:gd name="adj" fmla="val 8333"/>
            </a:avLst>
          </a:prstGeom>
          <a:solidFill>
            <a:srgbClr val="EBE8E3"/>
          </a:solidFill>
          <a:ln/>
        </p:spPr>
      </p:sp>
      <p:sp>
        <p:nvSpPr>
          <p:cNvPr id="16" name="Text 14"/>
          <p:cNvSpPr/>
          <p:nvPr/>
        </p:nvSpPr>
        <p:spPr>
          <a:xfrm>
            <a:off x="94488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7" name="Shape 15"/>
          <p:cNvSpPr/>
          <p:nvPr/>
        </p:nvSpPr>
        <p:spPr>
          <a:xfrm>
            <a:off x="10121900" y="2318941"/>
            <a:ext cx="609600" cy="609600"/>
          </a:xfrm>
          <a:prstGeom prst="roundRect">
            <a:avLst>
              <a:gd name="adj" fmla="val 8333"/>
            </a:avLst>
          </a:prstGeom>
          <a:solidFill>
            <a:srgbClr val="EBE8E3"/>
          </a:solidFill>
          <a:ln/>
        </p:spPr>
      </p:sp>
      <p:sp>
        <p:nvSpPr>
          <p:cNvPr id="18" name="Text 16"/>
          <p:cNvSpPr/>
          <p:nvPr/>
        </p:nvSpPr>
        <p:spPr>
          <a:xfrm>
            <a:off x="100965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9" name="Shape 17"/>
          <p:cNvSpPr/>
          <p:nvPr/>
        </p:nvSpPr>
        <p:spPr>
          <a:xfrm>
            <a:off x="10769600" y="2318941"/>
            <a:ext cx="609600" cy="609600"/>
          </a:xfrm>
          <a:prstGeom prst="roundRect">
            <a:avLst>
              <a:gd name="adj" fmla="val 8333"/>
            </a:avLst>
          </a:prstGeom>
          <a:solidFill>
            <a:srgbClr val="EBE8E3"/>
          </a:solidFill>
          <a:ln/>
        </p:spPr>
      </p:sp>
      <p:sp>
        <p:nvSpPr>
          <p:cNvPr id="20" name="Text 18"/>
          <p:cNvSpPr/>
          <p:nvPr/>
        </p:nvSpPr>
        <p:spPr>
          <a:xfrm>
            <a:off x="10744200" y="23189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1" name="Text 19"/>
          <p:cNvSpPr/>
          <p:nvPr/>
        </p:nvSpPr>
        <p:spPr>
          <a:xfrm>
            <a:off x="8001000" y="29666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22" name="Shape 20"/>
          <p:cNvSpPr/>
          <p:nvPr/>
        </p:nvSpPr>
        <p:spPr>
          <a:xfrm>
            <a:off x="8826500" y="2966641"/>
            <a:ext cx="609600" cy="609600"/>
          </a:xfrm>
          <a:prstGeom prst="roundRect">
            <a:avLst>
              <a:gd name="adj" fmla="val 8333"/>
            </a:avLst>
          </a:prstGeom>
          <a:solidFill>
            <a:srgbClr val="EBE8E3"/>
          </a:solidFill>
          <a:ln/>
        </p:spPr>
      </p:sp>
      <p:sp>
        <p:nvSpPr>
          <p:cNvPr id="23" name="Text 21"/>
          <p:cNvSpPr/>
          <p:nvPr/>
        </p:nvSpPr>
        <p:spPr>
          <a:xfrm>
            <a:off x="88011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4" name="Shape 22"/>
          <p:cNvSpPr/>
          <p:nvPr/>
        </p:nvSpPr>
        <p:spPr>
          <a:xfrm>
            <a:off x="9474200" y="2966641"/>
            <a:ext cx="609600" cy="609600"/>
          </a:xfrm>
          <a:prstGeom prst="roundRect">
            <a:avLst>
              <a:gd name="adj" fmla="val 8333"/>
            </a:avLst>
          </a:prstGeom>
          <a:solidFill>
            <a:srgbClr val="EBE8E3"/>
          </a:solidFill>
          <a:ln/>
        </p:spPr>
      </p:sp>
      <p:sp>
        <p:nvSpPr>
          <p:cNvPr id="25" name="Text 23"/>
          <p:cNvSpPr/>
          <p:nvPr/>
        </p:nvSpPr>
        <p:spPr>
          <a:xfrm>
            <a:off x="94488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6" name="Shape 24"/>
          <p:cNvSpPr/>
          <p:nvPr/>
        </p:nvSpPr>
        <p:spPr>
          <a:xfrm>
            <a:off x="10121900" y="2966641"/>
            <a:ext cx="609600" cy="609600"/>
          </a:xfrm>
          <a:prstGeom prst="roundRect">
            <a:avLst>
              <a:gd name="adj" fmla="val 8333"/>
            </a:avLst>
          </a:prstGeom>
          <a:solidFill>
            <a:srgbClr val="EBE8E3"/>
          </a:solidFill>
          <a:ln/>
        </p:spPr>
      </p:sp>
      <p:sp>
        <p:nvSpPr>
          <p:cNvPr id="27" name="Text 25"/>
          <p:cNvSpPr/>
          <p:nvPr/>
        </p:nvSpPr>
        <p:spPr>
          <a:xfrm>
            <a:off x="100965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8" name="Shape 26"/>
          <p:cNvSpPr/>
          <p:nvPr/>
        </p:nvSpPr>
        <p:spPr>
          <a:xfrm>
            <a:off x="10769600" y="2966641"/>
            <a:ext cx="609600" cy="609600"/>
          </a:xfrm>
          <a:prstGeom prst="roundRect">
            <a:avLst>
              <a:gd name="adj" fmla="val 8333"/>
            </a:avLst>
          </a:prstGeom>
          <a:solidFill>
            <a:srgbClr val="EBE8E3"/>
          </a:solidFill>
          <a:ln/>
        </p:spPr>
      </p:sp>
      <p:sp>
        <p:nvSpPr>
          <p:cNvPr id="29" name="Text 27"/>
          <p:cNvSpPr/>
          <p:nvPr/>
        </p:nvSpPr>
        <p:spPr>
          <a:xfrm>
            <a:off x="10744200" y="29666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30" name="Text 28"/>
          <p:cNvSpPr/>
          <p:nvPr/>
        </p:nvSpPr>
        <p:spPr>
          <a:xfrm>
            <a:off x="8001000" y="36143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31" name="Shape 29"/>
          <p:cNvSpPr/>
          <p:nvPr/>
        </p:nvSpPr>
        <p:spPr>
          <a:xfrm>
            <a:off x="8826500" y="3614341"/>
            <a:ext cx="609600" cy="609600"/>
          </a:xfrm>
          <a:prstGeom prst="roundRect">
            <a:avLst>
              <a:gd name="adj" fmla="val 8333"/>
            </a:avLst>
          </a:prstGeom>
          <a:solidFill>
            <a:srgbClr val="EBE8E3"/>
          </a:solidFill>
          <a:ln/>
        </p:spPr>
      </p:sp>
      <p:sp>
        <p:nvSpPr>
          <p:cNvPr id="32" name="Text 30"/>
          <p:cNvSpPr/>
          <p:nvPr/>
        </p:nvSpPr>
        <p:spPr>
          <a:xfrm>
            <a:off x="8801100" y="36143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33" name="Shape 31"/>
          <p:cNvSpPr/>
          <p:nvPr/>
        </p:nvSpPr>
        <p:spPr>
          <a:xfrm>
            <a:off x="9474200" y="3614341"/>
            <a:ext cx="609600" cy="609600"/>
          </a:xfrm>
          <a:prstGeom prst="roundRect">
            <a:avLst>
              <a:gd name="adj" fmla="val 8333"/>
            </a:avLst>
          </a:prstGeom>
          <a:solidFill>
            <a:srgbClr val="EBE8E3"/>
          </a:solidFill>
          <a:ln/>
        </p:spPr>
      </p:sp>
      <p:sp>
        <p:nvSpPr>
          <p:cNvPr id="34" name="Text 32"/>
          <p:cNvSpPr/>
          <p:nvPr/>
        </p:nvSpPr>
        <p:spPr>
          <a:xfrm>
            <a:off x="9448800" y="36143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35" name="Shape 33"/>
          <p:cNvSpPr/>
          <p:nvPr/>
        </p:nvSpPr>
        <p:spPr>
          <a:xfrm>
            <a:off x="10121900" y="3614341"/>
            <a:ext cx="609600" cy="609600"/>
          </a:xfrm>
          <a:prstGeom prst="roundRect">
            <a:avLst>
              <a:gd name="adj" fmla="val 8333"/>
            </a:avLst>
          </a:prstGeom>
          <a:solidFill>
            <a:srgbClr val="EBE8E3"/>
          </a:solidFill>
          <a:ln/>
        </p:spPr>
      </p:sp>
      <p:sp>
        <p:nvSpPr>
          <p:cNvPr id="36" name="Text 34"/>
          <p:cNvSpPr/>
          <p:nvPr/>
        </p:nvSpPr>
        <p:spPr>
          <a:xfrm>
            <a:off x="10096500" y="36143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37" name="Shape 35"/>
          <p:cNvSpPr/>
          <p:nvPr/>
        </p:nvSpPr>
        <p:spPr>
          <a:xfrm>
            <a:off x="10769600" y="3614341"/>
            <a:ext cx="609600" cy="609600"/>
          </a:xfrm>
          <a:prstGeom prst="roundRect">
            <a:avLst>
              <a:gd name="adj" fmla="val 8333"/>
            </a:avLst>
          </a:prstGeom>
          <a:solidFill>
            <a:srgbClr val="EBE8E3"/>
          </a:solidFill>
          <a:ln/>
        </p:spPr>
      </p:sp>
      <p:sp>
        <p:nvSpPr>
          <p:cNvPr id="38" name="Text 36"/>
          <p:cNvSpPr/>
          <p:nvPr/>
        </p:nvSpPr>
        <p:spPr>
          <a:xfrm>
            <a:off x="10744200" y="36143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39" name="Text 37"/>
          <p:cNvSpPr/>
          <p:nvPr/>
        </p:nvSpPr>
        <p:spPr>
          <a:xfrm>
            <a:off x="8001000" y="426204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40" name="Shape 38"/>
          <p:cNvSpPr/>
          <p:nvPr/>
        </p:nvSpPr>
        <p:spPr>
          <a:xfrm>
            <a:off x="8826500" y="4262041"/>
            <a:ext cx="609600" cy="609600"/>
          </a:xfrm>
          <a:prstGeom prst="roundRect">
            <a:avLst>
              <a:gd name="adj" fmla="val 8333"/>
            </a:avLst>
          </a:prstGeom>
          <a:solidFill>
            <a:srgbClr val="EBE8E3"/>
          </a:solidFill>
          <a:ln/>
        </p:spPr>
      </p:sp>
      <p:sp>
        <p:nvSpPr>
          <p:cNvPr id="41" name="Text 39"/>
          <p:cNvSpPr/>
          <p:nvPr/>
        </p:nvSpPr>
        <p:spPr>
          <a:xfrm>
            <a:off x="8801100" y="42620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2" name="Shape 40"/>
          <p:cNvSpPr/>
          <p:nvPr/>
        </p:nvSpPr>
        <p:spPr>
          <a:xfrm>
            <a:off x="9474200" y="4262041"/>
            <a:ext cx="609600" cy="609600"/>
          </a:xfrm>
          <a:prstGeom prst="roundRect">
            <a:avLst>
              <a:gd name="adj" fmla="val 8333"/>
            </a:avLst>
          </a:prstGeom>
          <a:solidFill>
            <a:srgbClr val="EBE8E3"/>
          </a:solidFill>
          <a:ln/>
        </p:spPr>
      </p:sp>
      <p:sp>
        <p:nvSpPr>
          <p:cNvPr id="43" name="Text 41"/>
          <p:cNvSpPr/>
          <p:nvPr/>
        </p:nvSpPr>
        <p:spPr>
          <a:xfrm>
            <a:off x="9448800" y="42620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4" name="Shape 42"/>
          <p:cNvSpPr/>
          <p:nvPr/>
        </p:nvSpPr>
        <p:spPr>
          <a:xfrm>
            <a:off x="10121900" y="4262041"/>
            <a:ext cx="609600" cy="609600"/>
          </a:xfrm>
          <a:prstGeom prst="roundRect">
            <a:avLst>
              <a:gd name="adj" fmla="val 8333"/>
            </a:avLst>
          </a:prstGeom>
          <a:solidFill>
            <a:srgbClr val="EBE8E3"/>
          </a:solidFill>
          <a:ln/>
        </p:spPr>
      </p:sp>
      <p:sp>
        <p:nvSpPr>
          <p:cNvPr id="45" name="Text 43"/>
          <p:cNvSpPr/>
          <p:nvPr/>
        </p:nvSpPr>
        <p:spPr>
          <a:xfrm>
            <a:off x="10096500" y="42620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6" name="Shape 44"/>
          <p:cNvSpPr/>
          <p:nvPr/>
        </p:nvSpPr>
        <p:spPr>
          <a:xfrm>
            <a:off x="10769600" y="4262041"/>
            <a:ext cx="609600" cy="609600"/>
          </a:xfrm>
          <a:prstGeom prst="roundRect">
            <a:avLst>
              <a:gd name="adj" fmla="val 8333"/>
            </a:avLst>
          </a:prstGeom>
          <a:solidFill>
            <a:srgbClr val="EBE8E3"/>
          </a:solidFill>
          <a:ln/>
        </p:spPr>
      </p:sp>
      <p:sp>
        <p:nvSpPr>
          <p:cNvPr id="47" name="Text 45"/>
          <p:cNvSpPr/>
          <p:nvPr/>
        </p:nvSpPr>
        <p:spPr>
          <a:xfrm>
            <a:off x="10744200" y="426204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8" name="Shape 46"/>
          <p:cNvSpPr/>
          <p:nvPr/>
        </p:nvSpPr>
        <p:spPr>
          <a:xfrm>
            <a:off x="8766175" y="2258616"/>
            <a:ext cx="1377950" cy="2673350"/>
          </a:xfrm>
          <a:prstGeom prst="roundRect">
            <a:avLst>
              <a:gd name="adj" fmla="val 8986"/>
            </a:avLst>
          </a:prstGeom>
          <a:noFill/>
          <a:ln w="31750">
            <a:solidFill>
              <a:srgbClr val="A3292A"/>
            </a:solidFill>
            <a:prstDash val="solid"/>
          </a:ln>
        </p:spPr>
      </p:sp>
      <p:sp>
        <p:nvSpPr>
          <p:cNvPr id="49" name="Shape 47"/>
          <p:cNvSpPr/>
          <p:nvPr/>
        </p:nvSpPr>
        <p:spPr>
          <a:xfrm>
            <a:off x="8807450" y="2309416"/>
            <a:ext cx="654050" cy="0"/>
          </a:xfrm>
          <a:prstGeom prst="line">
            <a:avLst/>
          </a:prstGeom>
          <a:noFill/>
          <a:ln w="31750">
            <a:solidFill>
              <a:srgbClr val="1F5FA8"/>
            </a:solidFill>
            <a:prstDash val="dash"/>
          </a:ln>
        </p:spPr>
      </p:sp>
      <p:sp>
        <p:nvSpPr>
          <p:cNvPr id="50" name="Shape 48"/>
          <p:cNvSpPr/>
          <p:nvPr/>
        </p:nvSpPr>
        <p:spPr>
          <a:xfrm>
            <a:off x="9445625" y="2293541"/>
            <a:ext cx="0" cy="1308100"/>
          </a:xfrm>
          <a:prstGeom prst="line">
            <a:avLst/>
          </a:prstGeom>
          <a:noFill/>
          <a:ln w="31750">
            <a:solidFill>
              <a:srgbClr val="1F5FA8"/>
            </a:solidFill>
            <a:prstDash val="dash"/>
          </a:ln>
        </p:spPr>
      </p:sp>
      <p:sp>
        <p:nvSpPr>
          <p:cNvPr id="51" name="Shape 49"/>
          <p:cNvSpPr/>
          <p:nvPr/>
        </p:nvSpPr>
        <p:spPr>
          <a:xfrm>
            <a:off x="8807450" y="3585766"/>
            <a:ext cx="654050" cy="0"/>
          </a:xfrm>
          <a:prstGeom prst="line">
            <a:avLst/>
          </a:prstGeom>
          <a:noFill/>
          <a:ln w="31750">
            <a:solidFill>
              <a:srgbClr val="1F5FA8"/>
            </a:solidFill>
            <a:prstDash val="dash"/>
          </a:ln>
        </p:spPr>
      </p:sp>
      <p:sp>
        <p:nvSpPr>
          <p:cNvPr id="52" name="Shape 50"/>
          <p:cNvSpPr/>
          <p:nvPr/>
        </p:nvSpPr>
        <p:spPr>
          <a:xfrm>
            <a:off x="10744200" y="2309416"/>
            <a:ext cx="654050" cy="0"/>
          </a:xfrm>
          <a:prstGeom prst="line">
            <a:avLst/>
          </a:prstGeom>
          <a:noFill/>
          <a:ln w="31750">
            <a:solidFill>
              <a:srgbClr val="1F5FA8"/>
            </a:solidFill>
            <a:prstDash val="dash"/>
          </a:ln>
        </p:spPr>
      </p:sp>
      <p:sp>
        <p:nvSpPr>
          <p:cNvPr id="53" name="Shape 51"/>
          <p:cNvSpPr/>
          <p:nvPr/>
        </p:nvSpPr>
        <p:spPr>
          <a:xfrm>
            <a:off x="10744200" y="3585766"/>
            <a:ext cx="654050" cy="0"/>
          </a:xfrm>
          <a:prstGeom prst="line">
            <a:avLst/>
          </a:prstGeom>
          <a:noFill/>
          <a:ln w="31750">
            <a:solidFill>
              <a:srgbClr val="1F5FA8"/>
            </a:solidFill>
            <a:prstDash val="dash"/>
          </a:ln>
        </p:spPr>
      </p:sp>
      <p:sp>
        <p:nvSpPr>
          <p:cNvPr id="54" name="Shape 52"/>
          <p:cNvSpPr/>
          <p:nvPr/>
        </p:nvSpPr>
        <p:spPr>
          <a:xfrm>
            <a:off x="10760075" y="2293541"/>
            <a:ext cx="0" cy="1308100"/>
          </a:xfrm>
          <a:prstGeom prst="line">
            <a:avLst/>
          </a:prstGeom>
          <a:noFill/>
          <a:ln w="31750">
            <a:solidFill>
              <a:srgbClr val="1F5FA8"/>
            </a:solidFill>
            <a:prstDash val="dash"/>
          </a:ln>
        </p:spPr>
      </p:sp>
      <p:sp>
        <p:nvSpPr>
          <p:cNvPr id="55" name="Shape 53"/>
          <p:cNvSpPr/>
          <p:nvPr/>
        </p:nvSpPr>
        <p:spPr>
          <a:xfrm>
            <a:off x="8807450" y="3020616"/>
            <a:ext cx="590550" cy="0"/>
          </a:xfrm>
          <a:prstGeom prst="line">
            <a:avLst/>
          </a:prstGeom>
          <a:noFill/>
          <a:ln w="31750">
            <a:solidFill>
              <a:srgbClr val="9A5B0B"/>
            </a:solidFill>
            <a:prstDash val="sysDot"/>
          </a:ln>
        </p:spPr>
      </p:sp>
      <p:sp>
        <p:nvSpPr>
          <p:cNvPr id="56" name="Shape 54"/>
          <p:cNvSpPr/>
          <p:nvPr/>
        </p:nvSpPr>
        <p:spPr>
          <a:xfrm>
            <a:off x="9382125" y="3004741"/>
            <a:ext cx="0" cy="1181100"/>
          </a:xfrm>
          <a:prstGeom prst="line">
            <a:avLst/>
          </a:prstGeom>
          <a:noFill/>
          <a:ln w="31750">
            <a:solidFill>
              <a:srgbClr val="9A5B0B"/>
            </a:solidFill>
            <a:prstDash val="sysDot"/>
          </a:ln>
        </p:spPr>
      </p:sp>
      <p:sp>
        <p:nvSpPr>
          <p:cNvPr id="57" name="Shape 55"/>
          <p:cNvSpPr/>
          <p:nvPr/>
        </p:nvSpPr>
        <p:spPr>
          <a:xfrm>
            <a:off x="8807450" y="4169966"/>
            <a:ext cx="590550" cy="0"/>
          </a:xfrm>
          <a:prstGeom prst="line">
            <a:avLst/>
          </a:prstGeom>
          <a:noFill/>
          <a:ln w="31750">
            <a:solidFill>
              <a:srgbClr val="9A5B0B"/>
            </a:solidFill>
            <a:prstDash val="sysDot"/>
          </a:ln>
        </p:spPr>
      </p:sp>
      <p:sp>
        <p:nvSpPr>
          <p:cNvPr id="58" name="Shape 56"/>
          <p:cNvSpPr/>
          <p:nvPr/>
        </p:nvSpPr>
        <p:spPr>
          <a:xfrm>
            <a:off x="10807700" y="3020616"/>
            <a:ext cx="590550" cy="0"/>
          </a:xfrm>
          <a:prstGeom prst="line">
            <a:avLst/>
          </a:prstGeom>
          <a:noFill/>
          <a:ln w="31750">
            <a:solidFill>
              <a:srgbClr val="9A5B0B"/>
            </a:solidFill>
            <a:prstDash val="sysDot"/>
          </a:ln>
        </p:spPr>
      </p:sp>
      <p:sp>
        <p:nvSpPr>
          <p:cNvPr id="59" name="Shape 57"/>
          <p:cNvSpPr/>
          <p:nvPr/>
        </p:nvSpPr>
        <p:spPr>
          <a:xfrm>
            <a:off x="10807700" y="4169966"/>
            <a:ext cx="590550" cy="0"/>
          </a:xfrm>
          <a:prstGeom prst="line">
            <a:avLst/>
          </a:prstGeom>
          <a:noFill/>
          <a:ln w="31750">
            <a:solidFill>
              <a:srgbClr val="9A5B0B"/>
            </a:solidFill>
            <a:prstDash val="sysDot"/>
          </a:ln>
        </p:spPr>
      </p:sp>
      <p:sp>
        <p:nvSpPr>
          <p:cNvPr id="60" name="Shape 58"/>
          <p:cNvSpPr/>
          <p:nvPr/>
        </p:nvSpPr>
        <p:spPr>
          <a:xfrm>
            <a:off x="10823575" y="3004741"/>
            <a:ext cx="0" cy="1181100"/>
          </a:xfrm>
          <a:prstGeom prst="line">
            <a:avLst/>
          </a:prstGeom>
          <a:noFill/>
          <a:ln w="31750">
            <a:solidFill>
              <a:srgbClr val="9A5B0B"/>
            </a:solidFill>
            <a:prstDash val="sysDot"/>
          </a:ln>
        </p:spPr>
      </p:sp>
      <p:sp>
        <p:nvSpPr>
          <p:cNvPr id="61" name="Text 5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62" name="Text 6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Example 3: don't cares</a:t>
            </a:r>
            <a:endParaRPr lang="en-US" sz="3200" dirty="0"/>
          </a:p>
        </p:txBody>
      </p:sp>
      <p:sp>
        <p:nvSpPr>
          <p:cNvPr id="4" name="Text 2"/>
          <p:cNvSpPr/>
          <p:nvPr/>
        </p:nvSpPr>
        <p:spPr>
          <a:xfrm>
            <a:off x="812800" y="1874441"/>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Some inputs never occur: a BCD digit stops at 9 (1001), so 1010 to 1111 never appear. Mark those cells X. Treat an X as 1 if it makes a group larger; otherwise ignore it.</a:t>
            </a:r>
            <a:endParaRPr lang="en-US" sz="1500" dirty="0"/>
          </a:p>
        </p:txBody>
      </p:sp>
      <p:sp>
        <p:nvSpPr>
          <p:cNvPr id="5" name="Text 3"/>
          <p:cNvSpPr/>
          <p:nvPr/>
        </p:nvSpPr>
        <p:spPr>
          <a:xfrm>
            <a:off x="812800" y="2731691"/>
            <a:ext cx="3453384"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1B18"/>
                </a:solidFill>
                <a:latin typeface="Georgia" pitchFamily="34" charset="0"/>
                <a:ea typeface="Georgia" pitchFamily="34" charset="-122"/>
                <a:cs typeface="Georgia" pitchFamily="34" charset="-120"/>
              </a:rPr>
              <a:t>F = Σm(1, 3), X's ignored</a:t>
            </a:r>
            <a:endParaRPr lang="en-US" sz="1500" dirty="0"/>
          </a:p>
        </p:txBody>
      </p:sp>
      <p:sp>
        <p:nvSpPr>
          <p:cNvPr id="6" name="Text 4"/>
          <p:cNvSpPr/>
          <p:nvPr/>
        </p:nvSpPr>
        <p:spPr>
          <a:xfrm>
            <a:off x="787400" y="3109516"/>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7" name="Text 5"/>
          <p:cNvSpPr/>
          <p:nvPr/>
        </p:nvSpPr>
        <p:spPr>
          <a:xfrm>
            <a:off x="15875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8" name="Text 6"/>
          <p:cNvSpPr/>
          <p:nvPr/>
        </p:nvSpPr>
        <p:spPr>
          <a:xfrm>
            <a:off x="22352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9" name="Text 7"/>
          <p:cNvSpPr/>
          <p:nvPr/>
        </p:nvSpPr>
        <p:spPr>
          <a:xfrm>
            <a:off x="28829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10" name="Text 8"/>
          <p:cNvSpPr/>
          <p:nvPr/>
        </p:nvSpPr>
        <p:spPr>
          <a:xfrm>
            <a:off x="35306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1" name="Text 9"/>
          <p:cNvSpPr/>
          <p:nvPr/>
        </p:nvSpPr>
        <p:spPr>
          <a:xfrm>
            <a:off x="787400" y="3554016"/>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12" name="Shape 10"/>
          <p:cNvSpPr/>
          <p:nvPr/>
        </p:nvSpPr>
        <p:spPr>
          <a:xfrm>
            <a:off x="1612900" y="3554016"/>
            <a:ext cx="609600" cy="609600"/>
          </a:xfrm>
          <a:prstGeom prst="roundRect">
            <a:avLst>
              <a:gd name="adj" fmla="val 8333"/>
            </a:avLst>
          </a:prstGeom>
          <a:solidFill>
            <a:srgbClr val="EBE8E3"/>
          </a:solidFill>
          <a:ln/>
        </p:spPr>
      </p:sp>
      <p:sp>
        <p:nvSpPr>
          <p:cNvPr id="13" name="Text 11"/>
          <p:cNvSpPr/>
          <p:nvPr/>
        </p:nvSpPr>
        <p:spPr>
          <a:xfrm>
            <a:off x="15875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4" name="Shape 12"/>
          <p:cNvSpPr/>
          <p:nvPr/>
        </p:nvSpPr>
        <p:spPr>
          <a:xfrm>
            <a:off x="2260600" y="3554016"/>
            <a:ext cx="609600" cy="609600"/>
          </a:xfrm>
          <a:prstGeom prst="roundRect">
            <a:avLst>
              <a:gd name="adj" fmla="val 8333"/>
            </a:avLst>
          </a:prstGeom>
          <a:solidFill>
            <a:srgbClr val="EBE8E3"/>
          </a:solidFill>
          <a:ln/>
        </p:spPr>
      </p:sp>
      <p:sp>
        <p:nvSpPr>
          <p:cNvPr id="15" name="Text 13"/>
          <p:cNvSpPr/>
          <p:nvPr/>
        </p:nvSpPr>
        <p:spPr>
          <a:xfrm>
            <a:off x="22352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6" name="Shape 14"/>
          <p:cNvSpPr/>
          <p:nvPr/>
        </p:nvSpPr>
        <p:spPr>
          <a:xfrm>
            <a:off x="2908300" y="3554016"/>
            <a:ext cx="609600" cy="609600"/>
          </a:xfrm>
          <a:prstGeom prst="roundRect">
            <a:avLst>
              <a:gd name="adj" fmla="val 8333"/>
            </a:avLst>
          </a:prstGeom>
          <a:solidFill>
            <a:srgbClr val="EBE8E3"/>
          </a:solidFill>
          <a:ln/>
        </p:spPr>
      </p:sp>
      <p:sp>
        <p:nvSpPr>
          <p:cNvPr id="17" name="Text 15"/>
          <p:cNvSpPr/>
          <p:nvPr/>
        </p:nvSpPr>
        <p:spPr>
          <a:xfrm>
            <a:off x="28829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8" name="Shape 16"/>
          <p:cNvSpPr/>
          <p:nvPr/>
        </p:nvSpPr>
        <p:spPr>
          <a:xfrm>
            <a:off x="3556000" y="3554016"/>
            <a:ext cx="609600" cy="609600"/>
          </a:xfrm>
          <a:prstGeom prst="roundRect">
            <a:avLst>
              <a:gd name="adj" fmla="val 8333"/>
            </a:avLst>
          </a:prstGeom>
          <a:solidFill>
            <a:srgbClr val="EBE8E3"/>
          </a:solidFill>
          <a:ln/>
        </p:spPr>
      </p:sp>
      <p:sp>
        <p:nvSpPr>
          <p:cNvPr id="19" name="Text 17"/>
          <p:cNvSpPr/>
          <p:nvPr/>
        </p:nvSpPr>
        <p:spPr>
          <a:xfrm>
            <a:off x="35306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0" name="Text 18"/>
          <p:cNvSpPr/>
          <p:nvPr/>
        </p:nvSpPr>
        <p:spPr>
          <a:xfrm>
            <a:off x="787400" y="4201716"/>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21" name="Shape 19"/>
          <p:cNvSpPr/>
          <p:nvPr/>
        </p:nvSpPr>
        <p:spPr>
          <a:xfrm>
            <a:off x="1612900" y="4201716"/>
            <a:ext cx="609600" cy="609600"/>
          </a:xfrm>
          <a:prstGeom prst="roundRect">
            <a:avLst>
              <a:gd name="adj" fmla="val 8333"/>
            </a:avLst>
          </a:prstGeom>
          <a:solidFill>
            <a:srgbClr val="EBE8E3"/>
          </a:solidFill>
          <a:ln/>
        </p:spPr>
      </p:sp>
      <p:sp>
        <p:nvSpPr>
          <p:cNvPr id="22" name="Text 20"/>
          <p:cNvSpPr/>
          <p:nvPr/>
        </p:nvSpPr>
        <p:spPr>
          <a:xfrm>
            <a:off x="15875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3" name="Shape 21"/>
          <p:cNvSpPr/>
          <p:nvPr/>
        </p:nvSpPr>
        <p:spPr>
          <a:xfrm>
            <a:off x="2260600" y="4201716"/>
            <a:ext cx="609600" cy="609600"/>
          </a:xfrm>
          <a:prstGeom prst="roundRect">
            <a:avLst>
              <a:gd name="adj" fmla="val 8333"/>
            </a:avLst>
          </a:prstGeom>
          <a:solidFill>
            <a:srgbClr val="EBE8E3"/>
          </a:solidFill>
          <a:ln/>
        </p:spPr>
      </p:sp>
      <p:sp>
        <p:nvSpPr>
          <p:cNvPr id="24" name="Text 22"/>
          <p:cNvSpPr/>
          <p:nvPr/>
        </p:nvSpPr>
        <p:spPr>
          <a:xfrm>
            <a:off x="22352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5" name="Shape 23"/>
          <p:cNvSpPr/>
          <p:nvPr/>
        </p:nvSpPr>
        <p:spPr>
          <a:xfrm>
            <a:off x="2908300" y="4201716"/>
            <a:ext cx="609600" cy="609600"/>
          </a:xfrm>
          <a:prstGeom prst="roundRect">
            <a:avLst>
              <a:gd name="adj" fmla="val 8333"/>
            </a:avLst>
          </a:prstGeom>
          <a:solidFill>
            <a:srgbClr val="EBE8E3"/>
          </a:solidFill>
          <a:ln/>
        </p:spPr>
      </p:sp>
      <p:sp>
        <p:nvSpPr>
          <p:cNvPr id="26" name="Text 24"/>
          <p:cNvSpPr/>
          <p:nvPr/>
        </p:nvSpPr>
        <p:spPr>
          <a:xfrm>
            <a:off x="28829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7" name="Shape 25"/>
          <p:cNvSpPr/>
          <p:nvPr/>
        </p:nvSpPr>
        <p:spPr>
          <a:xfrm>
            <a:off x="3556000" y="4201716"/>
            <a:ext cx="609600" cy="609600"/>
          </a:xfrm>
          <a:prstGeom prst="roundRect">
            <a:avLst>
              <a:gd name="adj" fmla="val 8333"/>
            </a:avLst>
          </a:prstGeom>
          <a:solidFill>
            <a:srgbClr val="EBE8E3"/>
          </a:solidFill>
          <a:ln/>
        </p:spPr>
      </p:sp>
      <p:sp>
        <p:nvSpPr>
          <p:cNvPr id="28" name="Text 26"/>
          <p:cNvSpPr/>
          <p:nvPr/>
        </p:nvSpPr>
        <p:spPr>
          <a:xfrm>
            <a:off x="35306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9" name="Shape 27"/>
          <p:cNvSpPr/>
          <p:nvPr/>
        </p:nvSpPr>
        <p:spPr>
          <a:xfrm>
            <a:off x="2238375" y="3531791"/>
            <a:ext cx="1301750" cy="654050"/>
          </a:xfrm>
          <a:prstGeom prst="roundRect">
            <a:avLst>
              <a:gd name="adj" fmla="val 18932"/>
            </a:avLst>
          </a:prstGeom>
          <a:noFill/>
          <a:ln w="31750">
            <a:solidFill>
              <a:srgbClr val="A3292A"/>
            </a:solidFill>
            <a:prstDash val="solid"/>
          </a:ln>
        </p:spPr>
      </p:sp>
      <p:sp>
        <p:nvSpPr>
          <p:cNvPr id="30" name="Text 28"/>
          <p:cNvSpPr/>
          <p:nvPr/>
        </p:nvSpPr>
        <p:spPr>
          <a:xfrm>
            <a:off x="812800" y="4912916"/>
            <a:ext cx="3453384" cy="3937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1F1B18"/>
                </a:solidFill>
                <a:latin typeface="Georgia" pitchFamily="34" charset="0"/>
                <a:ea typeface="Georgia" pitchFamily="34" charset="-122"/>
                <a:cs typeface="Georgia" pitchFamily="34" charset="-120"/>
              </a:rPr>
              <a:t>F = A′C</a:t>
            </a:r>
            <a:endParaRPr lang="en-US" sz="2000" dirty="0"/>
          </a:p>
        </p:txBody>
      </p:sp>
      <p:sp>
        <p:nvSpPr>
          <p:cNvPr id="31" name="Text 29"/>
          <p:cNvSpPr/>
          <p:nvPr/>
        </p:nvSpPr>
        <p:spPr>
          <a:xfrm>
            <a:off x="4927600" y="2731691"/>
            <a:ext cx="3453384"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1B18"/>
                </a:solidFill>
                <a:latin typeface="Georgia" pitchFamily="34" charset="0"/>
                <a:ea typeface="Georgia" pitchFamily="34" charset="-122"/>
                <a:cs typeface="Georgia" pitchFamily="34" charset="-120"/>
              </a:rPr>
              <a:t>F = Σm(1, 3) + d(5, 7)</a:t>
            </a:r>
            <a:endParaRPr lang="en-US" sz="1500" dirty="0"/>
          </a:p>
        </p:txBody>
      </p:sp>
      <p:sp>
        <p:nvSpPr>
          <p:cNvPr id="32" name="Text 30"/>
          <p:cNvSpPr/>
          <p:nvPr/>
        </p:nvSpPr>
        <p:spPr>
          <a:xfrm>
            <a:off x="4902200" y="3109516"/>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33" name="Text 31"/>
          <p:cNvSpPr/>
          <p:nvPr/>
        </p:nvSpPr>
        <p:spPr>
          <a:xfrm>
            <a:off x="57023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34" name="Text 32"/>
          <p:cNvSpPr/>
          <p:nvPr/>
        </p:nvSpPr>
        <p:spPr>
          <a:xfrm>
            <a:off x="63500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35" name="Text 33"/>
          <p:cNvSpPr/>
          <p:nvPr/>
        </p:nvSpPr>
        <p:spPr>
          <a:xfrm>
            <a:off x="69977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36" name="Text 34"/>
          <p:cNvSpPr/>
          <p:nvPr/>
        </p:nvSpPr>
        <p:spPr>
          <a:xfrm>
            <a:off x="7645400" y="3109516"/>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37" name="Text 35"/>
          <p:cNvSpPr/>
          <p:nvPr/>
        </p:nvSpPr>
        <p:spPr>
          <a:xfrm>
            <a:off x="4902200" y="3554016"/>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38" name="Shape 36"/>
          <p:cNvSpPr/>
          <p:nvPr/>
        </p:nvSpPr>
        <p:spPr>
          <a:xfrm>
            <a:off x="5727700" y="3554016"/>
            <a:ext cx="609600" cy="609600"/>
          </a:xfrm>
          <a:prstGeom prst="roundRect">
            <a:avLst>
              <a:gd name="adj" fmla="val 8333"/>
            </a:avLst>
          </a:prstGeom>
          <a:solidFill>
            <a:srgbClr val="EBE8E3"/>
          </a:solidFill>
          <a:ln/>
        </p:spPr>
      </p:sp>
      <p:sp>
        <p:nvSpPr>
          <p:cNvPr id="39" name="Text 37"/>
          <p:cNvSpPr/>
          <p:nvPr/>
        </p:nvSpPr>
        <p:spPr>
          <a:xfrm>
            <a:off x="57023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0" name="Shape 38"/>
          <p:cNvSpPr/>
          <p:nvPr/>
        </p:nvSpPr>
        <p:spPr>
          <a:xfrm>
            <a:off x="6375400" y="3554016"/>
            <a:ext cx="609600" cy="609600"/>
          </a:xfrm>
          <a:prstGeom prst="roundRect">
            <a:avLst>
              <a:gd name="adj" fmla="val 8333"/>
            </a:avLst>
          </a:prstGeom>
          <a:solidFill>
            <a:srgbClr val="EBE8E3"/>
          </a:solidFill>
          <a:ln/>
        </p:spPr>
      </p:sp>
      <p:sp>
        <p:nvSpPr>
          <p:cNvPr id="41" name="Text 39"/>
          <p:cNvSpPr/>
          <p:nvPr/>
        </p:nvSpPr>
        <p:spPr>
          <a:xfrm>
            <a:off x="63500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2" name="Shape 40"/>
          <p:cNvSpPr/>
          <p:nvPr/>
        </p:nvSpPr>
        <p:spPr>
          <a:xfrm>
            <a:off x="7023100" y="3554016"/>
            <a:ext cx="609600" cy="609600"/>
          </a:xfrm>
          <a:prstGeom prst="roundRect">
            <a:avLst>
              <a:gd name="adj" fmla="val 8333"/>
            </a:avLst>
          </a:prstGeom>
          <a:solidFill>
            <a:srgbClr val="EBE8E3"/>
          </a:solidFill>
          <a:ln/>
        </p:spPr>
      </p:sp>
      <p:sp>
        <p:nvSpPr>
          <p:cNvPr id="43" name="Text 41"/>
          <p:cNvSpPr/>
          <p:nvPr/>
        </p:nvSpPr>
        <p:spPr>
          <a:xfrm>
            <a:off x="69977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4" name="Shape 42"/>
          <p:cNvSpPr/>
          <p:nvPr/>
        </p:nvSpPr>
        <p:spPr>
          <a:xfrm>
            <a:off x="7670800" y="3554016"/>
            <a:ext cx="609600" cy="609600"/>
          </a:xfrm>
          <a:prstGeom prst="roundRect">
            <a:avLst>
              <a:gd name="adj" fmla="val 8333"/>
            </a:avLst>
          </a:prstGeom>
          <a:solidFill>
            <a:srgbClr val="EBE8E3"/>
          </a:solidFill>
          <a:ln/>
        </p:spPr>
      </p:sp>
      <p:sp>
        <p:nvSpPr>
          <p:cNvPr id="45" name="Text 43"/>
          <p:cNvSpPr/>
          <p:nvPr/>
        </p:nvSpPr>
        <p:spPr>
          <a:xfrm>
            <a:off x="7645400" y="35540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6" name="Text 44"/>
          <p:cNvSpPr/>
          <p:nvPr/>
        </p:nvSpPr>
        <p:spPr>
          <a:xfrm>
            <a:off x="4902200" y="4201716"/>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47" name="Shape 45"/>
          <p:cNvSpPr/>
          <p:nvPr/>
        </p:nvSpPr>
        <p:spPr>
          <a:xfrm>
            <a:off x="5727700" y="4201716"/>
            <a:ext cx="609600" cy="609600"/>
          </a:xfrm>
          <a:prstGeom prst="roundRect">
            <a:avLst>
              <a:gd name="adj" fmla="val 8333"/>
            </a:avLst>
          </a:prstGeom>
          <a:solidFill>
            <a:srgbClr val="EBE8E3"/>
          </a:solidFill>
          <a:ln/>
        </p:spPr>
      </p:sp>
      <p:sp>
        <p:nvSpPr>
          <p:cNvPr id="48" name="Text 46"/>
          <p:cNvSpPr/>
          <p:nvPr/>
        </p:nvSpPr>
        <p:spPr>
          <a:xfrm>
            <a:off x="57023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9" name="Shape 47"/>
          <p:cNvSpPr/>
          <p:nvPr/>
        </p:nvSpPr>
        <p:spPr>
          <a:xfrm>
            <a:off x="6375400" y="4201716"/>
            <a:ext cx="609600" cy="609600"/>
          </a:xfrm>
          <a:prstGeom prst="roundRect">
            <a:avLst>
              <a:gd name="adj" fmla="val 8333"/>
            </a:avLst>
          </a:prstGeom>
          <a:solidFill>
            <a:srgbClr val="EBE8E3"/>
          </a:solidFill>
          <a:ln/>
        </p:spPr>
      </p:sp>
      <p:sp>
        <p:nvSpPr>
          <p:cNvPr id="50" name="Text 48"/>
          <p:cNvSpPr/>
          <p:nvPr/>
        </p:nvSpPr>
        <p:spPr>
          <a:xfrm>
            <a:off x="63500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X</a:t>
            </a:r>
            <a:endParaRPr lang="en-US" sz="2000" dirty="0"/>
          </a:p>
        </p:txBody>
      </p:sp>
      <p:sp>
        <p:nvSpPr>
          <p:cNvPr id="51" name="Shape 49"/>
          <p:cNvSpPr/>
          <p:nvPr/>
        </p:nvSpPr>
        <p:spPr>
          <a:xfrm>
            <a:off x="7023100" y="4201716"/>
            <a:ext cx="609600" cy="609600"/>
          </a:xfrm>
          <a:prstGeom prst="roundRect">
            <a:avLst>
              <a:gd name="adj" fmla="val 8333"/>
            </a:avLst>
          </a:prstGeom>
          <a:solidFill>
            <a:srgbClr val="EBE8E3"/>
          </a:solidFill>
          <a:ln/>
        </p:spPr>
      </p:sp>
      <p:sp>
        <p:nvSpPr>
          <p:cNvPr id="52" name="Text 50"/>
          <p:cNvSpPr/>
          <p:nvPr/>
        </p:nvSpPr>
        <p:spPr>
          <a:xfrm>
            <a:off x="69977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X</a:t>
            </a:r>
            <a:endParaRPr lang="en-US" sz="2000" dirty="0"/>
          </a:p>
        </p:txBody>
      </p:sp>
      <p:sp>
        <p:nvSpPr>
          <p:cNvPr id="53" name="Shape 51"/>
          <p:cNvSpPr/>
          <p:nvPr/>
        </p:nvSpPr>
        <p:spPr>
          <a:xfrm>
            <a:off x="7670800" y="4201716"/>
            <a:ext cx="609600" cy="609600"/>
          </a:xfrm>
          <a:prstGeom prst="roundRect">
            <a:avLst>
              <a:gd name="adj" fmla="val 8333"/>
            </a:avLst>
          </a:prstGeom>
          <a:solidFill>
            <a:srgbClr val="EBE8E3"/>
          </a:solidFill>
          <a:ln/>
        </p:spPr>
      </p:sp>
      <p:sp>
        <p:nvSpPr>
          <p:cNvPr id="54" name="Text 52"/>
          <p:cNvSpPr/>
          <p:nvPr/>
        </p:nvSpPr>
        <p:spPr>
          <a:xfrm>
            <a:off x="7645400" y="4201716"/>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55" name="Shape 53"/>
          <p:cNvSpPr/>
          <p:nvPr/>
        </p:nvSpPr>
        <p:spPr>
          <a:xfrm>
            <a:off x="6353175" y="3531791"/>
            <a:ext cx="1301750" cy="1301750"/>
          </a:xfrm>
          <a:prstGeom prst="roundRect">
            <a:avLst>
              <a:gd name="adj" fmla="val 9512"/>
            </a:avLst>
          </a:prstGeom>
          <a:noFill/>
          <a:ln w="31750">
            <a:solidFill>
              <a:srgbClr val="A3292A"/>
            </a:solidFill>
            <a:prstDash val="solid"/>
          </a:ln>
        </p:spPr>
      </p:sp>
      <p:sp>
        <p:nvSpPr>
          <p:cNvPr id="56" name="Text 54"/>
          <p:cNvSpPr/>
          <p:nvPr/>
        </p:nvSpPr>
        <p:spPr>
          <a:xfrm>
            <a:off x="4927600" y="4912916"/>
            <a:ext cx="3453384" cy="3937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1F1B18"/>
                </a:solidFill>
                <a:latin typeface="Georgia" pitchFamily="34" charset="0"/>
                <a:ea typeface="Georgia" pitchFamily="34" charset="-122"/>
                <a:cs typeface="Georgia" pitchFamily="34" charset="-120"/>
              </a:rPr>
              <a:t>F = C</a:t>
            </a:r>
            <a:endParaRPr lang="en-US" sz="2000" dirty="0"/>
          </a:p>
        </p:txBody>
      </p:sp>
      <p:sp>
        <p:nvSpPr>
          <p:cNvPr id="57" name="Text 5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58" name="Text 5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8: 3-variable maps</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Fill in the map, circle the groups, and write the simplest SOP.</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Σm(3, 5, 6, 7)</a:t>
            </a:r>
            <a:r>
              <a:rPr lang="en-US" sz="2000" dirty="0">
                <a:solidFill>
                  <a:srgbClr val="6F665D"/>
                </a:solidFill>
                <a:latin typeface="Georgia" pitchFamily="34" charset="0"/>
                <a:ea typeface="Georgia" pitchFamily="34" charset="-122"/>
                <a:cs typeface="Georgia" pitchFamily="34" charset="-120"/>
              </a:rPr>
              <a:t>, the Type 7 example</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Σm(0, 1, 3)</a:t>
            </a:r>
            <a:r>
              <a:rPr lang="en-US" sz="2000" dirty="0">
                <a:solidFill>
                  <a:srgbClr val="6F665D"/>
                </a:solidFill>
                <a:latin typeface="Georgia" pitchFamily="34" charset="0"/>
                <a:ea typeface="Georgia" pitchFamily="34" charset="-122"/>
                <a:cs typeface="Georgia" pitchFamily="34" charset="-120"/>
              </a:rPr>
              <a:t>, Problem 7a</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Σm(0, 2, 4, 5, 6)</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8: answers</a:t>
            </a:r>
            <a:endParaRPr lang="en-US" sz="3200" dirty="0"/>
          </a:p>
        </p:txBody>
      </p:sp>
      <p:sp>
        <p:nvSpPr>
          <p:cNvPr id="4" name="Text 2"/>
          <p:cNvSpPr/>
          <p:nvPr/>
        </p:nvSpPr>
        <p:spPr>
          <a:xfrm>
            <a:off x="812800" y="1874441"/>
            <a:ext cx="3453384"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F1B18"/>
                </a:solidFill>
                <a:latin typeface="Georgia" pitchFamily="34" charset="0"/>
                <a:ea typeface="Georgia" pitchFamily="34" charset="-122"/>
                <a:cs typeface="Georgia" pitchFamily="34" charset="-120"/>
              </a:rPr>
              <a:t>a. Σm(3, 5, 6, 7)</a:t>
            </a:r>
            <a:endParaRPr lang="en-US" sz="1400" dirty="0"/>
          </a:p>
        </p:txBody>
      </p:sp>
      <p:sp>
        <p:nvSpPr>
          <p:cNvPr id="5" name="Text 3"/>
          <p:cNvSpPr/>
          <p:nvPr/>
        </p:nvSpPr>
        <p:spPr>
          <a:xfrm>
            <a:off x="787400" y="2183011"/>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6" name="Text 4"/>
          <p:cNvSpPr/>
          <p:nvPr/>
        </p:nvSpPr>
        <p:spPr>
          <a:xfrm>
            <a:off x="15875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7" name="Text 5"/>
          <p:cNvSpPr/>
          <p:nvPr/>
        </p:nvSpPr>
        <p:spPr>
          <a:xfrm>
            <a:off x="22352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28829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9" name="Text 7"/>
          <p:cNvSpPr/>
          <p:nvPr/>
        </p:nvSpPr>
        <p:spPr>
          <a:xfrm>
            <a:off x="35306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0" name="Text 8"/>
          <p:cNvSpPr/>
          <p:nvPr/>
        </p:nvSpPr>
        <p:spPr>
          <a:xfrm>
            <a:off x="787400" y="262751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11" name="Shape 9"/>
          <p:cNvSpPr/>
          <p:nvPr/>
        </p:nvSpPr>
        <p:spPr>
          <a:xfrm>
            <a:off x="1612900" y="2627511"/>
            <a:ext cx="609600" cy="609600"/>
          </a:xfrm>
          <a:prstGeom prst="roundRect">
            <a:avLst>
              <a:gd name="adj" fmla="val 8333"/>
            </a:avLst>
          </a:prstGeom>
          <a:solidFill>
            <a:srgbClr val="EBE8E3"/>
          </a:solidFill>
          <a:ln/>
        </p:spPr>
      </p:sp>
      <p:sp>
        <p:nvSpPr>
          <p:cNvPr id="12" name="Text 10"/>
          <p:cNvSpPr/>
          <p:nvPr/>
        </p:nvSpPr>
        <p:spPr>
          <a:xfrm>
            <a:off x="15875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3" name="Shape 11"/>
          <p:cNvSpPr/>
          <p:nvPr/>
        </p:nvSpPr>
        <p:spPr>
          <a:xfrm>
            <a:off x="2260600" y="2627511"/>
            <a:ext cx="609600" cy="609600"/>
          </a:xfrm>
          <a:prstGeom prst="roundRect">
            <a:avLst>
              <a:gd name="adj" fmla="val 8333"/>
            </a:avLst>
          </a:prstGeom>
          <a:solidFill>
            <a:srgbClr val="EBE8E3"/>
          </a:solidFill>
          <a:ln/>
        </p:spPr>
      </p:sp>
      <p:sp>
        <p:nvSpPr>
          <p:cNvPr id="14" name="Text 12"/>
          <p:cNvSpPr/>
          <p:nvPr/>
        </p:nvSpPr>
        <p:spPr>
          <a:xfrm>
            <a:off x="22352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5" name="Shape 13"/>
          <p:cNvSpPr/>
          <p:nvPr/>
        </p:nvSpPr>
        <p:spPr>
          <a:xfrm>
            <a:off x="2908300" y="2627511"/>
            <a:ext cx="609600" cy="609600"/>
          </a:xfrm>
          <a:prstGeom prst="roundRect">
            <a:avLst>
              <a:gd name="adj" fmla="val 8333"/>
            </a:avLst>
          </a:prstGeom>
          <a:solidFill>
            <a:srgbClr val="EBE8E3"/>
          </a:solidFill>
          <a:ln/>
        </p:spPr>
      </p:sp>
      <p:sp>
        <p:nvSpPr>
          <p:cNvPr id="16" name="Text 14"/>
          <p:cNvSpPr/>
          <p:nvPr/>
        </p:nvSpPr>
        <p:spPr>
          <a:xfrm>
            <a:off x="28829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7" name="Shape 15"/>
          <p:cNvSpPr/>
          <p:nvPr/>
        </p:nvSpPr>
        <p:spPr>
          <a:xfrm>
            <a:off x="3556000" y="2627511"/>
            <a:ext cx="609600" cy="609600"/>
          </a:xfrm>
          <a:prstGeom prst="roundRect">
            <a:avLst>
              <a:gd name="adj" fmla="val 8333"/>
            </a:avLst>
          </a:prstGeom>
          <a:solidFill>
            <a:srgbClr val="EBE8E3"/>
          </a:solidFill>
          <a:ln/>
        </p:spPr>
      </p:sp>
      <p:sp>
        <p:nvSpPr>
          <p:cNvPr id="18" name="Text 16"/>
          <p:cNvSpPr/>
          <p:nvPr/>
        </p:nvSpPr>
        <p:spPr>
          <a:xfrm>
            <a:off x="35306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9" name="Text 17"/>
          <p:cNvSpPr/>
          <p:nvPr/>
        </p:nvSpPr>
        <p:spPr>
          <a:xfrm>
            <a:off x="787400" y="327521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20" name="Shape 18"/>
          <p:cNvSpPr/>
          <p:nvPr/>
        </p:nvSpPr>
        <p:spPr>
          <a:xfrm>
            <a:off x="1612900" y="3275211"/>
            <a:ext cx="609600" cy="609600"/>
          </a:xfrm>
          <a:prstGeom prst="roundRect">
            <a:avLst>
              <a:gd name="adj" fmla="val 8333"/>
            </a:avLst>
          </a:prstGeom>
          <a:solidFill>
            <a:srgbClr val="EBE8E3"/>
          </a:solidFill>
          <a:ln/>
        </p:spPr>
      </p:sp>
      <p:sp>
        <p:nvSpPr>
          <p:cNvPr id="21" name="Text 19"/>
          <p:cNvSpPr/>
          <p:nvPr/>
        </p:nvSpPr>
        <p:spPr>
          <a:xfrm>
            <a:off x="15875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2" name="Shape 20"/>
          <p:cNvSpPr/>
          <p:nvPr/>
        </p:nvSpPr>
        <p:spPr>
          <a:xfrm>
            <a:off x="2260600" y="3275211"/>
            <a:ext cx="609600" cy="609600"/>
          </a:xfrm>
          <a:prstGeom prst="roundRect">
            <a:avLst>
              <a:gd name="adj" fmla="val 8333"/>
            </a:avLst>
          </a:prstGeom>
          <a:solidFill>
            <a:srgbClr val="EBE8E3"/>
          </a:solidFill>
          <a:ln/>
        </p:spPr>
      </p:sp>
      <p:sp>
        <p:nvSpPr>
          <p:cNvPr id="23" name="Text 21"/>
          <p:cNvSpPr/>
          <p:nvPr/>
        </p:nvSpPr>
        <p:spPr>
          <a:xfrm>
            <a:off x="22352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4" name="Shape 22"/>
          <p:cNvSpPr/>
          <p:nvPr/>
        </p:nvSpPr>
        <p:spPr>
          <a:xfrm>
            <a:off x="2908300" y="3275211"/>
            <a:ext cx="609600" cy="609600"/>
          </a:xfrm>
          <a:prstGeom prst="roundRect">
            <a:avLst>
              <a:gd name="adj" fmla="val 8333"/>
            </a:avLst>
          </a:prstGeom>
          <a:solidFill>
            <a:srgbClr val="EBE8E3"/>
          </a:solidFill>
          <a:ln/>
        </p:spPr>
      </p:sp>
      <p:sp>
        <p:nvSpPr>
          <p:cNvPr id="25" name="Text 23"/>
          <p:cNvSpPr/>
          <p:nvPr/>
        </p:nvSpPr>
        <p:spPr>
          <a:xfrm>
            <a:off x="28829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6" name="Shape 24"/>
          <p:cNvSpPr/>
          <p:nvPr/>
        </p:nvSpPr>
        <p:spPr>
          <a:xfrm>
            <a:off x="3556000" y="3275211"/>
            <a:ext cx="609600" cy="609600"/>
          </a:xfrm>
          <a:prstGeom prst="roundRect">
            <a:avLst>
              <a:gd name="adj" fmla="val 8333"/>
            </a:avLst>
          </a:prstGeom>
          <a:solidFill>
            <a:srgbClr val="EBE8E3"/>
          </a:solidFill>
          <a:ln/>
        </p:spPr>
      </p:sp>
      <p:sp>
        <p:nvSpPr>
          <p:cNvPr id="27" name="Text 25"/>
          <p:cNvSpPr/>
          <p:nvPr/>
        </p:nvSpPr>
        <p:spPr>
          <a:xfrm>
            <a:off x="35306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8" name="Shape 26"/>
          <p:cNvSpPr/>
          <p:nvPr/>
        </p:nvSpPr>
        <p:spPr>
          <a:xfrm>
            <a:off x="2860675" y="2579886"/>
            <a:ext cx="704850" cy="1352550"/>
          </a:xfrm>
          <a:prstGeom prst="roundRect">
            <a:avLst>
              <a:gd name="adj" fmla="val 17568"/>
            </a:avLst>
          </a:prstGeom>
          <a:noFill/>
          <a:ln w="31750">
            <a:solidFill>
              <a:srgbClr val="A3292A"/>
            </a:solidFill>
            <a:prstDash val="solid"/>
          </a:ln>
        </p:spPr>
      </p:sp>
      <p:sp>
        <p:nvSpPr>
          <p:cNvPr id="29" name="Shape 27"/>
          <p:cNvSpPr/>
          <p:nvPr/>
        </p:nvSpPr>
        <p:spPr>
          <a:xfrm>
            <a:off x="2263775" y="3278386"/>
            <a:ext cx="1250950" cy="603250"/>
          </a:xfrm>
          <a:prstGeom prst="roundRect">
            <a:avLst>
              <a:gd name="adj" fmla="val 20526"/>
            </a:avLst>
          </a:prstGeom>
          <a:noFill/>
          <a:ln w="31750">
            <a:solidFill>
              <a:srgbClr val="1F5FA8"/>
            </a:solidFill>
            <a:prstDash val="dash"/>
          </a:ln>
        </p:spPr>
      </p:sp>
      <p:sp>
        <p:nvSpPr>
          <p:cNvPr id="30" name="Shape 28"/>
          <p:cNvSpPr/>
          <p:nvPr/>
        </p:nvSpPr>
        <p:spPr>
          <a:xfrm>
            <a:off x="2962275" y="3329186"/>
            <a:ext cx="1149350" cy="501650"/>
          </a:xfrm>
          <a:prstGeom prst="roundRect">
            <a:avLst>
              <a:gd name="adj" fmla="val 24684"/>
            </a:avLst>
          </a:prstGeom>
          <a:noFill/>
          <a:ln w="31750">
            <a:solidFill>
              <a:srgbClr val="9A5B0B"/>
            </a:solidFill>
            <a:prstDash val="sysDot"/>
          </a:ln>
        </p:spPr>
      </p:sp>
      <p:sp>
        <p:nvSpPr>
          <p:cNvPr id="31" name="Text 29"/>
          <p:cNvSpPr/>
          <p:nvPr/>
        </p:nvSpPr>
        <p:spPr>
          <a:xfrm>
            <a:off x="812800" y="393561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A3292A"/>
                </a:solidFill>
                <a:latin typeface="Georgia" pitchFamily="34" charset="0"/>
                <a:ea typeface="Georgia" pitchFamily="34" charset="-122"/>
                <a:cs typeface="Georgia" pitchFamily="34" charset="-120"/>
              </a:rPr>
              <a:t>BC</a:t>
            </a:r>
            <a:r>
              <a:rPr lang="en-US" sz="1400" dirty="0">
                <a:solidFill>
                  <a:srgbClr val="3B3631"/>
                </a:solidFill>
                <a:latin typeface="Georgia" pitchFamily="34" charset="0"/>
                <a:ea typeface="Georgia" pitchFamily="34" charset="-122"/>
                <a:cs typeface="Georgia" pitchFamily="34" charset="-120"/>
              </a:rPr>
              <a:t>: m3, m7 (A changes)</a:t>
            </a:r>
            <a:endParaRPr lang="en-US" sz="1400" dirty="0"/>
          </a:p>
        </p:txBody>
      </p:sp>
      <p:sp>
        <p:nvSpPr>
          <p:cNvPr id="32" name="Text 30"/>
          <p:cNvSpPr/>
          <p:nvPr/>
        </p:nvSpPr>
        <p:spPr>
          <a:xfrm>
            <a:off x="812800" y="422642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5FA8"/>
                </a:solidFill>
                <a:latin typeface="Georgia" pitchFamily="34" charset="0"/>
                <a:ea typeface="Georgia" pitchFamily="34" charset="-122"/>
                <a:cs typeface="Georgia" pitchFamily="34" charset="-120"/>
              </a:rPr>
              <a:t>AC</a:t>
            </a:r>
            <a:r>
              <a:rPr lang="en-US" sz="1400" dirty="0">
                <a:solidFill>
                  <a:srgbClr val="3B3631"/>
                </a:solidFill>
                <a:latin typeface="Georgia" pitchFamily="34" charset="0"/>
                <a:ea typeface="Georgia" pitchFamily="34" charset="-122"/>
                <a:cs typeface="Georgia" pitchFamily="34" charset="-120"/>
              </a:rPr>
              <a:t>: m5, m7 (B changes)</a:t>
            </a:r>
            <a:endParaRPr lang="en-US" sz="1400" dirty="0"/>
          </a:p>
        </p:txBody>
      </p:sp>
      <p:sp>
        <p:nvSpPr>
          <p:cNvPr id="33" name="Text 31"/>
          <p:cNvSpPr/>
          <p:nvPr/>
        </p:nvSpPr>
        <p:spPr>
          <a:xfrm>
            <a:off x="812800" y="451723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9A5B0B"/>
                </a:solidFill>
                <a:latin typeface="Georgia" pitchFamily="34" charset="0"/>
                <a:ea typeface="Georgia" pitchFamily="34" charset="-122"/>
                <a:cs typeface="Georgia" pitchFamily="34" charset="-120"/>
              </a:rPr>
              <a:t>AB</a:t>
            </a:r>
            <a:r>
              <a:rPr lang="en-US" sz="1400" dirty="0">
                <a:solidFill>
                  <a:srgbClr val="3B3631"/>
                </a:solidFill>
                <a:latin typeface="Georgia" pitchFamily="34" charset="0"/>
                <a:ea typeface="Georgia" pitchFamily="34" charset="-122"/>
                <a:cs typeface="Georgia" pitchFamily="34" charset="-120"/>
              </a:rPr>
              <a:t>: m6, m7 (C changes)</a:t>
            </a:r>
            <a:endParaRPr lang="en-US" sz="1400" dirty="0"/>
          </a:p>
        </p:txBody>
      </p:sp>
      <p:sp>
        <p:nvSpPr>
          <p:cNvPr id="34" name="Text 32"/>
          <p:cNvSpPr/>
          <p:nvPr/>
        </p:nvSpPr>
        <p:spPr>
          <a:xfrm>
            <a:off x="812800" y="480804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F = AB + BC + AC</a:t>
            </a:r>
            <a:endParaRPr lang="en-US" sz="1400" dirty="0"/>
          </a:p>
        </p:txBody>
      </p:sp>
      <p:sp>
        <p:nvSpPr>
          <p:cNvPr id="35" name="Text 33"/>
          <p:cNvSpPr/>
          <p:nvPr/>
        </p:nvSpPr>
        <p:spPr>
          <a:xfrm>
            <a:off x="4419600" y="1874441"/>
            <a:ext cx="3453384"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F1B18"/>
                </a:solidFill>
                <a:latin typeface="Georgia" pitchFamily="34" charset="0"/>
                <a:ea typeface="Georgia" pitchFamily="34" charset="-122"/>
                <a:cs typeface="Georgia" pitchFamily="34" charset="-120"/>
              </a:rPr>
              <a:t>b. Σm(0, 1, 3)</a:t>
            </a:r>
            <a:endParaRPr lang="en-US" sz="1400" dirty="0"/>
          </a:p>
        </p:txBody>
      </p:sp>
      <p:sp>
        <p:nvSpPr>
          <p:cNvPr id="36" name="Text 34"/>
          <p:cNvSpPr/>
          <p:nvPr/>
        </p:nvSpPr>
        <p:spPr>
          <a:xfrm>
            <a:off x="4394200" y="2183011"/>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37" name="Text 35"/>
          <p:cNvSpPr/>
          <p:nvPr/>
        </p:nvSpPr>
        <p:spPr>
          <a:xfrm>
            <a:off x="51943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38" name="Text 36"/>
          <p:cNvSpPr/>
          <p:nvPr/>
        </p:nvSpPr>
        <p:spPr>
          <a:xfrm>
            <a:off x="58420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39" name="Text 37"/>
          <p:cNvSpPr/>
          <p:nvPr/>
        </p:nvSpPr>
        <p:spPr>
          <a:xfrm>
            <a:off x="64897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40" name="Text 38"/>
          <p:cNvSpPr/>
          <p:nvPr/>
        </p:nvSpPr>
        <p:spPr>
          <a:xfrm>
            <a:off x="71374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41" name="Text 39"/>
          <p:cNvSpPr/>
          <p:nvPr/>
        </p:nvSpPr>
        <p:spPr>
          <a:xfrm>
            <a:off x="4394200" y="262751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42" name="Shape 40"/>
          <p:cNvSpPr/>
          <p:nvPr/>
        </p:nvSpPr>
        <p:spPr>
          <a:xfrm>
            <a:off x="5219700" y="2627511"/>
            <a:ext cx="609600" cy="609600"/>
          </a:xfrm>
          <a:prstGeom prst="roundRect">
            <a:avLst>
              <a:gd name="adj" fmla="val 8333"/>
            </a:avLst>
          </a:prstGeom>
          <a:solidFill>
            <a:srgbClr val="EBE8E3"/>
          </a:solidFill>
          <a:ln/>
        </p:spPr>
      </p:sp>
      <p:sp>
        <p:nvSpPr>
          <p:cNvPr id="43" name="Text 41"/>
          <p:cNvSpPr/>
          <p:nvPr/>
        </p:nvSpPr>
        <p:spPr>
          <a:xfrm>
            <a:off x="51943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4" name="Shape 42"/>
          <p:cNvSpPr/>
          <p:nvPr/>
        </p:nvSpPr>
        <p:spPr>
          <a:xfrm>
            <a:off x="5867400" y="2627511"/>
            <a:ext cx="609600" cy="609600"/>
          </a:xfrm>
          <a:prstGeom prst="roundRect">
            <a:avLst>
              <a:gd name="adj" fmla="val 8333"/>
            </a:avLst>
          </a:prstGeom>
          <a:solidFill>
            <a:srgbClr val="EBE8E3"/>
          </a:solidFill>
          <a:ln/>
        </p:spPr>
      </p:sp>
      <p:sp>
        <p:nvSpPr>
          <p:cNvPr id="45" name="Text 43"/>
          <p:cNvSpPr/>
          <p:nvPr/>
        </p:nvSpPr>
        <p:spPr>
          <a:xfrm>
            <a:off x="58420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6" name="Shape 44"/>
          <p:cNvSpPr/>
          <p:nvPr/>
        </p:nvSpPr>
        <p:spPr>
          <a:xfrm>
            <a:off x="6515100" y="2627511"/>
            <a:ext cx="609600" cy="609600"/>
          </a:xfrm>
          <a:prstGeom prst="roundRect">
            <a:avLst>
              <a:gd name="adj" fmla="val 8333"/>
            </a:avLst>
          </a:prstGeom>
          <a:solidFill>
            <a:srgbClr val="EBE8E3"/>
          </a:solidFill>
          <a:ln/>
        </p:spPr>
      </p:sp>
      <p:sp>
        <p:nvSpPr>
          <p:cNvPr id="47" name="Text 45"/>
          <p:cNvSpPr/>
          <p:nvPr/>
        </p:nvSpPr>
        <p:spPr>
          <a:xfrm>
            <a:off x="64897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8" name="Shape 46"/>
          <p:cNvSpPr/>
          <p:nvPr/>
        </p:nvSpPr>
        <p:spPr>
          <a:xfrm>
            <a:off x="7162800" y="2627511"/>
            <a:ext cx="609600" cy="609600"/>
          </a:xfrm>
          <a:prstGeom prst="roundRect">
            <a:avLst>
              <a:gd name="adj" fmla="val 8333"/>
            </a:avLst>
          </a:prstGeom>
          <a:solidFill>
            <a:srgbClr val="EBE8E3"/>
          </a:solidFill>
          <a:ln/>
        </p:spPr>
      </p:sp>
      <p:sp>
        <p:nvSpPr>
          <p:cNvPr id="49" name="Text 47"/>
          <p:cNvSpPr/>
          <p:nvPr/>
        </p:nvSpPr>
        <p:spPr>
          <a:xfrm>
            <a:off x="71374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50" name="Text 48"/>
          <p:cNvSpPr/>
          <p:nvPr/>
        </p:nvSpPr>
        <p:spPr>
          <a:xfrm>
            <a:off x="4394200" y="327521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51" name="Shape 49"/>
          <p:cNvSpPr/>
          <p:nvPr/>
        </p:nvSpPr>
        <p:spPr>
          <a:xfrm>
            <a:off x="5219700" y="3275211"/>
            <a:ext cx="609600" cy="609600"/>
          </a:xfrm>
          <a:prstGeom prst="roundRect">
            <a:avLst>
              <a:gd name="adj" fmla="val 8333"/>
            </a:avLst>
          </a:prstGeom>
          <a:solidFill>
            <a:srgbClr val="EBE8E3"/>
          </a:solidFill>
          <a:ln/>
        </p:spPr>
      </p:sp>
      <p:sp>
        <p:nvSpPr>
          <p:cNvPr id="52" name="Text 50"/>
          <p:cNvSpPr/>
          <p:nvPr/>
        </p:nvSpPr>
        <p:spPr>
          <a:xfrm>
            <a:off x="51943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53" name="Shape 51"/>
          <p:cNvSpPr/>
          <p:nvPr/>
        </p:nvSpPr>
        <p:spPr>
          <a:xfrm>
            <a:off x="5867400" y="3275211"/>
            <a:ext cx="609600" cy="609600"/>
          </a:xfrm>
          <a:prstGeom prst="roundRect">
            <a:avLst>
              <a:gd name="adj" fmla="val 8333"/>
            </a:avLst>
          </a:prstGeom>
          <a:solidFill>
            <a:srgbClr val="EBE8E3"/>
          </a:solidFill>
          <a:ln/>
        </p:spPr>
      </p:sp>
      <p:sp>
        <p:nvSpPr>
          <p:cNvPr id="54" name="Text 52"/>
          <p:cNvSpPr/>
          <p:nvPr/>
        </p:nvSpPr>
        <p:spPr>
          <a:xfrm>
            <a:off x="58420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55" name="Shape 53"/>
          <p:cNvSpPr/>
          <p:nvPr/>
        </p:nvSpPr>
        <p:spPr>
          <a:xfrm>
            <a:off x="6515100" y="3275211"/>
            <a:ext cx="609600" cy="609600"/>
          </a:xfrm>
          <a:prstGeom prst="roundRect">
            <a:avLst>
              <a:gd name="adj" fmla="val 8333"/>
            </a:avLst>
          </a:prstGeom>
          <a:solidFill>
            <a:srgbClr val="EBE8E3"/>
          </a:solidFill>
          <a:ln/>
        </p:spPr>
      </p:sp>
      <p:sp>
        <p:nvSpPr>
          <p:cNvPr id="56" name="Text 54"/>
          <p:cNvSpPr/>
          <p:nvPr/>
        </p:nvSpPr>
        <p:spPr>
          <a:xfrm>
            <a:off x="64897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57" name="Shape 55"/>
          <p:cNvSpPr/>
          <p:nvPr/>
        </p:nvSpPr>
        <p:spPr>
          <a:xfrm>
            <a:off x="7162800" y="3275211"/>
            <a:ext cx="609600" cy="609600"/>
          </a:xfrm>
          <a:prstGeom prst="roundRect">
            <a:avLst>
              <a:gd name="adj" fmla="val 8333"/>
            </a:avLst>
          </a:prstGeom>
          <a:solidFill>
            <a:srgbClr val="EBE8E3"/>
          </a:solidFill>
          <a:ln/>
        </p:spPr>
      </p:sp>
      <p:sp>
        <p:nvSpPr>
          <p:cNvPr id="58" name="Text 56"/>
          <p:cNvSpPr/>
          <p:nvPr/>
        </p:nvSpPr>
        <p:spPr>
          <a:xfrm>
            <a:off x="71374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59" name="Shape 57"/>
          <p:cNvSpPr/>
          <p:nvPr/>
        </p:nvSpPr>
        <p:spPr>
          <a:xfrm>
            <a:off x="5210175" y="2617986"/>
            <a:ext cx="1276350" cy="628650"/>
          </a:xfrm>
          <a:prstGeom prst="roundRect">
            <a:avLst>
              <a:gd name="adj" fmla="val 19697"/>
            </a:avLst>
          </a:prstGeom>
          <a:noFill/>
          <a:ln w="31750">
            <a:solidFill>
              <a:srgbClr val="A3292A"/>
            </a:solidFill>
            <a:prstDash val="solid"/>
          </a:ln>
        </p:spPr>
      </p:sp>
      <p:sp>
        <p:nvSpPr>
          <p:cNvPr id="60" name="Shape 58"/>
          <p:cNvSpPr/>
          <p:nvPr/>
        </p:nvSpPr>
        <p:spPr>
          <a:xfrm>
            <a:off x="5921375" y="2681486"/>
            <a:ext cx="1149350" cy="501650"/>
          </a:xfrm>
          <a:prstGeom prst="roundRect">
            <a:avLst>
              <a:gd name="adj" fmla="val 24684"/>
            </a:avLst>
          </a:prstGeom>
          <a:noFill/>
          <a:ln w="31750">
            <a:solidFill>
              <a:srgbClr val="1F5FA8"/>
            </a:solidFill>
            <a:prstDash val="dash"/>
          </a:ln>
        </p:spPr>
      </p:sp>
      <p:sp>
        <p:nvSpPr>
          <p:cNvPr id="61" name="Text 59"/>
          <p:cNvSpPr/>
          <p:nvPr/>
        </p:nvSpPr>
        <p:spPr>
          <a:xfrm>
            <a:off x="4419600" y="393561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A3292A"/>
                </a:solidFill>
                <a:latin typeface="Georgia" pitchFamily="34" charset="0"/>
                <a:ea typeface="Georgia" pitchFamily="34" charset="-122"/>
                <a:cs typeface="Georgia" pitchFamily="34" charset="-120"/>
              </a:rPr>
              <a:t>A′B′</a:t>
            </a:r>
            <a:r>
              <a:rPr lang="en-US" sz="1400" dirty="0">
                <a:solidFill>
                  <a:srgbClr val="3B3631"/>
                </a:solidFill>
                <a:latin typeface="Georgia" pitchFamily="34" charset="0"/>
                <a:ea typeface="Georgia" pitchFamily="34" charset="-122"/>
                <a:cs typeface="Georgia" pitchFamily="34" charset="-120"/>
              </a:rPr>
              <a:t>: m0, m1 (C changes)</a:t>
            </a:r>
            <a:endParaRPr lang="en-US" sz="1400" dirty="0"/>
          </a:p>
        </p:txBody>
      </p:sp>
      <p:sp>
        <p:nvSpPr>
          <p:cNvPr id="62" name="Text 60"/>
          <p:cNvSpPr/>
          <p:nvPr/>
        </p:nvSpPr>
        <p:spPr>
          <a:xfrm>
            <a:off x="4419600" y="422642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5FA8"/>
                </a:solidFill>
                <a:latin typeface="Georgia" pitchFamily="34" charset="0"/>
                <a:ea typeface="Georgia" pitchFamily="34" charset="-122"/>
                <a:cs typeface="Georgia" pitchFamily="34" charset="-120"/>
              </a:rPr>
              <a:t>A′C</a:t>
            </a:r>
            <a:r>
              <a:rPr lang="en-US" sz="1400" dirty="0">
                <a:solidFill>
                  <a:srgbClr val="3B3631"/>
                </a:solidFill>
                <a:latin typeface="Georgia" pitchFamily="34" charset="0"/>
                <a:ea typeface="Georgia" pitchFamily="34" charset="-122"/>
                <a:cs typeface="Georgia" pitchFamily="34" charset="-120"/>
              </a:rPr>
              <a:t>: m1, m3 (B changes)</a:t>
            </a:r>
            <a:endParaRPr lang="en-US" sz="1400" dirty="0"/>
          </a:p>
        </p:txBody>
      </p:sp>
      <p:sp>
        <p:nvSpPr>
          <p:cNvPr id="63" name="Text 61"/>
          <p:cNvSpPr/>
          <p:nvPr/>
        </p:nvSpPr>
        <p:spPr>
          <a:xfrm>
            <a:off x="4419600" y="451723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F = A′B′ + A′C</a:t>
            </a:r>
            <a:endParaRPr lang="en-US" sz="1400" dirty="0"/>
          </a:p>
        </p:txBody>
      </p:sp>
      <p:sp>
        <p:nvSpPr>
          <p:cNvPr id="64" name="Text 62"/>
          <p:cNvSpPr/>
          <p:nvPr/>
        </p:nvSpPr>
        <p:spPr>
          <a:xfrm>
            <a:off x="8026400" y="1874441"/>
            <a:ext cx="3453384" cy="28317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1F1B18"/>
                </a:solidFill>
                <a:latin typeface="Georgia" pitchFamily="34" charset="0"/>
                <a:ea typeface="Georgia" pitchFamily="34" charset="-122"/>
                <a:cs typeface="Georgia" pitchFamily="34" charset="-120"/>
              </a:rPr>
              <a:t>c. Σm(0, 2, 4, 5, 6)</a:t>
            </a:r>
            <a:endParaRPr lang="en-US" sz="1400" dirty="0"/>
          </a:p>
        </p:txBody>
      </p:sp>
      <p:sp>
        <p:nvSpPr>
          <p:cNvPr id="65" name="Text 63"/>
          <p:cNvSpPr/>
          <p:nvPr/>
        </p:nvSpPr>
        <p:spPr>
          <a:xfrm>
            <a:off x="8001000" y="2183011"/>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 \ BC</a:t>
            </a:r>
            <a:endParaRPr lang="en-US" sz="1200" dirty="0"/>
          </a:p>
        </p:txBody>
      </p:sp>
      <p:sp>
        <p:nvSpPr>
          <p:cNvPr id="66" name="Text 64"/>
          <p:cNvSpPr/>
          <p:nvPr/>
        </p:nvSpPr>
        <p:spPr>
          <a:xfrm>
            <a:off x="88011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67" name="Text 65"/>
          <p:cNvSpPr/>
          <p:nvPr/>
        </p:nvSpPr>
        <p:spPr>
          <a:xfrm>
            <a:off x="94488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68" name="Text 66"/>
          <p:cNvSpPr/>
          <p:nvPr/>
        </p:nvSpPr>
        <p:spPr>
          <a:xfrm>
            <a:off x="100965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69" name="Text 67"/>
          <p:cNvSpPr/>
          <p:nvPr/>
        </p:nvSpPr>
        <p:spPr>
          <a:xfrm>
            <a:off x="10744200" y="2183011"/>
            <a:ext cx="6604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70" name="Text 68"/>
          <p:cNvSpPr/>
          <p:nvPr/>
        </p:nvSpPr>
        <p:spPr>
          <a:xfrm>
            <a:off x="8001000" y="262751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0</a:t>
            </a:r>
            <a:endParaRPr lang="en-US" sz="1400" dirty="0"/>
          </a:p>
        </p:txBody>
      </p:sp>
      <p:sp>
        <p:nvSpPr>
          <p:cNvPr id="71" name="Shape 69"/>
          <p:cNvSpPr/>
          <p:nvPr/>
        </p:nvSpPr>
        <p:spPr>
          <a:xfrm>
            <a:off x="8826500" y="2627511"/>
            <a:ext cx="609600" cy="609600"/>
          </a:xfrm>
          <a:prstGeom prst="roundRect">
            <a:avLst>
              <a:gd name="adj" fmla="val 8333"/>
            </a:avLst>
          </a:prstGeom>
          <a:solidFill>
            <a:srgbClr val="EBE8E3"/>
          </a:solidFill>
          <a:ln/>
        </p:spPr>
      </p:sp>
      <p:sp>
        <p:nvSpPr>
          <p:cNvPr id="72" name="Text 70"/>
          <p:cNvSpPr/>
          <p:nvPr/>
        </p:nvSpPr>
        <p:spPr>
          <a:xfrm>
            <a:off x="88011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73" name="Shape 71"/>
          <p:cNvSpPr/>
          <p:nvPr/>
        </p:nvSpPr>
        <p:spPr>
          <a:xfrm>
            <a:off x="9474200" y="2627511"/>
            <a:ext cx="609600" cy="609600"/>
          </a:xfrm>
          <a:prstGeom prst="roundRect">
            <a:avLst>
              <a:gd name="adj" fmla="val 8333"/>
            </a:avLst>
          </a:prstGeom>
          <a:solidFill>
            <a:srgbClr val="EBE8E3"/>
          </a:solidFill>
          <a:ln/>
        </p:spPr>
      </p:sp>
      <p:sp>
        <p:nvSpPr>
          <p:cNvPr id="74" name="Text 72"/>
          <p:cNvSpPr/>
          <p:nvPr/>
        </p:nvSpPr>
        <p:spPr>
          <a:xfrm>
            <a:off x="94488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75" name="Shape 73"/>
          <p:cNvSpPr/>
          <p:nvPr/>
        </p:nvSpPr>
        <p:spPr>
          <a:xfrm>
            <a:off x="10121900" y="2627511"/>
            <a:ext cx="609600" cy="609600"/>
          </a:xfrm>
          <a:prstGeom prst="roundRect">
            <a:avLst>
              <a:gd name="adj" fmla="val 8333"/>
            </a:avLst>
          </a:prstGeom>
          <a:solidFill>
            <a:srgbClr val="EBE8E3"/>
          </a:solidFill>
          <a:ln/>
        </p:spPr>
      </p:sp>
      <p:sp>
        <p:nvSpPr>
          <p:cNvPr id="76" name="Text 74"/>
          <p:cNvSpPr/>
          <p:nvPr/>
        </p:nvSpPr>
        <p:spPr>
          <a:xfrm>
            <a:off x="100965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77" name="Shape 75"/>
          <p:cNvSpPr/>
          <p:nvPr/>
        </p:nvSpPr>
        <p:spPr>
          <a:xfrm>
            <a:off x="10769600" y="2627511"/>
            <a:ext cx="609600" cy="609600"/>
          </a:xfrm>
          <a:prstGeom prst="roundRect">
            <a:avLst>
              <a:gd name="adj" fmla="val 8333"/>
            </a:avLst>
          </a:prstGeom>
          <a:solidFill>
            <a:srgbClr val="EBE8E3"/>
          </a:solidFill>
          <a:ln/>
        </p:spPr>
      </p:sp>
      <p:sp>
        <p:nvSpPr>
          <p:cNvPr id="78" name="Text 76"/>
          <p:cNvSpPr/>
          <p:nvPr/>
        </p:nvSpPr>
        <p:spPr>
          <a:xfrm>
            <a:off x="10744200" y="26275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79" name="Text 77"/>
          <p:cNvSpPr/>
          <p:nvPr/>
        </p:nvSpPr>
        <p:spPr>
          <a:xfrm>
            <a:off x="8001000" y="3275211"/>
            <a:ext cx="812800" cy="635000"/>
          </a:xfrm>
          <a:prstGeom prst="rect">
            <a:avLst/>
          </a:prstGeom>
          <a:noFill/>
          <a:ln/>
        </p:spPr>
        <p:txBody>
          <a:bodyPr wrap="square" lIns="0" tIns="0" rIns="0" bIns="0" rtlCol="0" anchor="t">
            <a:normAutofit/>
          </a:bodyPr>
          <a:lstStyle/>
          <a:p>
            <a:pPr algn="ctr" indent="0" marL="0">
              <a:lnSpc>
                <a:spcPts val="4802"/>
              </a:lnSpc>
              <a:buNone/>
            </a:pPr>
            <a:r>
              <a:rPr lang="en-US" sz="1400" dirty="0">
                <a:solidFill>
                  <a:srgbClr val="6F665D"/>
                </a:solidFill>
                <a:latin typeface="Georgia" pitchFamily="34" charset="0"/>
                <a:ea typeface="Georgia" pitchFamily="34" charset="-122"/>
                <a:cs typeface="Georgia" pitchFamily="34" charset="-120"/>
              </a:rPr>
              <a:t>1</a:t>
            </a:r>
            <a:endParaRPr lang="en-US" sz="1400" dirty="0"/>
          </a:p>
        </p:txBody>
      </p:sp>
      <p:sp>
        <p:nvSpPr>
          <p:cNvPr id="80" name="Shape 78"/>
          <p:cNvSpPr/>
          <p:nvPr/>
        </p:nvSpPr>
        <p:spPr>
          <a:xfrm>
            <a:off x="8826500" y="3275211"/>
            <a:ext cx="609600" cy="609600"/>
          </a:xfrm>
          <a:prstGeom prst="roundRect">
            <a:avLst>
              <a:gd name="adj" fmla="val 8333"/>
            </a:avLst>
          </a:prstGeom>
          <a:solidFill>
            <a:srgbClr val="EBE8E3"/>
          </a:solidFill>
          <a:ln/>
        </p:spPr>
      </p:sp>
      <p:sp>
        <p:nvSpPr>
          <p:cNvPr id="81" name="Text 79"/>
          <p:cNvSpPr/>
          <p:nvPr/>
        </p:nvSpPr>
        <p:spPr>
          <a:xfrm>
            <a:off x="88011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82" name="Shape 80"/>
          <p:cNvSpPr/>
          <p:nvPr/>
        </p:nvSpPr>
        <p:spPr>
          <a:xfrm>
            <a:off x="9474200" y="3275211"/>
            <a:ext cx="609600" cy="609600"/>
          </a:xfrm>
          <a:prstGeom prst="roundRect">
            <a:avLst>
              <a:gd name="adj" fmla="val 8333"/>
            </a:avLst>
          </a:prstGeom>
          <a:solidFill>
            <a:srgbClr val="EBE8E3"/>
          </a:solidFill>
          <a:ln/>
        </p:spPr>
      </p:sp>
      <p:sp>
        <p:nvSpPr>
          <p:cNvPr id="83" name="Text 81"/>
          <p:cNvSpPr/>
          <p:nvPr/>
        </p:nvSpPr>
        <p:spPr>
          <a:xfrm>
            <a:off x="94488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84" name="Shape 82"/>
          <p:cNvSpPr/>
          <p:nvPr/>
        </p:nvSpPr>
        <p:spPr>
          <a:xfrm>
            <a:off x="10121900" y="3275211"/>
            <a:ext cx="609600" cy="609600"/>
          </a:xfrm>
          <a:prstGeom prst="roundRect">
            <a:avLst>
              <a:gd name="adj" fmla="val 8333"/>
            </a:avLst>
          </a:prstGeom>
          <a:solidFill>
            <a:srgbClr val="EBE8E3"/>
          </a:solidFill>
          <a:ln/>
        </p:spPr>
      </p:sp>
      <p:sp>
        <p:nvSpPr>
          <p:cNvPr id="85" name="Text 83"/>
          <p:cNvSpPr/>
          <p:nvPr/>
        </p:nvSpPr>
        <p:spPr>
          <a:xfrm>
            <a:off x="100965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86" name="Shape 84"/>
          <p:cNvSpPr/>
          <p:nvPr/>
        </p:nvSpPr>
        <p:spPr>
          <a:xfrm>
            <a:off x="10769600" y="3275211"/>
            <a:ext cx="609600" cy="609600"/>
          </a:xfrm>
          <a:prstGeom prst="roundRect">
            <a:avLst>
              <a:gd name="adj" fmla="val 8333"/>
            </a:avLst>
          </a:prstGeom>
          <a:solidFill>
            <a:srgbClr val="EBE8E3"/>
          </a:solidFill>
          <a:ln/>
        </p:spPr>
      </p:sp>
      <p:sp>
        <p:nvSpPr>
          <p:cNvPr id="87" name="Text 85"/>
          <p:cNvSpPr/>
          <p:nvPr/>
        </p:nvSpPr>
        <p:spPr>
          <a:xfrm>
            <a:off x="10744200" y="3275211"/>
            <a:ext cx="660400" cy="635000"/>
          </a:xfrm>
          <a:prstGeom prst="rect">
            <a:avLst/>
          </a:prstGeom>
          <a:noFill/>
          <a:ln/>
        </p:spPr>
        <p:txBody>
          <a:bodyPr wrap="square" lIns="0" tIns="0" rIns="0" bIns="0" rtlCol="0" anchor="t">
            <a:normAutofit/>
          </a:bodyPr>
          <a:lstStyle/>
          <a:p>
            <a:pPr algn="ctr" indent="0" marL="0">
              <a:lnSpc>
                <a:spcPts val="48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88" name="Shape 86"/>
          <p:cNvSpPr/>
          <p:nvPr/>
        </p:nvSpPr>
        <p:spPr>
          <a:xfrm>
            <a:off x="8807450" y="2576711"/>
            <a:ext cx="679450" cy="1358900"/>
          </a:xfrm>
          <a:custGeom>
            <a:avLst/>
            <a:gdLst/>
            <a:ahLst/>
            <a:cxnLst/>
            <a:rect l="l" t="t" r="r" b="b"/>
            <a:pathLst>
              <a:path w="679450" h="1358900">
                <a:moveTo>
                  <a:pt x="0" y="31750"/>
                </a:moveTo>
                <a:lnTo>
                  <a:pt x="0" y="0"/>
                </a:lnTo>
                <a:lnTo>
                  <a:pt x="539750" y="0"/>
                </a:lnTo>
                <a:arcTo hR="139700" wR="139700" stAng="16200000" swAng="5400000"/>
                <a:lnTo>
                  <a:pt x="679450" y="1219200"/>
                </a:lnTo>
                <a:arcTo hR="139700" wR="139700" stAng="0" swAng="5400000"/>
                <a:lnTo>
                  <a:pt x="0" y="1358900"/>
                </a:lnTo>
                <a:lnTo>
                  <a:pt x="0" y="1327150"/>
                </a:lnTo>
                <a:lnTo>
                  <a:pt x="539750" y="1327150"/>
                </a:lnTo>
                <a:arcTo hR="107950" wR="107950" stAng="5400000" swAng="-5400000"/>
                <a:lnTo>
                  <a:pt x="647700" y="139700"/>
                </a:lnTo>
                <a:arcTo hR="107950" wR="107950" stAng="0" swAng="-5400000"/>
                <a:lnTo>
                  <a:pt x="0" y="31750"/>
                </a:lnTo>
                <a:close/>
              </a:path>
            </a:pathLst>
          </a:custGeom>
          <a:solidFill>
            <a:srgbClr val="A3292A"/>
          </a:solidFill>
          <a:ln/>
        </p:spPr>
      </p:sp>
      <p:sp>
        <p:nvSpPr>
          <p:cNvPr id="89" name="Shape 87"/>
          <p:cNvSpPr/>
          <p:nvPr/>
        </p:nvSpPr>
        <p:spPr>
          <a:xfrm>
            <a:off x="10718800" y="2576711"/>
            <a:ext cx="679450" cy="1358900"/>
          </a:xfrm>
          <a:custGeom>
            <a:avLst/>
            <a:gdLst/>
            <a:ahLst/>
            <a:cxnLst/>
            <a:rect l="l" t="t" r="r" b="b"/>
            <a:pathLst>
              <a:path w="679450" h="1358900">
                <a:moveTo>
                  <a:pt x="679450" y="1327150"/>
                </a:moveTo>
                <a:lnTo>
                  <a:pt x="679450" y="1358900"/>
                </a:lnTo>
                <a:lnTo>
                  <a:pt x="139700" y="1358900"/>
                </a:lnTo>
                <a:arcTo hR="139700" wR="139700" stAng="5400000" swAng="5400000"/>
                <a:lnTo>
                  <a:pt x="0" y="139700"/>
                </a:lnTo>
                <a:arcTo hR="139700" wR="139700" stAng="10800000" swAng="5400000"/>
                <a:lnTo>
                  <a:pt x="679450" y="0"/>
                </a:lnTo>
                <a:lnTo>
                  <a:pt x="679450" y="31750"/>
                </a:lnTo>
                <a:lnTo>
                  <a:pt x="139700" y="31750"/>
                </a:lnTo>
                <a:arcTo hR="107950" wR="107950" stAng="16200000" swAng="-5400000"/>
                <a:lnTo>
                  <a:pt x="31750" y="1219200"/>
                </a:lnTo>
                <a:arcTo hR="107950" wR="107950" stAng="10800000" swAng="-5400000"/>
                <a:lnTo>
                  <a:pt x="679450" y="1327150"/>
                </a:lnTo>
                <a:close/>
              </a:path>
            </a:pathLst>
          </a:custGeom>
          <a:solidFill>
            <a:srgbClr val="A3292A"/>
          </a:solidFill>
          <a:ln/>
        </p:spPr>
      </p:sp>
      <p:sp>
        <p:nvSpPr>
          <p:cNvPr id="90" name="Shape 88"/>
          <p:cNvSpPr/>
          <p:nvPr/>
        </p:nvSpPr>
        <p:spPr>
          <a:xfrm>
            <a:off x="8867775" y="3316486"/>
            <a:ext cx="1174750" cy="527050"/>
          </a:xfrm>
          <a:prstGeom prst="roundRect">
            <a:avLst>
              <a:gd name="adj" fmla="val 23494"/>
            </a:avLst>
          </a:prstGeom>
          <a:noFill/>
          <a:ln w="31750">
            <a:solidFill>
              <a:srgbClr val="1F5FA8"/>
            </a:solidFill>
            <a:prstDash val="dash"/>
          </a:ln>
        </p:spPr>
      </p:sp>
      <p:sp>
        <p:nvSpPr>
          <p:cNvPr id="91" name="Text 89"/>
          <p:cNvSpPr/>
          <p:nvPr/>
        </p:nvSpPr>
        <p:spPr>
          <a:xfrm>
            <a:off x="8026400" y="393561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A3292A"/>
                </a:solidFill>
                <a:latin typeface="Georgia" pitchFamily="34" charset="0"/>
                <a:ea typeface="Georgia" pitchFamily="34" charset="-122"/>
                <a:cs typeface="Georgia" pitchFamily="34" charset="-120"/>
              </a:rPr>
              <a:t>C′</a:t>
            </a:r>
            <a:r>
              <a:rPr lang="en-US" sz="1400" dirty="0">
                <a:solidFill>
                  <a:srgbClr val="3B3631"/>
                </a:solidFill>
                <a:latin typeface="Georgia" pitchFamily="34" charset="0"/>
                <a:ea typeface="Georgia" pitchFamily="34" charset="-122"/>
                <a:cs typeface="Georgia" pitchFamily="34" charset="-120"/>
              </a:rPr>
              <a:t>: m0, m2, m4, m6 (wraps)</a:t>
            </a:r>
            <a:endParaRPr lang="en-US" sz="1400" dirty="0"/>
          </a:p>
        </p:txBody>
      </p:sp>
      <p:sp>
        <p:nvSpPr>
          <p:cNvPr id="92" name="Text 90"/>
          <p:cNvSpPr/>
          <p:nvPr/>
        </p:nvSpPr>
        <p:spPr>
          <a:xfrm>
            <a:off x="8026400" y="422642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5FA8"/>
                </a:solidFill>
                <a:latin typeface="Georgia" pitchFamily="34" charset="0"/>
                <a:ea typeface="Georgia" pitchFamily="34" charset="-122"/>
                <a:cs typeface="Georgia" pitchFamily="34" charset="-120"/>
              </a:rPr>
              <a:t>AB′</a:t>
            </a:r>
            <a:r>
              <a:rPr lang="en-US" sz="1400" dirty="0">
                <a:solidFill>
                  <a:srgbClr val="3B3631"/>
                </a:solidFill>
                <a:latin typeface="Georgia" pitchFamily="34" charset="0"/>
                <a:ea typeface="Georgia" pitchFamily="34" charset="-122"/>
                <a:cs typeface="Georgia" pitchFamily="34" charset="-120"/>
              </a:rPr>
              <a:t>: m4, m5 (C changes)</a:t>
            </a:r>
            <a:endParaRPr lang="en-US" sz="1400" dirty="0"/>
          </a:p>
        </p:txBody>
      </p:sp>
      <p:sp>
        <p:nvSpPr>
          <p:cNvPr id="93" name="Text 91"/>
          <p:cNvSpPr/>
          <p:nvPr/>
        </p:nvSpPr>
        <p:spPr>
          <a:xfrm>
            <a:off x="8026400" y="4517231"/>
            <a:ext cx="34533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F1B18"/>
                </a:solidFill>
                <a:latin typeface="Georgia" pitchFamily="34" charset="0"/>
                <a:ea typeface="Georgia" pitchFamily="34" charset="-122"/>
                <a:cs typeface="Georgia" pitchFamily="34" charset="-120"/>
              </a:rPr>
              <a:t>F = C′ + AB′</a:t>
            </a:r>
            <a:endParaRPr lang="en-US" sz="1400" dirty="0"/>
          </a:p>
        </p:txBody>
      </p:sp>
      <p:sp>
        <p:nvSpPr>
          <p:cNvPr id="94" name="Text 9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5" name="Text 9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9: 4-variable maps</a:t>
            </a:r>
            <a:endParaRPr lang="en-US" sz="3200" dirty="0"/>
          </a:p>
        </p:txBody>
      </p:sp>
      <p:sp>
        <p:nvSpPr>
          <p:cNvPr id="4" name="Text 2"/>
          <p:cNvSpPr/>
          <p:nvPr/>
        </p:nvSpPr>
        <p:spPr>
          <a:xfrm>
            <a:off x="812800" y="187444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3631"/>
                </a:solidFill>
                <a:latin typeface="Georgia" pitchFamily="34" charset="0"/>
                <a:ea typeface="Georgia" pitchFamily="34" charset="-122"/>
                <a:cs typeface="Georgia" pitchFamily="34" charset="-120"/>
              </a:rPr>
              <a:t>Fill in the map, circle the groups, and write the simplest SOP.</a:t>
            </a:r>
            <a:endParaRPr lang="en-US" sz="1500" dirty="0"/>
          </a:p>
        </p:txBody>
      </p:sp>
      <p:sp>
        <p:nvSpPr>
          <p:cNvPr id="5" name="Text 3"/>
          <p:cNvSpPr/>
          <p:nvPr/>
        </p:nvSpPr>
        <p:spPr>
          <a:xfrm>
            <a:off x="812800" y="24554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a.</a:t>
            </a:r>
            <a:r>
              <a:rPr lang="en-US" sz="2000" dirty="0">
                <a:solidFill>
                  <a:srgbClr val="1F1B18"/>
                </a:solidFill>
                <a:latin typeface="Georgia" pitchFamily="34" charset="0"/>
                <a:ea typeface="Georgia" pitchFamily="34" charset="-122"/>
                <a:cs typeface="Georgia" pitchFamily="34" charset="-120"/>
              </a:rPr>
              <a:t> F = Σm(0, 2, 5, 7, 8, 10, 13, 15)</a:t>
            </a:r>
            <a:endParaRPr lang="en-US" sz="2000" dirty="0"/>
          </a:p>
        </p:txBody>
      </p:sp>
      <p:sp>
        <p:nvSpPr>
          <p:cNvPr id="6" name="Text 4"/>
          <p:cNvSpPr/>
          <p:nvPr/>
        </p:nvSpPr>
        <p:spPr>
          <a:xfrm>
            <a:off x="812800" y="29888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b.</a:t>
            </a:r>
            <a:r>
              <a:rPr lang="en-US" sz="2000" dirty="0">
                <a:solidFill>
                  <a:srgbClr val="1F1B18"/>
                </a:solidFill>
                <a:latin typeface="Georgia" pitchFamily="34" charset="0"/>
                <a:ea typeface="Georgia" pitchFamily="34" charset="-122"/>
                <a:cs typeface="Georgia" pitchFamily="34" charset="-120"/>
              </a:rPr>
              <a:t> F = Σm(1, 3, 4, 5, 6, 7, 9, 11, 13, 15)</a:t>
            </a:r>
            <a:endParaRPr lang="en-US" sz="2000" dirty="0"/>
          </a:p>
        </p:txBody>
      </p:sp>
      <p:sp>
        <p:nvSpPr>
          <p:cNvPr id="7" name="Text 5"/>
          <p:cNvSpPr/>
          <p:nvPr/>
        </p:nvSpPr>
        <p:spPr>
          <a:xfrm>
            <a:off x="812800" y="3522266"/>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F1B18"/>
                </a:solidFill>
                <a:latin typeface="Georgia" pitchFamily="34" charset="0"/>
                <a:ea typeface="Georgia" pitchFamily="34" charset="-122"/>
                <a:cs typeface="Georgia" pitchFamily="34" charset="-120"/>
              </a:rPr>
              <a:t>c.</a:t>
            </a:r>
            <a:r>
              <a:rPr lang="en-US" sz="2000" dirty="0">
                <a:solidFill>
                  <a:srgbClr val="1F1B18"/>
                </a:solidFill>
                <a:latin typeface="Georgia" pitchFamily="34" charset="0"/>
                <a:ea typeface="Georgia" pitchFamily="34" charset="-122"/>
                <a:cs typeface="Georgia" pitchFamily="34" charset="-120"/>
              </a:rPr>
              <a:t> F = Σm(0, 1, 2, 3, 4, 6, 8, 9, 10, 11)</a:t>
            </a:r>
            <a:endParaRPr lang="en-US" sz="20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EE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2 · KARNAUGH MAPS</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Problem 9: answers</a:t>
            </a:r>
            <a:endParaRPr lang="en-US" sz="3200" dirty="0"/>
          </a:p>
        </p:txBody>
      </p:sp>
      <p:sp>
        <p:nvSpPr>
          <p:cNvPr id="4" name="Text 2"/>
          <p:cNvSpPr/>
          <p:nvPr/>
        </p:nvSpPr>
        <p:spPr>
          <a:xfrm>
            <a:off x="812800" y="1874441"/>
            <a:ext cx="3139440" cy="26471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F1B18"/>
                </a:solidFill>
                <a:latin typeface="Georgia" pitchFamily="34" charset="0"/>
                <a:ea typeface="Georgia" pitchFamily="34" charset="-122"/>
                <a:cs typeface="Georgia" pitchFamily="34" charset="-120"/>
              </a:rPr>
              <a:t>a.</a:t>
            </a:r>
            <a:endParaRPr lang="en-US" sz="1300" dirty="0"/>
          </a:p>
        </p:txBody>
      </p:sp>
      <p:sp>
        <p:nvSpPr>
          <p:cNvPr id="5" name="Text 3"/>
          <p:cNvSpPr/>
          <p:nvPr/>
        </p:nvSpPr>
        <p:spPr>
          <a:xfrm>
            <a:off x="787400" y="2164556"/>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AB \ CD</a:t>
            </a:r>
            <a:endParaRPr lang="en-US" sz="1200" dirty="0"/>
          </a:p>
        </p:txBody>
      </p:sp>
      <p:sp>
        <p:nvSpPr>
          <p:cNvPr id="6" name="Text 4"/>
          <p:cNvSpPr/>
          <p:nvPr/>
        </p:nvSpPr>
        <p:spPr>
          <a:xfrm>
            <a:off x="15875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7" name="Text 5"/>
          <p:cNvSpPr/>
          <p:nvPr/>
        </p:nvSpPr>
        <p:spPr>
          <a:xfrm>
            <a:off x="21590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27305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9" name="Text 7"/>
          <p:cNvSpPr/>
          <p:nvPr/>
        </p:nvSpPr>
        <p:spPr>
          <a:xfrm>
            <a:off x="33020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0" name="Text 8"/>
          <p:cNvSpPr/>
          <p:nvPr/>
        </p:nvSpPr>
        <p:spPr>
          <a:xfrm>
            <a:off x="787400" y="26090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11" name="Shape 9"/>
          <p:cNvSpPr/>
          <p:nvPr/>
        </p:nvSpPr>
        <p:spPr>
          <a:xfrm>
            <a:off x="1612900" y="2609056"/>
            <a:ext cx="533400" cy="533400"/>
          </a:xfrm>
          <a:prstGeom prst="roundRect">
            <a:avLst>
              <a:gd name="adj" fmla="val 9524"/>
            </a:avLst>
          </a:prstGeom>
          <a:solidFill>
            <a:srgbClr val="EBE8E3"/>
          </a:solidFill>
          <a:ln/>
        </p:spPr>
      </p:sp>
      <p:sp>
        <p:nvSpPr>
          <p:cNvPr id="12" name="Text 10"/>
          <p:cNvSpPr/>
          <p:nvPr/>
        </p:nvSpPr>
        <p:spPr>
          <a:xfrm>
            <a:off x="15875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3" name="Shape 11"/>
          <p:cNvSpPr/>
          <p:nvPr/>
        </p:nvSpPr>
        <p:spPr>
          <a:xfrm>
            <a:off x="2184400" y="2609056"/>
            <a:ext cx="533400" cy="533400"/>
          </a:xfrm>
          <a:prstGeom prst="roundRect">
            <a:avLst>
              <a:gd name="adj" fmla="val 9524"/>
            </a:avLst>
          </a:prstGeom>
          <a:solidFill>
            <a:srgbClr val="EBE8E3"/>
          </a:solidFill>
          <a:ln/>
        </p:spPr>
      </p:sp>
      <p:sp>
        <p:nvSpPr>
          <p:cNvPr id="14" name="Text 12"/>
          <p:cNvSpPr/>
          <p:nvPr/>
        </p:nvSpPr>
        <p:spPr>
          <a:xfrm>
            <a:off x="21590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5" name="Shape 13"/>
          <p:cNvSpPr/>
          <p:nvPr/>
        </p:nvSpPr>
        <p:spPr>
          <a:xfrm>
            <a:off x="2755900" y="2609056"/>
            <a:ext cx="533400" cy="533400"/>
          </a:xfrm>
          <a:prstGeom prst="roundRect">
            <a:avLst>
              <a:gd name="adj" fmla="val 9524"/>
            </a:avLst>
          </a:prstGeom>
          <a:solidFill>
            <a:srgbClr val="EBE8E3"/>
          </a:solidFill>
          <a:ln/>
        </p:spPr>
      </p:sp>
      <p:sp>
        <p:nvSpPr>
          <p:cNvPr id="16" name="Text 14"/>
          <p:cNvSpPr/>
          <p:nvPr/>
        </p:nvSpPr>
        <p:spPr>
          <a:xfrm>
            <a:off x="27305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7" name="Shape 15"/>
          <p:cNvSpPr/>
          <p:nvPr/>
        </p:nvSpPr>
        <p:spPr>
          <a:xfrm>
            <a:off x="3327400" y="2609056"/>
            <a:ext cx="533400" cy="533400"/>
          </a:xfrm>
          <a:prstGeom prst="roundRect">
            <a:avLst>
              <a:gd name="adj" fmla="val 9524"/>
            </a:avLst>
          </a:prstGeom>
          <a:solidFill>
            <a:srgbClr val="EBE8E3"/>
          </a:solidFill>
          <a:ln/>
        </p:spPr>
      </p:sp>
      <p:sp>
        <p:nvSpPr>
          <p:cNvPr id="18" name="Text 16"/>
          <p:cNvSpPr/>
          <p:nvPr/>
        </p:nvSpPr>
        <p:spPr>
          <a:xfrm>
            <a:off x="33020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9" name="Text 17"/>
          <p:cNvSpPr/>
          <p:nvPr/>
        </p:nvSpPr>
        <p:spPr>
          <a:xfrm>
            <a:off x="787400" y="31805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20" name="Shape 18"/>
          <p:cNvSpPr/>
          <p:nvPr/>
        </p:nvSpPr>
        <p:spPr>
          <a:xfrm>
            <a:off x="1612900" y="3180556"/>
            <a:ext cx="533400" cy="533400"/>
          </a:xfrm>
          <a:prstGeom prst="roundRect">
            <a:avLst>
              <a:gd name="adj" fmla="val 9524"/>
            </a:avLst>
          </a:prstGeom>
          <a:solidFill>
            <a:srgbClr val="EBE8E3"/>
          </a:solidFill>
          <a:ln/>
        </p:spPr>
      </p:sp>
      <p:sp>
        <p:nvSpPr>
          <p:cNvPr id="21" name="Text 19"/>
          <p:cNvSpPr/>
          <p:nvPr/>
        </p:nvSpPr>
        <p:spPr>
          <a:xfrm>
            <a:off x="15875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2" name="Shape 20"/>
          <p:cNvSpPr/>
          <p:nvPr/>
        </p:nvSpPr>
        <p:spPr>
          <a:xfrm>
            <a:off x="2184400" y="3180556"/>
            <a:ext cx="533400" cy="533400"/>
          </a:xfrm>
          <a:prstGeom prst="roundRect">
            <a:avLst>
              <a:gd name="adj" fmla="val 9524"/>
            </a:avLst>
          </a:prstGeom>
          <a:solidFill>
            <a:srgbClr val="EBE8E3"/>
          </a:solidFill>
          <a:ln/>
        </p:spPr>
      </p:sp>
      <p:sp>
        <p:nvSpPr>
          <p:cNvPr id="23" name="Text 21"/>
          <p:cNvSpPr/>
          <p:nvPr/>
        </p:nvSpPr>
        <p:spPr>
          <a:xfrm>
            <a:off x="21590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4" name="Shape 22"/>
          <p:cNvSpPr/>
          <p:nvPr/>
        </p:nvSpPr>
        <p:spPr>
          <a:xfrm>
            <a:off x="2755900" y="3180556"/>
            <a:ext cx="533400" cy="533400"/>
          </a:xfrm>
          <a:prstGeom prst="roundRect">
            <a:avLst>
              <a:gd name="adj" fmla="val 9524"/>
            </a:avLst>
          </a:prstGeom>
          <a:solidFill>
            <a:srgbClr val="EBE8E3"/>
          </a:solidFill>
          <a:ln/>
        </p:spPr>
      </p:sp>
      <p:sp>
        <p:nvSpPr>
          <p:cNvPr id="25" name="Text 23"/>
          <p:cNvSpPr/>
          <p:nvPr/>
        </p:nvSpPr>
        <p:spPr>
          <a:xfrm>
            <a:off x="27305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26" name="Shape 24"/>
          <p:cNvSpPr/>
          <p:nvPr/>
        </p:nvSpPr>
        <p:spPr>
          <a:xfrm>
            <a:off x="3327400" y="3180556"/>
            <a:ext cx="533400" cy="533400"/>
          </a:xfrm>
          <a:prstGeom prst="roundRect">
            <a:avLst>
              <a:gd name="adj" fmla="val 9524"/>
            </a:avLst>
          </a:prstGeom>
          <a:solidFill>
            <a:srgbClr val="EBE8E3"/>
          </a:solidFill>
          <a:ln/>
        </p:spPr>
      </p:sp>
      <p:sp>
        <p:nvSpPr>
          <p:cNvPr id="27" name="Text 25"/>
          <p:cNvSpPr/>
          <p:nvPr/>
        </p:nvSpPr>
        <p:spPr>
          <a:xfrm>
            <a:off x="33020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28" name="Text 26"/>
          <p:cNvSpPr/>
          <p:nvPr/>
        </p:nvSpPr>
        <p:spPr>
          <a:xfrm>
            <a:off x="787400" y="37520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29" name="Shape 27"/>
          <p:cNvSpPr/>
          <p:nvPr/>
        </p:nvSpPr>
        <p:spPr>
          <a:xfrm>
            <a:off x="1612900" y="3752056"/>
            <a:ext cx="533400" cy="533400"/>
          </a:xfrm>
          <a:prstGeom prst="roundRect">
            <a:avLst>
              <a:gd name="adj" fmla="val 9524"/>
            </a:avLst>
          </a:prstGeom>
          <a:solidFill>
            <a:srgbClr val="EBE8E3"/>
          </a:solidFill>
          <a:ln/>
        </p:spPr>
      </p:sp>
      <p:sp>
        <p:nvSpPr>
          <p:cNvPr id="30" name="Text 28"/>
          <p:cNvSpPr/>
          <p:nvPr/>
        </p:nvSpPr>
        <p:spPr>
          <a:xfrm>
            <a:off x="15875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31" name="Shape 29"/>
          <p:cNvSpPr/>
          <p:nvPr/>
        </p:nvSpPr>
        <p:spPr>
          <a:xfrm>
            <a:off x="2184400" y="3752056"/>
            <a:ext cx="533400" cy="533400"/>
          </a:xfrm>
          <a:prstGeom prst="roundRect">
            <a:avLst>
              <a:gd name="adj" fmla="val 9524"/>
            </a:avLst>
          </a:prstGeom>
          <a:solidFill>
            <a:srgbClr val="EBE8E3"/>
          </a:solidFill>
          <a:ln/>
        </p:spPr>
      </p:sp>
      <p:sp>
        <p:nvSpPr>
          <p:cNvPr id="32" name="Text 30"/>
          <p:cNvSpPr/>
          <p:nvPr/>
        </p:nvSpPr>
        <p:spPr>
          <a:xfrm>
            <a:off x="21590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33" name="Shape 31"/>
          <p:cNvSpPr/>
          <p:nvPr/>
        </p:nvSpPr>
        <p:spPr>
          <a:xfrm>
            <a:off x="2755900" y="3752056"/>
            <a:ext cx="533400" cy="533400"/>
          </a:xfrm>
          <a:prstGeom prst="roundRect">
            <a:avLst>
              <a:gd name="adj" fmla="val 9524"/>
            </a:avLst>
          </a:prstGeom>
          <a:solidFill>
            <a:srgbClr val="EBE8E3"/>
          </a:solidFill>
          <a:ln/>
        </p:spPr>
      </p:sp>
      <p:sp>
        <p:nvSpPr>
          <p:cNvPr id="34" name="Text 32"/>
          <p:cNvSpPr/>
          <p:nvPr/>
        </p:nvSpPr>
        <p:spPr>
          <a:xfrm>
            <a:off x="27305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35" name="Shape 33"/>
          <p:cNvSpPr/>
          <p:nvPr/>
        </p:nvSpPr>
        <p:spPr>
          <a:xfrm>
            <a:off x="3327400" y="3752056"/>
            <a:ext cx="533400" cy="533400"/>
          </a:xfrm>
          <a:prstGeom prst="roundRect">
            <a:avLst>
              <a:gd name="adj" fmla="val 9524"/>
            </a:avLst>
          </a:prstGeom>
          <a:solidFill>
            <a:srgbClr val="EBE8E3"/>
          </a:solidFill>
          <a:ln/>
        </p:spPr>
      </p:sp>
      <p:sp>
        <p:nvSpPr>
          <p:cNvPr id="36" name="Text 34"/>
          <p:cNvSpPr/>
          <p:nvPr/>
        </p:nvSpPr>
        <p:spPr>
          <a:xfrm>
            <a:off x="33020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37" name="Text 35"/>
          <p:cNvSpPr/>
          <p:nvPr/>
        </p:nvSpPr>
        <p:spPr>
          <a:xfrm>
            <a:off x="787400" y="43235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38" name="Shape 36"/>
          <p:cNvSpPr/>
          <p:nvPr/>
        </p:nvSpPr>
        <p:spPr>
          <a:xfrm>
            <a:off x="1612900" y="4323556"/>
            <a:ext cx="533400" cy="533400"/>
          </a:xfrm>
          <a:prstGeom prst="roundRect">
            <a:avLst>
              <a:gd name="adj" fmla="val 9524"/>
            </a:avLst>
          </a:prstGeom>
          <a:solidFill>
            <a:srgbClr val="EBE8E3"/>
          </a:solidFill>
          <a:ln/>
        </p:spPr>
      </p:sp>
      <p:sp>
        <p:nvSpPr>
          <p:cNvPr id="39" name="Text 37"/>
          <p:cNvSpPr/>
          <p:nvPr/>
        </p:nvSpPr>
        <p:spPr>
          <a:xfrm>
            <a:off x="15875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0" name="Shape 38"/>
          <p:cNvSpPr/>
          <p:nvPr/>
        </p:nvSpPr>
        <p:spPr>
          <a:xfrm>
            <a:off x="2184400" y="4323556"/>
            <a:ext cx="533400" cy="533400"/>
          </a:xfrm>
          <a:prstGeom prst="roundRect">
            <a:avLst>
              <a:gd name="adj" fmla="val 9524"/>
            </a:avLst>
          </a:prstGeom>
          <a:solidFill>
            <a:srgbClr val="EBE8E3"/>
          </a:solidFill>
          <a:ln/>
        </p:spPr>
      </p:sp>
      <p:sp>
        <p:nvSpPr>
          <p:cNvPr id="41" name="Text 39"/>
          <p:cNvSpPr/>
          <p:nvPr/>
        </p:nvSpPr>
        <p:spPr>
          <a:xfrm>
            <a:off x="21590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2" name="Shape 40"/>
          <p:cNvSpPr/>
          <p:nvPr/>
        </p:nvSpPr>
        <p:spPr>
          <a:xfrm>
            <a:off x="2755900" y="4323556"/>
            <a:ext cx="533400" cy="533400"/>
          </a:xfrm>
          <a:prstGeom prst="roundRect">
            <a:avLst>
              <a:gd name="adj" fmla="val 9524"/>
            </a:avLst>
          </a:prstGeom>
          <a:solidFill>
            <a:srgbClr val="EBE8E3"/>
          </a:solidFill>
          <a:ln/>
        </p:spPr>
      </p:sp>
      <p:sp>
        <p:nvSpPr>
          <p:cNvPr id="43" name="Text 41"/>
          <p:cNvSpPr/>
          <p:nvPr/>
        </p:nvSpPr>
        <p:spPr>
          <a:xfrm>
            <a:off x="27305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44" name="Shape 42"/>
          <p:cNvSpPr/>
          <p:nvPr/>
        </p:nvSpPr>
        <p:spPr>
          <a:xfrm>
            <a:off x="3327400" y="4323556"/>
            <a:ext cx="533400" cy="533400"/>
          </a:xfrm>
          <a:prstGeom prst="roundRect">
            <a:avLst>
              <a:gd name="adj" fmla="val 9524"/>
            </a:avLst>
          </a:prstGeom>
          <a:solidFill>
            <a:srgbClr val="EBE8E3"/>
          </a:solidFill>
          <a:ln/>
        </p:spPr>
      </p:sp>
      <p:sp>
        <p:nvSpPr>
          <p:cNvPr id="45" name="Text 43"/>
          <p:cNvSpPr/>
          <p:nvPr/>
        </p:nvSpPr>
        <p:spPr>
          <a:xfrm>
            <a:off x="33020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46" name="Shape 44"/>
          <p:cNvSpPr/>
          <p:nvPr/>
        </p:nvSpPr>
        <p:spPr>
          <a:xfrm>
            <a:off x="1593850" y="2590006"/>
            <a:ext cx="590550" cy="590550"/>
          </a:xfrm>
          <a:custGeom>
            <a:avLst/>
            <a:gdLst/>
            <a:ahLst/>
            <a:cxnLst/>
            <a:rect l="l" t="t" r="r" b="b"/>
            <a:pathLst>
              <a:path w="590550" h="590550">
                <a:moveTo>
                  <a:pt x="558800" y="0"/>
                </a:moveTo>
                <a:lnTo>
                  <a:pt x="590550" y="0"/>
                </a:lnTo>
                <a:lnTo>
                  <a:pt x="590550" y="450850"/>
                </a:lnTo>
                <a:arcTo hR="139700" wR="139700" stAng="0" swAng="5400000"/>
                <a:lnTo>
                  <a:pt x="0" y="590550"/>
                </a:lnTo>
                <a:lnTo>
                  <a:pt x="0" y="558800"/>
                </a:lnTo>
                <a:lnTo>
                  <a:pt x="450850" y="558800"/>
                </a:lnTo>
                <a:arcTo hR="107950" wR="107950" stAng="5400000" swAng="-5400000"/>
                <a:lnTo>
                  <a:pt x="558800" y="0"/>
                </a:lnTo>
                <a:close/>
              </a:path>
            </a:pathLst>
          </a:custGeom>
          <a:solidFill>
            <a:srgbClr val="A3292A"/>
          </a:solidFill>
          <a:ln/>
        </p:spPr>
      </p:sp>
      <p:sp>
        <p:nvSpPr>
          <p:cNvPr id="47" name="Shape 45"/>
          <p:cNvSpPr/>
          <p:nvPr/>
        </p:nvSpPr>
        <p:spPr>
          <a:xfrm>
            <a:off x="3289300" y="2590006"/>
            <a:ext cx="590550" cy="590550"/>
          </a:xfrm>
          <a:custGeom>
            <a:avLst/>
            <a:gdLst/>
            <a:ahLst/>
            <a:cxnLst/>
            <a:rect l="l" t="t" r="r" b="b"/>
            <a:pathLst>
              <a:path w="590550" h="590550">
                <a:moveTo>
                  <a:pt x="590550" y="558800"/>
                </a:moveTo>
                <a:lnTo>
                  <a:pt x="590550" y="590550"/>
                </a:lnTo>
                <a:lnTo>
                  <a:pt x="139700" y="590550"/>
                </a:lnTo>
                <a:arcTo hR="139700" wR="139700" stAng="5400000" swAng="5400000"/>
                <a:lnTo>
                  <a:pt x="0" y="0"/>
                </a:lnTo>
                <a:lnTo>
                  <a:pt x="31750" y="0"/>
                </a:lnTo>
                <a:lnTo>
                  <a:pt x="31750" y="450850"/>
                </a:lnTo>
                <a:arcTo hR="107950" wR="107950" stAng="10800000" swAng="-5400000"/>
                <a:lnTo>
                  <a:pt x="590550" y="558800"/>
                </a:lnTo>
                <a:close/>
              </a:path>
            </a:pathLst>
          </a:custGeom>
          <a:solidFill>
            <a:srgbClr val="A3292A"/>
          </a:solidFill>
          <a:ln/>
        </p:spPr>
      </p:sp>
      <p:sp>
        <p:nvSpPr>
          <p:cNvPr id="48" name="Shape 46"/>
          <p:cNvSpPr/>
          <p:nvPr/>
        </p:nvSpPr>
        <p:spPr>
          <a:xfrm>
            <a:off x="1593850" y="4285456"/>
            <a:ext cx="590550" cy="590550"/>
          </a:xfrm>
          <a:custGeom>
            <a:avLst/>
            <a:gdLst/>
            <a:ahLst/>
            <a:cxnLst/>
            <a:rect l="l" t="t" r="r" b="b"/>
            <a:pathLst>
              <a:path w="590550" h="590550">
                <a:moveTo>
                  <a:pt x="0" y="31750"/>
                </a:moveTo>
                <a:lnTo>
                  <a:pt x="0" y="0"/>
                </a:lnTo>
                <a:lnTo>
                  <a:pt x="450850" y="0"/>
                </a:lnTo>
                <a:arcTo hR="139700" wR="139700" stAng="16200000" swAng="5400000"/>
                <a:lnTo>
                  <a:pt x="590550" y="590550"/>
                </a:lnTo>
                <a:lnTo>
                  <a:pt x="558800" y="590550"/>
                </a:lnTo>
                <a:lnTo>
                  <a:pt x="558800" y="139700"/>
                </a:lnTo>
                <a:arcTo hR="107950" wR="107950" stAng="0" swAng="-5400000"/>
                <a:lnTo>
                  <a:pt x="0" y="31750"/>
                </a:lnTo>
                <a:close/>
              </a:path>
            </a:pathLst>
          </a:custGeom>
          <a:solidFill>
            <a:srgbClr val="A3292A"/>
          </a:solidFill>
          <a:ln/>
        </p:spPr>
      </p:sp>
      <p:sp>
        <p:nvSpPr>
          <p:cNvPr id="49" name="Shape 47"/>
          <p:cNvSpPr/>
          <p:nvPr/>
        </p:nvSpPr>
        <p:spPr>
          <a:xfrm>
            <a:off x="3289300" y="4285456"/>
            <a:ext cx="590550" cy="590550"/>
          </a:xfrm>
          <a:custGeom>
            <a:avLst/>
            <a:gdLst/>
            <a:ahLst/>
            <a:cxnLst/>
            <a:rect l="l" t="t" r="r" b="b"/>
            <a:pathLst>
              <a:path w="590550" h="590550">
                <a:moveTo>
                  <a:pt x="31750" y="590550"/>
                </a:moveTo>
                <a:lnTo>
                  <a:pt x="0" y="590550"/>
                </a:lnTo>
                <a:lnTo>
                  <a:pt x="0" y="139700"/>
                </a:lnTo>
                <a:arcTo hR="139700" wR="139700" stAng="10800000" swAng="5400000"/>
                <a:lnTo>
                  <a:pt x="590550" y="0"/>
                </a:lnTo>
                <a:lnTo>
                  <a:pt x="590550" y="31750"/>
                </a:lnTo>
                <a:lnTo>
                  <a:pt x="139700" y="31750"/>
                </a:lnTo>
                <a:arcTo hR="107950" wR="107950" stAng="16200000" swAng="-5400000"/>
                <a:lnTo>
                  <a:pt x="31750" y="590550"/>
                </a:lnTo>
                <a:close/>
              </a:path>
            </a:pathLst>
          </a:custGeom>
          <a:solidFill>
            <a:srgbClr val="A3292A"/>
          </a:solidFill>
          <a:ln/>
        </p:spPr>
      </p:sp>
      <p:sp>
        <p:nvSpPr>
          <p:cNvPr id="50" name="Shape 48"/>
          <p:cNvSpPr/>
          <p:nvPr/>
        </p:nvSpPr>
        <p:spPr>
          <a:xfrm>
            <a:off x="2162175" y="3158331"/>
            <a:ext cx="1149350" cy="1149350"/>
          </a:xfrm>
          <a:prstGeom prst="roundRect">
            <a:avLst>
              <a:gd name="adj" fmla="val 10773"/>
            </a:avLst>
          </a:prstGeom>
          <a:noFill/>
          <a:ln w="31750">
            <a:solidFill>
              <a:srgbClr val="1F5FA8"/>
            </a:solidFill>
            <a:prstDash val="dash"/>
          </a:ln>
        </p:spPr>
      </p:sp>
      <p:sp>
        <p:nvSpPr>
          <p:cNvPr id="51" name="Text 49"/>
          <p:cNvSpPr/>
          <p:nvPr/>
        </p:nvSpPr>
        <p:spPr>
          <a:xfrm>
            <a:off x="812800" y="4907756"/>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A3292A"/>
                </a:solidFill>
                <a:latin typeface="Georgia" pitchFamily="34" charset="0"/>
                <a:ea typeface="Georgia" pitchFamily="34" charset="-122"/>
                <a:cs typeface="Georgia" pitchFamily="34" charset="-120"/>
              </a:rPr>
              <a:t>B′D′</a:t>
            </a:r>
            <a:r>
              <a:rPr lang="en-US" sz="1300" dirty="0">
                <a:solidFill>
                  <a:srgbClr val="3B3631"/>
                </a:solidFill>
                <a:latin typeface="Georgia" pitchFamily="34" charset="0"/>
                <a:ea typeface="Georgia" pitchFamily="34" charset="-122"/>
                <a:cs typeface="Georgia" pitchFamily="34" charset="-120"/>
              </a:rPr>
              <a:t>: the four corners</a:t>
            </a:r>
            <a:endParaRPr lang="en-US" sz="1300" dirty="0"/>
          </a:p>
        </p:txBody>
      </p:sp>
      <p:sp>
        <p:nvSpPr>
          <p:cNvPr id="52" name="Text 50"/>
          <p:cNvSpPr/>
          <p:nvPr/>
        </p:nvSpPr>
        <p:spPr>
          <a:xfrm>
            <a:off x="812800" y="5181402"/>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5FA8"/>
                </a:solidFill>
                <a:latin typeface="Georgia" pitchFamily="34" charset="0"/>
                <a:ea typeface="Georgia" pitchFamily="34" charset="-122"/>
                <a:cs typeface="Georgia" pitchFamily="34" charset="-120"/>
              </a:rPr>
              <a:t>BD</a:t>
            </a:r>
            <a:r>
              <a:rPr lang="en-US" sz="1300" dirty="0">
                <a:solidFill>
                  <a:srgbClr val="3B3631"/>
                </a:solidFill>
                <a:latin typeface="Georgia" pitchFamily="34" charset="0"/>
                <a:ea typeface="Georgia" pitchFamily="34" charset="-122"/>
                <a:cs typeface="Georgia" pitchFamily="34" charset="-120"/>
              </a:rPr>
              <a:t>: m5, m7, m13, m15</a:t>
            </a:r>
            <a:endParaRPr lang="en-US" sz="1300" dirty="0"/>
          </a:p>
        </p:txBody>
      </p:sp>
      <p:sp>
        <p:nvSpPr>
          <p:cNvPr id="53" name="Text 51"/>
          <p:cNvSpPr/>
          <p:nvPr/>
        </p:nvSpPr>
        <p:spPr>
          <a:xfrm>
            <a:off x="812800" y="5455047"/>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1B18"/>
                </a:solidFill>
                <a:latin typeface="Georgia" pitchFamily="34" charset="0"/>
                <a:ea typeface="Georgia" pitchFamily="34" charset="-122"/>
                <a:cs typeface="Georgia" pitchFamily="34" charset="-120"/>
              </a:rPr>
              <a:t>F = B′D′ + BD</a:t>
            </a:r>
            <a:endParaRPr lang="en-US" sz="1300" dirty="0"/>
          </a:p>
        </p:txBody>
      </p:sp>
      <p:sp>
        <p:nvSpPr>
          <p:cNvPr id="54" name="Text 52"/>
          <p:cNvSpPr/>
          <p:nvPr/>
        </p:nvSpPr>
        <p:spPr>
          <a:xfrm>
            <a:off x="4572000" y="1874441"/>
            <a:ext cx="3139440" cy="26471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F1B18"/>
                </a:solidFill>
                <a:latin typeface="Georgia" pitchFamily="34" charset="0"/>
                <a:ea typeface="Georgia" pitchFamily="34" charset="-122"/>
                <a:cs typeface="Georgia" pitchFamily="34" charset="-120"/>
              </a:rPr>
              <a:t>b.</a:t>
            </a:r>
            <a:endParaRPr lang="en-US" sz="1300" dirty="0"/>
          </a:p>
        </p:txBody>
      </p:sp>
      <p:sp>
        <p:nvSpPr>
          <p:cNvPr id="55" name="Text 53"/>
          <p:cNvSpPr/>
          <p:nvPr/>
        </p:nvSpPr>
        <p:spPr>
          <a:xfrm>
            <a:off x="4546600" y="2164556"/>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AB \ CD</a:t>
            </a:r>
            <a:endParaRPr lang="en-US" sz="1200" dirty="0"/>
          </a:p>
        </p:txBody>
      </p:sp>
      <p:sp>
        <p:nvSpPr>
          <p:cNvPr id="56" name="Text 54"/>
          <p:cNvSpPr/>
          <p:nvPr/>
        </p:nvSpPr>
        <p:spPr>
          <a:xfrm>
            <a:off x="53467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57" name="Text 55"/>
          <p:cNvSpPr/>
          <p:nvPr/>
        </p:nvSpPr>
        <p:spPr>
          <a:xfrm>
            <a:off x="59182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58" name="Text 56"/>
          <p:cNvSpPr/>
          <p:nvPr/>
        </p:nvSpPr>
        <p:spPr>
          <a:xfrm>
            <a:off x="64897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59" name="Text 57"/>
          <p:cNvSpPr/>
          <p:nvPr/>
        </p:nvSpPr>
        <p:spPr>
          <a:xfrm>
            <a:off x="70612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60" name="Text 58"/>
          <p:cNvSpPr/>
          <p:nvPr/>
        </p:nvSpPr>
        <p:spPr>
          <a:xfrm>
            <a:off x="4546600" y="26090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61" name="Shape 59"/>
          <p:cNvSpPr/>
          <p:nvPr/>
        </p:nvSpPr>
        <p:spPr>
          <a:xfrm>
            <a:off x="5372100" y="2609056"/>
            <a:ext cx="533400" cy="533400"/>
          </a:xfrm>
          <a:prstGeom prst="roundRect">
            <a:avLst>
              <a:gd name="adj" fmla="val 9524"/>
            </a:avLst>
          </a:prstGeom>
          <a:solidFill>
            <a:srgbClr val="EBE8E3"/>
          </a:solidFill>
          <a:ln/>
        </p:spPr>
      </p:sp>
      <p:sp>
        <p:nvSpPr>
          <p:cNvPr id="62" name="Text 60"/>
          <p:cNvSpPr/>
          <p:nvPr/>
        </p:nvSpPr>
        <p:spPr>
          <a:xfrm>
            <a:off x="53467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63" name="Shape 61"/>
          <p:cNvSpPr/>
          <p:nvPr/>
        </p:nvSpPr>
        <p:spPr>
          <a:xfrm>
            <a:off x="5943600" y="2609056"/>
            <a:ext cx="533400" cy="533400"/>
          </a:xfrm>
          <a:prstGeom prst="roundRect">
            <a:avLst>
              <a:gd name="adj" fmla="val 9524"/>
            </a:avLst>
          </a:prstGeom>
          <a:solidFill>
            <a:srgbClr val="EBE8E3"/>
          </a:solidFill>
          <a:ln/>
        </p:spPr>
      </p:sp>
      <p:sp>
        <p:nvSpPr>
          <p:cNvPr id="64" name="Text 62"/>
          <p:cNvSpPr/>
          <p:nvPr/>
        </p:nvSpPr>
        <p:spPr>
          <a:xfrm>
            <a:off x="59182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65" name="Shape 63"/>
          <p:cNvSpPr/>
          <p:nvPr/>
        </p:nvSpPr>
        <p:spPr>
          <a:xfrm>
            <a:off x="6515100" y="2609056"/>
            <a:ext cx="533400" cy="533400"/>
          </a:xfrm>
          <a:prstGeom prst="roundRect">
            <a:avLst>
              <a:gd name="adj" fmla="val 9524"/>
            </a:avLst>
          </a:prstGeom>
          <a:solidFill>
            <a:srgbClr val="EBE8E3"/>
          </a:solidFill>
          <a:ln/>
        </p:spPr>
      </p:sp>
      <p:sp>
        <p:nvSpPr>
          <p:cNvPr id="66" name="Text 64"/>
          <p:cNvSpPr/>
          <p:nvPr/>
        </p:nvSpPr>
        <p:spPr>
          <a:xfrm>
            <a:off x="64897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67" name="Shape 65"/>
          <p:cNvSpPr/>
          <p:nvPr/>
        </p:nvSpPr>
        <p:spPr>
          <a:xfrm>
            <a:off x="7086600" y="2609056"/>
            <a:ext cx="533400" cy="533400"/>
          </a:xfrm>
          <a:prstGeom prst="roundRect">
            <a:avLst>
              <a:gd name="adj" fmla="val 9524"/>
            </a:avLst>
          </a:prstGeom>
          <a:solidFill>
            <a:srgbClr val="EBE8E3"/>
          </a:solidFill>
          <a:ln/>
        </p:spPr>
      </p:sp>
      <p:sp>
        <p:nvSpPr>
          <p:cNvPr id="68" name="Text 66"/>
          <p:cNvSpPr/>
          <p:nvPr/>
        </p:nvSpPr>
        <p:spPr>
          <a:xfrm>
            <a:off x="70612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69" name="Text 67"/>
          <p:cNvSpPr/>
          <p:nvPr/>
        </p:nvSpPr>
        <p:spPr>
          <a:xfrm>
            <a:off x="4546600" y="31805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70" name="Shape 68"/>
          <p:cNvSpPr/>
          <p:nvPr/>
        </p:nvSpPr>
        <p:spPr>
          <a:xfrm>
            <a:off x="5372100" y="3180556"/>
            <a:ext cx="533400" cy="533400"/>
          </a:xfrm>
          <a:prstGeom prst="roundRect">
            <a:avLst>
              <a:gd name="adj" fmla="val 9524"/>
            </a:avLst>
          </a:prstGeom>
          <a:solidFill>
            <a:srgbClr val="EBE8E3"/>
          </a:solidFill>
          <a:ln/>
        </p:spPr>
      </p:sp>
      <p:sp>
        <p:nvSpPr>
          <p:cNvPr id="71" name="Text 69"/>
          <p:cNvSpPr/>
          <p:nvPr/>
        </p:nvSpPr>
        <p:spPr>
          <a:xfrm>
            <a:off x="53467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72" name="Shape 70"/>
          <p:cNvSpPr/>
          <p:nvPr/>
        </p:nvSpPr>
        <p:spPr>
          <a:xfrm>
            <a:off x="5943600" y="3180556"/>
            <a:ext cx="533400" cy="533400"/>
          </a:xfrm>
          <a:prstGeom prst="roundRect">
            <a:avLst>
              <a:gd name="adj" fmla="val 9524"/>
            </a:avLst>
          </a:prstGeom>
          <a:solidFill>
            <a:srgbClr val="EBE8E3"/>
          </a:solidFill>
          <a:ln/>
        </p:spPr>
      </p:sp>
      <p:sp>
        <p:nvSpPr>
          <p:cNvPr id="73" name="Text 71"/>
          <p:cNvSpPr/>
          <p:nvPr/>
        </p:nvSpPr>
        <p:spPr>
          <a:xfrm>
            <a:off x="59182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74" name="Shape 72"/>
          <p:cNvSpPr/>
          <p:nvPr/>
        </p:nvSpPr>
        <p:spPr>
          <a:xfrm>
            <a:off x="6515100" y="3180556"/>
            <a:ext cx="533400" cy="533400"/>
          </a:xfrm>
          <a:prstGeom prst="roundRect">
            <a:avLst>
              <a:gd name="adj" fmla="val 9524"/>
            </a:avLst>
          </a:prstGeom>
          <a:solidFill>
            <a:srgbClr val="EBE8E3"/>
          </a:solidFill>
          <a:ln/>
        </p:spPr>
      </p:sp>
      <p:sp>
        <p:nvSpPr>
          <p:cNvPr id="75" name="Text 73"/>
          <p:cNvSpPr/>
          <p:nvPr/>
        </p:nvSpPr>
        <p:spPr>
          <a:xfrm>
            <a:off x="64897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76" name="Shape 74"/>
          <p:cNvSpPr/>
          <p:nvPr/>
        </p:nvSpPr>
        <p:spPr>
          <a:xfrm>
            <a:off x="7086600" y="3180556"/>
            <a:ext cx="533400" cy="533400"/>
          </a:xfrm>
          <a:prstGeom prst="roundRect">
            <a:avLst>
              <a:gd name="adj" fmla="val 9524"/>
            </a:avLst>
          </a:prstGeom>
          <a:solidFill>
            <a:srgbClr val="EBE8E3"/>
          </a:solidFill>
          <a:ln/>
        </p:spPr>
      </p:sp>
      <p:sp>
        <p:nvSpPr>
          <p:cNvPr id="77" name="Text 75"/>
          <p:cNvSpPr/>
          <p:nvPr/>
        </p:nvSpPr>
        <p:spPr>
          <a:xfrm>
            <a:off x="70612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78" name="Text 76"/>
          <p:cNvSpPr/>
          <p:nvPr/>
        </p:nvSpPr>
        <p:spPr>
          <a:xfrm>
            <a:off x="4546600" y="37520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79" name="Shape 77"/>
          <p:cNvSpPr/>
          <p:nvPr/>
        </p:nvSpPr>
        <p:spPr>
          <a:xfrm>
            <a:off x="5372100" y="3752056"/>
            <a:ext cx="533400" cy="533400"/>
          </a:xfrm>
          <a:prstGeom prst="roundRect">
            <a:avLst>
              <a:gd name="adj" fmla="val 9524"/>
            </a:avLst>
          </a:prstGeom>
          <a:solidFill>
            <a:srgbClr val="EBE8E3"/>
          </a:solidFill>
          <a:ln/>
        </p:spPr>
      </p:sp>
      <p:sp>
        <p:nvSpPr>
          <p:cNvPr id="80" name="Text 78"/>
          <p:cNvSpPr/>
          <p:nvPr/>
        </p:nvSpPr>
        <p:spPr>
          <a:xfrm>
            <a:off x="53467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81" name="Shape 79"/>
          <p:cNvSpPr/>
          <p:nvPr/>
        </p:nvSpPr>
        <p:spPr>
          <a:xfrm>
            <a:off x="5943600" y="3752056"/>
            <a:ext cx="533400" cy="533400"/>
          </a:xfrm>
          <a:prstGeom prst="roundRect">
            <a:avLst>
              <a:gd name="adj" fmla="val 9524"/>
            </a:avLst>
          </a:prstGeom>
          <a:solidFill>
            <a:srgbClr val="EBE8E3"/>
          </a:solidFill>
          <a:ln/>
        </p:spPr>
      </p:sp>
      <p:sp>
        <p:nvSpPr>
          <p:cNvPr id="82" name="Text 80"/>
          <p:cNvSpPr/>
          <p:nvPr/>
        </p:nvSpPr>
        <p:spPr>
          <a:xfrm>
            <a:off x="59182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83" name="Shape 81"/>
          <p:cNvSpPr/>
          <p:nvPr/>
        </p:nvSpPr>
        <p:spPr>
          <a:xfrm>
            <a:off x="6515100" y="3752056"/>
            <a:ext cx="533400" cy="533400"/>
          </a:xfrm>
          <a:prstGeom prst="roundRect">
            <a:avLst>
              <a:gd name="adj" fmla="val 9524"/>
            </a:avLst>
          </a:prstGeom>
          <a:solidFill>
            <a:srgbClr val="EBE8E3"/>
          </a:solidFill>
          <a:ln/>
        </p:spPr>
      </p:sp>
      <p:sp>
        <p:nvSpPr>
          <p:cNvPr id="84" name="Text 82"/>
          <p:cNvSpPr/>
          <p:nvPr/>
        </p:nvSpPr>
        <p:spPr>
          <a:xfrm>
            <a:off x="64897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85" name="Shape 83"/>
          <p:cNvSpPr/>
          <p:nvPr/>
        </p:nvSpPr>
        <p:spPr>
          <a:xfrm>
            <a:off x="7086600" y="3752056"/>
            <a:ext cx="533400" cy="533400"/>
          </a:xfrm>
          <a:prstGeom prst="roundRect">
            <a:avLst>
              <a:gd name="adj" fmla="val 9524"/>
            </a:avLst>
          </a:prstGeom>
          <a:solidFill>
            <a:srgbClr val="EBE8E3"/>
          </a:solidFill>
          <a:ln/>
        </p:spPr>
      </p:sp>
      <p:sp>
        <p:nvSpPr>
          <p:cNvPr id="86" name="Text 84"/>
          <p:cNvSpPr/>
          <p:nvPr/>
        </p:nvSpPr>
        <p:spPr>
          <a:xfrm>
            <a:off x="70612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87" name="Text 85"/>
          <p:cNvSpPr/>
          <p:nvPr/>
        </p:nvSpPr>
        <p:spPr>
          <a:xfrm>
            <a:off x="4546600" y="43235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88" name="Shape 86"/>
          <p:cNvSpPr/>
          <p:nvPr/>
        </p:nvSpPr>
        <p:spPr>
          <a:xfrm>
            <a:off x="5372100" y="4323556"/>
            <a:ext cx="533400" cy="533400"/>
          </a:xfrm>
          <a:prstGeom prst="roundRect">
            <a:avLst>
              <a:gd name="adj" fmla="val 9524"/>
            </a:avLst>
          </a:prstGeom>
          <a:solidFill>
            <a:srgbClr val="EBE8E3"/>
          </a:solidFill>
          <a:ln/>
        </p:spPr>
      </p:sp>
      <p:sp>
        <p:nvSpPr>
          <p:cNvPr id="89" name="Text 87"/>
          <p:cNvSpPr/>
          <p:nvPr/>
        </p:nvSpPr>
        <p:spPr>
          <a:xfrm>
            <a:off x="53467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90" name="Shape 88"/>
          <p:cNvSpPr/>
          <p:nvPr/>
        </p:nvSpPr>
        <p:spPr>
          <a:xfrm>
            <a:off x="5943600" y="4323556"/>
            <a:ext cx="533400" cy="533400"/>
          </a:xfrm>
          <a:prstGeom prst="roundRect">
            <a:avLst>
              <a:gd name="adj" fmla="val 9524"/>
            </a:avLst>
          </a:prstGeom>
          <a:solidFill>
            <a:srgbClr val="EBE8E3"/>
          </a:solidFill>
          <a:ln/>
        </p:spPr>
      </p:sp>
      <p:sp>
        <p:nvSpPr>
          <p:cNvPr id="91" name="Text 89"/>
          <p:cNvSpPr/>
          <p:nvPr/>
        </p:nvSpPr>
        <p:spPr>
          <a:xfrm>
            <a:off x="59182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92" name="Shape 90"/>
          <p:cNvSpPr/>
          <p:nvPr/>
        </p:nvSpPr>
        <p:spPr>
          <a:xfrm>
            <a:off x="6515100" y="4323556"/>
            <a:ext cx="533400" cy="533400"/>
          </a:xfrm>
          <a:prstGeom prst="roundRect">
            <a:avLst>
              <a:gd name="adj" fmla="val 9524"/>
            </a:avLst>
          </a:prstGeom>
          <a:solidFill>
            <a:srgbClr val="EBE8E3"/>
          </a:solidFill>
          <a:ln/>
        </p:spPr>
      </p:sp>
      <p:sp>
        <p:nvSpPr>
          <p:cNvPr id="93" name="Text 91"/>
          <p:cNvSpPr/>
          <p:nvPr/>
        </p:nvSpPr>
        <p:spPr>
          <a:xfrm>
            <a:off x="64897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94" name="Shape 92"/>
          <p:cNvSpPr/>
          <p:nvPr/>
        </p:nvSpPr>
        <p:spPr>
          <a:xfrm>
            <a:off x="7086600" y="4323556"/>
            <a:ext cx="533400" cy="533400"/>
          </a:xfrm>
          <a:prstGeom prst="roundRect">
            <a:avLst>
              <a:gd name="adj" fmla="val 9524"/>
            </a:avLst>
          </a:prstGeom>
          <a:solidFill>
            <a:srgbClr val="EBE8E3"/>
          </a:solidFill>
          <a:ln/>
        </p:spPr>
      </p:sp>
      <p:sp>
        <p:nvSpPr>
          <p:cNvPr id="95" name="Text 93"/>
          <p:cNvSpPr/>
          <p:nvPr/>
        </p:nvSpPr>
        <p:spPr>
          <a:xfrm>
            <a:off x="70612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96" name="Shape 94"/>
          <p:cNvSpPr/>
          <p:nvPr/>
        </p:nvSpPr>
        <p:spPr>
          <a:xfrm>
            <a:off x="5908675" y="2574131"/>
            <a:ext cx="1174750" cy="2317750"/>
          </a:xfrm>
          <a:prstGeom prst="roundRect">
            <a:avLst>
              <a:gd name="adj" fmla="val 10541"/>
            </a:avLst>
          </a:prstGeom>
          <a:noFill/>
          <a:ln w="31750">
            <a:solidFill>
              <a:srgbClr val="A3292A"/>
            </a:solidFill>
            <a:prstDash val="solid"/>
          </a:ln>
        </p:spPr>
      </p:sp>
      <p:sp>
        <p:nvSpPr>
          <p:cNvPr id="97" name="Shape 95"/>
          <p:cNvSpPr/>
          <p:nvPr/>
        </p:nvSpPr>
        <p:spPr>
          <a:xfrm>
            <a:off x="5413375" y="3221831"/>
            <a:ext cx="2165350" cy="450850"/>
          </a:xfrm>
          <a:prstGeom prst="roundRect">
            <a:avLst>
              <a:gd name="adj" fmla="val 27465"/>
            </a:avLst>
          </a:prstGeom>
          <a:noFill/>
          <a:ln w="31750">
            <a:solidFill>
              <a:srgbClr val="1F5FA8"/>
            </a:solidFill>
            <a:prstDash val="dash"/>
          </a:ln>
        </p:spPr>
      </p:sp>
      <p:sp>
        <p:nvSpPr>
          <p:cNvPr id="98" name="Text 96"/>
          <p:cNvSpPr/>
          <p:nvPr/>
        </p:nvSpPr>
        <p:spPr>
          <a:xfrm>
            <a:off x="4572000" y="4907756"/>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A3292A"/>
                </a:solidFill>
                <a:latin typeface="Georgia" pitchFamily="34" charset="0"/>
                <a:ea typeface="Georgia" pitchFamily="34" charset="-122"/>
                <a:cs typeface="Georgia" pitchFamily="34" charset="-120"/>
              </a:rPr>
              <a:t>D</a:t>
            </a:r>
            <a:r>
              <a:rPr lang="en-US" sz="1300" dirty="0">
                <a:solidFill>
                  <a:srgbClr val="3B3631"/>
                </a:solidFill>
                <a:latin typeface="Georgia" pitchFamily="34" charset="0"/>
                <a:ea typeface="Georgia" pitchFamily="34" charset="-122"/>
                <a:cs typeface="Georgia" pitchFamily="34" charset="-120"/>
              </a:rPr>
              <a:t>: columns CD = 01, 11</a:t>
            </a:r>
            <a:endParaRPr lang="en-US" sz="1300" dirty="0"/>
          </a:p>
        </p:txBody>
      </p:sp>
      <p:sp>
        <p:nvSpPr>
          <p:cNvPr id="99" name="Text 97"/>
          <p:cNvSpPr/>
          <p:nvPr/>
        </p:nvSpPr>
        <p:spPr>
          <a:xfrm>
            <a:off x="4572000" y="5181402"/>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5FA8"/>
                </a:solidFill>
                <a:latin typeface="Georgia" pitchFamily="34" charset="0"/>
                <a:ea typeface="Georgia" pitchFamily="34" charset="-122"/>
                <a:cs typeface="Georgia" pitchFamily="34" charset="-120"/>
              </a:rPr>
              <a:t>A′B</a:t>
            </a:r>
            <a:r>
              <a:rPr lang="en-US" sz="1300" dirty="0">
                <a:solidFill>
                  <a:srgbClr val="3B3631"/>
                </a:solidFill>
                <a:latin typeface="Georgia" pitchFamily="34" charset="0"/>
                <a:ea typeface="Georgia" pitchFamily="34" charset="-122"/>
                <a:cs typeface="Georgia" pitchFamily="34" charset="-120"/>
              </a:rPr>
              <a:t>: row AB = 01</a:t>
            </a:r>
            <a:endParaRPr lang="en-US" sz="1300" dirty="0"/>
          </a:p>
        </p:txBody>
      </p:sp>
      <p:sp>
        <p:nvSpPr>
          <p:cNvPr id="100" name="Text 98"/>
          <p:cNvSpPr/>
          <p:nvPr/>
        </p:nvSpPr>
        <p:spPr>
          <a:xfrm>
            <a:off x="4572000" y="5455047"/>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1B18"/>
                </a:solidFill>
                <a:latin typeface="Georgia" pitchFamily="34" charset="0"/>
                <a:ea typeface="Georgia" pitchFamily="34" charset="-122"/>
                <a:cs typeface="Georgia" pitchFamily="34" charset="-120"/>
              </a:rPr>
              <a:t>F = D + A′B</a:t>
            </a:r>
            <a:endParaRPr lang="en-US" sz="1300" dirty="0"/>
          </a:p>
        </p:txBody>
      </p:sp>
      <p:sp>
        <p:nvSpPr>
          <p:cNvPr id="101" name="Text 99"/>
          <p:cNvSpPr/>
          <p:nvPr/>
        </p:nvSpPr>
        <p:spPr>
          <a:xfrm>
            <a:off x="8331200" y="1874441"/>
            <a:ext cx="3139440" cy="26471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F1B18"/>
                </a:solidFill>
                <a:latin typeface="Georgia" pitchFamily="34" charset="0"/>
                <a:ea typeface="Georgia" pitchFamily="34" charset="-122"/>
                <a:cs typeface="Georgia" pitchFamily="34" charset="-120"/>
              </a:rPr>
              <a:t>c.</a:t>
            </a:r>
            <a:endParaRPr lang="en-US" sz="1300" dirty="0"/>
          </a:p>
        </p:txBody>
      </p:sp>
      <p:sp>
        <p:nvSpPr>
          <p:cNvPr id="102" name="Text 100"/>
          <p:cNvSpPr/>
          <p:nvPr/>
        </p:nvSpPr>
        <p:spPr>
          <a:xfrm>
            <a:off x="8305800" y="2164556"/>
            <a:ext cx="812800" cy="431800"/>
          </a:xfrm>
          <a:prstGeom prst="rect">
            <a:avLst/>
          </a:prstGeom>
          <a:noFill/>
          <a:ln/>
        </p:spPr>
        <p:txBody>
          <a:bodyPr wrap="none" lIns="0" tIns="0" rIns="0" bIns="0" rtlCol="0" anchor="t">
            <a:normAutofit/>
          </a:bodyPr>
          <a:lstStyle/>
          <a:p>
            <a:pPr algn="ctr" indent="0" marL="0">
              <a:lnSpc>
                <a:spcPts val="3204"/>
              </a:lnSpc>
              <a:buNone/>
            </a:pPr>
            <a:r>
              <a:rPr lang="en-US" sz="1200" dirty="0">
                <a:solidFill>
                  <a:srgbClr val="6F665D"/>
                </a:solidFill>
                <a:latin typeface="Georgia" pitchFamily="34" charset="0"/>
                <a:ea typeface="Georgia" pitchFamily="34" charset="-122"/>
                <a:cs typeface="Georgia" pitchFamily="34" charset="-120"/>
              </a:rPr>
              <a:t>AB \ CD</a:t>
            </a:r>
            <a:endParaRPr lang="en-US" sz="1200" dirty="0"/>
          </a:p>
        </p:txBody>
      </p:sp>
      <p:sp>
        <p:nvSpPr>
          <p:cNvPr id="103" name="Text 101"/>
          <p:cNvSpPr/>
          <p:nvPr/>
        </p:nvSpPr>
        <p:spPr>
          <a:xfrm>
            <a:off x="91059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104" name="Text 102"/>
          <p:cNvSpPr/>
          <p:nvPr/>
        </p:nvSpPr>
        <p:spPr>
          <a:xfrm>
            <a:off x="96774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105" name="Text 103"/>
          <p:cNvSpPr/>
          <p:nvPr/>
        </p:nvSpPr>
        <p:spPr>
          <a:xfrm>
            <a:off x="102489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106" name="Text 104"/>
          <p:cNvSpPr/>
          <p:nvPr/>
        </p:nvSpPr>
        <p:spPr>
          <a:xfrm>
            <a:off x="10820400" y="2164556"/>
            <a:ext cx="584200" cy="431800"/>
          </a:xfrm>
          <a:prstGeom prst="rect">
            <a:avLst/>
          </a:prstGeom>
          <a:noFill/>
          <a:ln/>
        </p:spPr>
        <p:txBody>
          <a:bodyPr wrap="square" lIns="0" tIns="0" rIns="0" bIns="0" rtlCol="0" anchor="t">
            <a:normAutofit/>
          </a:bodyPr>
          <a:lstStyle/>
          <a:p>
            <a:pPr algn="ctr" indent="0" marL="0">
              <a:lnSpc>
                <a:spcPts val="3206"/>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07" name="Text 105"/>
          <p:cNvSpPr/>
          <p:nvPr/>
        </p:nvSpPr>
        <p:spPr>
          <a:xfrm>
            <a:off x="8305800" y="26090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00</a:t>
            </a:r>
            <a:endParaRPr lang="en-US" sz="1400" dirty="0"/>
          </a:p>
        </p:txBody>
      </p:sp>
      <p:sp>
        <p:nvSpPr>
          <p:cNvPr id="108" name="Shape 106"/>
          <p:cNvSpPr/>
          <p:nvPr/>
        </p:nvSpPr>
        <p:spPr>
          <a:xfrm>
            <a:off x="9131300" y="2609056"/>
            <a:ext cx="533400" cy="533400"/>
          </a:xfrm>
          <a:prstGeom prst="roundRect">
            <a:avLst>
              <a:gd name="adj" fmla="val 9524"/>
            </a:avLst>
          </a:prstGeom>
          <a:solidFill>
            <a:srgbClr val="EBE8E3"/>
          </a:solidFill>
          <a:ln/>
        </p:spPr>
      </p:sp>
      <p:sp>
        <p:nvSpPr>
          <p:cNvPr id="109" name="Text 107"/>
          <p:cNvSpPr/>
          <p:nvPr/>
        </p:nvSpPr>
        <p:spPr>
          <a:xfrm>
            <a:off x="91059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10" name="Shape 108"/>
          <p:cNvSpPr/>
          <p:nvPr/>
        </p:nvSpPr>
        <p:spPr>
          <a:xfrm>
            <a:off x="9702800" y="2609056"/>
            <a:ext cx="533400" cy="533400"/>
          </a:xfrm>
          <a:prstGeom prst="roundRect">
            <a:avLst>
              <a:gd name="adj" fmla="val 9524"/>
            </a:avLst>
          </a:prstGeom>
          <a:solidFill>
            <a:srgbClr val="EBE8E3"/>
          </a:solidFill>
          <a:ln/>
        </p:spPr>
      </p:sp>
      <p:sp>
        <p:nvSpPr>
          <p:cNvPr id="111" name="Text 109"/>
          <p:cNvSpPr/>
          <p:nvPr/>
        </p:nvSpPr>
        <p:spPr>
          <a:xfrm>
            <a:off x="96774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12" name="Shape 110"/>
          <p:cNvSpPr/>
          <p:nvPr/>
        </p:nvSpPr>
        <p:spPr>
          <a:xfrm>
            <a:off x="10274300" y="2609056"/>
            <a:ext cx="533400" cy="533400"/>
          </a:xfrm>
          <a:prstGeom prst="roundRect">
            <a:avLst>
              <a:gd name="adj" fmla="val 9524"/>
            </a:avLst>
          </a:prstGeom>
          <a:solidFill>
            <a:srgbClr val="EBE8E3"/>
          </a:solidFill>
          <a:ln/>
        </p:spPr>
      </p:sp>
      <p:sp>
        <p:nvSpPr>
          <p:cNvPr id="113" name="Text 111"/>
          <p:cNvSpPr/>
          <p:nvPr/>
        </p:nvSpPr>
        <p:spPr>
          <a:xfrm>
            <a:off x="102489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14" name="Shape 112"/>
          <p:cNvSpPr/>
          <p:nvPr/>
        </p:nvSpPr>
        <p:spPr>
          <a:xfrm>
            <a:off x="10845800" y="2609056"/>
            <a:ext cx="533400" cy="533400"/>
          </a:xfrm>
          <a:prstGeom prst="roundRect">
            <a:avLst>
              <a:gd name="adj" fmla="val 9524"/>
            </a:avLst>
          </a:prstGeom>
          <a:solidFill>
            <a:srgbClr val="EBE8E3"/>
          </a:solidFill>
          <a:ln/>
        </p:spPr>
      </p:sp>
      <p:sp>
        <p:nvSpPr>
          <p:cNvPr id="115" name="Text 113"/>
          <p:cNvSpPr/>
          <p:nvPr/>
        </p:nvSpPr>
        <p:spPr>
          <a:xfrm>
            <a:off x="10820400" y="2609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16" name="Text 114"/>
          <p:cNvSpPr/>
          <p:nvPr/>
        </p:nvSpPr>
        <p:spPr>
          <a:xfrm>
            <a:off x="8305800" y="31805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01</a:t>
            </a:r>
            <a:endParaRPr lang="en-US" sz="1400" dirty="0"/>
          </a:p>
        </p:txBody>
      </p:sp>
      <p:sp>
        <p:nvSpPr>
          <p:cNvPr id="117" name="Shape 115"/>
          <p:cNvSpPr/>
          <p:nvPr/>
        </p:nvSpPr>
        <p:spPr>
          <a:xfrm>
            <a:off x="9131300" y="3180556"/>
            <a:ext cx="533400" cy="533400"/>
          </a:xfrm>
          <a:prstGeom prst="roundRect">
            <a:avLst>
              <a:gd name="adj" fmla="val 9524"/>
            </a:avLst>
          </a:prstGeom>
          <a:solidFill>
            <a:srgbClr val="EBE8E3"/>
          </a:solidFill>
          <a:ln/>
        </p:spPr>
      </p:sp>
      <p:sp>
        <p:nvSpPr>
          <p:cNvPr id="118" name="Text 116"/>
          <p:cNvSpPr/>
          <p:nvPr/>
        </p:nvSpPr>
        <p:spPr>
          <a:xfrm>
            <a:off x="91059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19" name="Shape 117"/>
          <p:cNvSpPr/>
          <p:nvPr/>
        </p:nvSpPr>
        <p:spPr>
          <a:xfrm>
            <a:off x="9702800" y="3180556"/>
            <a:ext cx="533400" cy="533400"/>
          </a:xfrm>
          <a:prstGeom prst="roundRect">
            <a:avLst>
              <a:gd name="adj" fmla="val 9524"/>
            </a:avLst>
          </a:prstGeom>
          <a:solidFill>
            <a:srgbClr val="EBE8E3"/>
          </a:solidFill>
          <a:ln/>
        </p:spPr>
      </p:sp>
      <p:sp>
        <p:nvSpPr>
          <p:cNvPr id="120" name="Text 118"/>
          <p:cNvSpPr/>
          <p:nvPr/>
        </p:nvSpPr>
        <p:spPr>
          <a:xfrm>
            <a:off x="96774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21" name="Shape 119"/>
          <p:cNvSpPr/>
          <p:nvPr/>
        </p:nvSpPr>
        <p:spPr>
          <a:xfrm>
            <a:off x="10274300" y="3180556"/>
            <a:ext cx="533400" cy="533400"/>
          </a:xfrm>
          <a:prstGeom prst="roundRect">
            <a:avLst>
              <a:gd name="adj" fmla="val 9524"/>
            </a:avLst>
          </a:prstGeom>
          <a:solidFill>
            <a:srgbClr val="EBE8E3"/>
          </a:solidFill>
          <a:ln/>
        </p:spPr>
      </p:sp>
      <p:sp>
        <p:nvSpPr>
          <p:cNvPr id="122" name="Text 120"/>
          <p:cNvSpPr/>
          <p:nvPr/>
        </p:nvSpPr>
        <p:spPr>
          <a:xfrm>
            <a:off x="102489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23" name="Shape 121"/>
          <p:cNvSpPr/>
          <p:nvPr/>
        </p:nvSpPr>
        <p:spPr>
          <a:xfrm>
            <a:off x="10845800" y="3180556"/>
            <a:ext cx="533400" cy="533400"/>
          </a:xfrm>
          <a:prstGeom prst="roundRect">
            <a:avLst>
              <a:gd name="adj" fmla="val 9524"/>
            </a:avLst>
          </a:prstGeom>
          <a:solidFill>
            <a:srgbClr val="EBE8E3"/>
          </a:solidFill>
          <a:ln/>
        </p:spPr>
      </p:sp>
      <p:sp>
        <p:nvSpPr>
          <p:cNvPr id="124" name="Text 122"/>
          <p:cNvSpPr/>
          <p:nvPr/>
        </p:nvSpPr>
        <p:spPr>
          <a:xfrm>
            <a:off x="10820400" y="3180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25" name="Text 123"/>
          <p:cNvSpPr/>
          <p:nvPr/>
        </p:nvSpPr>
        <p:spPr>
          <a:xfrm>
            <a:off x="8305800" y="37520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11</a:t>
            </a:r>
            <a:endParaRPr lang="en-US" sz="1400" dirty="0"/>
          </a:p>
        </p:txBody>
      </p:sp>
      <p:sp>
        <p:nvSpPr>
          <p:cNvPr id="126" name="Shape 124"/>
          <p:cNvSpPr/>
          <p:nvPr/>
        </p:nvSpPr>
        <p:spPr>
          <a:xfrm>
            <a:off x="9131300" y="3752056"/>
            <a:ext cx="533400" cy="533400"/>
          </a:xfrm>
          <a:prstGeom prst="roundRect">
            <a:avLst>
              <a:gd name="adj" fmla="val 9524"/>
            </a:avLst>
          </a:prstGeom>
          <a:solidFill>
            <a:srgbClr val="EBE8E3"/>
          </a:solidFill>
          <a:ln/>
        </p:spPr>
      </p:sp>
      <p:sp>
        <p:nvSpPr>
          <p:cNvPr id="127" name="Text 125"/>
          <p:cNvSpPr/>
          <p:nvPr/>
        </p:nvSpPr>
        <p:spPr>
          <a:xfrm>
            <a:off x="91059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28" name="Shape 126"/>
          <p:cNvSpPr/>
          <p:nvPr/>
        </p:nvSpPr>
        <p:spPr>
          <a:xfrm>
            <a:off x="9702800" y="3752056"/>
            <a:ext cx="533400" cy="533400"/>
          </a:xfrm>
          <a:prstGeom prst="roundRect">
            <a:avLst>
              <a:gd name="adj" fmla="val 9524"/>
            </a:avLst>
          </a:prstGeom>
          <a:solidFill>
            <a:srgbClr val="EBE8E3"/>
          </a:solidFill>
          <a:ln/>
        </p:spPr>
      </p:sp>
      <p:sp>
        <p:nvSpPr>
          <p:cNvPr id="129" name="Text 127"/>
          <p:cNvSpPr/>
          <p:nvPr/>
        </p:nvSpPr>
        <p:spPr>
          <a:xfrm>
            <a:off x="96774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30" name="Shape 128"/>
          <p:cNvSpPr/>
          <p:nvPr/>
        </p:nvSpPr>
        <p:spPr>
          <a:xfrm>
            <a:off x="10274300" y="3752056"/>
            <a:ext cx="533400" cy="533400"/>
          </a:xfrm>
          <a:prstGeom prst="roundRect">
            <a:avLst>
              <a:gd name="adj" fmla="val 9524"/>
            </a:avLst>
          </a:prstGeom>
          <a:solidFill>
            <a:srgbClr val="EBE8E3"/>
          </a:solidFill>
          <a:ln/>
        </p:spPr>
      </p:sp>
      <p:sp>
        <p:nvSpPr>
          <p:cNvPr id="131" name="Text 129"/>
          <p:cNvSpPr/>
          <p:nvPr/>
        </p:nvSpPr>
        <p:spPr>
          <a:xfrm>
            <a:off x="102489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32" name="Shape 130"/>
          <p:cNvSpPr/>
          <p:nvPr/>
        </p:nvSpPr>
        <p:spPr>
          <a:xfrm>
            <a:off x="10845800" y="3752056"/>
            <a:ext cx="533400" cy="533400"/>
          </a:xfrm>
          <a:prstGeom prst="roundRect">
            <a:avLst>
              <a:gd name="adj" fmla="val 9524"/>
            </a:avLst>
          </a:prstGeom>
          <a:solidFill>
            <a:srgbClr val="EBE8E3"/>
          </a:solidFill>
          <a:ln/>
        </p:spPr>
      </p:sp>
      <p:sp>
        <p:nvSpPr>
          <p:cNvPr id="133" name="Text 131"/>
          <p:cNvSpPr/>
          <p:nvPr/>
        </p:nvSpPr>
        <p:spPr>
          <a:xfrm>
            <a:off x="10820400" y="37520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dirty="0">
                <a:solidFill>
                  <a:srgbClr val="6F665D"/>
                </a:solidFill>
                <a:latin typeface="Georgia" pitchFamily="34" charset="0"/>
                <a:ea typeface="Georgia" pitchFamily="34" charset="-122"/>
                <a:cs typeface="Georgia" pitchFamily="34" charset="-120"/>
              </a:rPr>
              <a:t>0</a:t>
            </a:r>
            <a:endParaRPr lang="en-US" sz="2000" dirty="0"/>
          </a:p>
        </p:txBody>
      </p:sp>
      <p:sp>
        <p:nvSpPr>
          <p:cNvPr id="134" name="Text 132"/>
          <p:cNvSpPr/>
          <p:nvPr/>
        </p:nvSpPr>
        <p:spPr>
          <a:xfrm>
            <a:off x="8305800" y="4323556"/>
            <a:ext cx="812800" cy="558800"/>
          </a:xfrm>
          <a:prstGeom prst="rect">
            <a:avLst/>
          </a:prstGeom>
          <a:noFill/>
          <a:ln/>
        </p:spPr>
        <p:txBody>
          <a:bodyPr wrap="square" lIns="0" tIns="0" rIns="0" bIns="0" rtlCol="0" anchor="t">
            <a:normAutofit/>
          </a:bodyPr>
          <a:lstStyle/>
          <a:p>
            <a:pPr algn="ctr" indent="0" marL="0">
              <a:lnSpc>
                <a:spcPts val="4200"/>
              </a:lnSpc>
              <a:buNone/>
            </a:pPr>
            <a:r>
              <a:rPr lang="en-US" sz="1400" dirty="0">
                <a:solidFill>
                  <a:srgbClr val="6F665D"/>
                </a:solidFill>
                <a:latin typeface="Georgia" pitchFamily="34" charset="0"/>
                <a:ea typeface="Georgia" pitchFamily="34" charset="-122"/>
                <a:cs typeface="Georgia" pitchFamily="34" charset="-120"/>
              </a:rPr>
              <a:t>10</a:t>
            </a:r>
            <a:endParaRPr lang="en-US" sz="1400" dirty="0"/>
          </a:p>
        </p:txBody>
      </p:sp>
      <p:sp>
        <p:nvSpPr>
          <p:cNvPr id="135" name="Shape 133"/>
          <p:cNvSpPr/>
          <p:nvPr/>
        </p:nvSpPr>
        <p:spPr>
          <a:xfrm>
            <a:off x="9131300" y="4323556"/>
            <a:ext cx="533400" cy="533400"/>
          </a:xfrm>
          <a:prstGeom prst="roundRect">
            <a:avLst>
              <a:gd name="adj" fmla="val 9524"/>
            </a:avLst>
          </a:prstGeom>
          <a:solidFill>
            <a:srgbClr val="EBE8E3"/>
          </a:solidFill>
          <a:ln/>
        </p:spPr>
      </p:sp>
      <p:sp>
        <p:nvSpPr>
          <p:cNvPr id="136" name="Text 134"/>
          <p:cNvSpPr/>
          <p:nvPr/>
        </p:nvSpPr>
        <p:spPr>
          <a:xfrm>
            <a:off x="91059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37" name="Shape 135"/>
          <p:cNvSpPr/>
          <p:nvPr/>
        </p:nvSpPr>
        <p:spPr>
          <a:xfrm>
            <a:off x="9702800" y="4323556"/>
            <a:ext cx="533400" cy="533400"/>
          </a:xfrm>
          <a:prstGeom prst="roundRect">
            <a:avLst>
              <a:gd name="adj" fmla="val 9524"/>
            </a:avLst>
          </a:prstGeom>
          <a:solidFill>
            <a:srgbClr val="EBE8E3"/>
          </a:solidFill>
          <a:ln/>
        </p:spPr>
      </p:sp>
      <p:sp>
        <p:nvSpPr>
          <p:cNvPr id="138" name="Text 136"/>
          <p:cNvSpPr/>
          <p:nvPr/>
        </p:nvSpPr>
        <p:spPr>
          <a:xfrm>
            <a:off x="96774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39" name="Shape 137"/>
          <p:cNvSpPr/>
          <p:nvPr/>
        </p:nvSpPr>
        <p:spPr>
          <a:xfrm>
            <a:off x="10274300" y="4323556"/>
            <a:ext cx="533400" cy="533400"/>
          </a:xfrm>
          <a:prstGeom prst="roundRect">
            <a:avLst>
              <a:gd name="adj" fmla="val 9524"/>
            </a:avLst>
          </a:prstGeom>
          <a:solidFill>
            <a:srgbClr val="EBE8E3"/>
          </a:solidFill>
          <a:ln/>
        </p:spPr>
      </p:sp>
      <p:sp>
        <p:nvSpPr>
          <p:cNvPr id="140" name="Text 138"/>
          <p:cNvSpPr/>
          <p:nvPr/>
        </p:nvSpPr>
        <p:spPr>
          <a:xfrm>
            <a:off x="102489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41" name="Shape 139"/>
          <p:cNvSpPr/>
          <p:nvPr/>
        </p:nvSpPr>
        <p:spPr>
          <a:xfrm>
            <a:off x="10845800" y="4323556"/>
            <a:ext cx="533400" cy="533400"/>
          </a:xfrm>
          <a:prstGeom prst="roundRect">
            <a:avLst>
              <a:gd name="adj" fmla="val 9524"/>
            </a:avLst>
          </a:prstGeom>
          <a:solidFill>
            <a:srgbClr val="EBE8E3"/>
          </a:solidFill>
          <a:ln/>
        </p:spPr>
      </p:sp>
      <p:sp>
        <p:nvSpPr>
          <p:cNvPr id="142" name="Text 140"/>
          <p:cNvSpPr/>
          <p:nvPr/>
        </p:nvSpPr>
        <p:spPr>
          <a:xfrm>
            <a:off x="10820400" y="4323556"/>
            <a:ext cx="584200" cy="558800"/>
          </a:xfrm>
          <a:prstGeom prst="rect">
            <a:avLst/>
          </a:prstGeom>
          <a:noFill/>
          <a:ln/>
        </p:spPr>
        <p:txBody>
          <a:bodyPr wrap="square" lIns="0" tIns="0" rIns="0" bIns="0" rtlCol="0" anchor="t">
            <a:normAutofit/>
          </a:bodyPr>
          <a:lstStyle/>
          <a:p>
            <a:pPr algn="ctr" indent="0" marL="0">
              <a:lnSpc>
                <a:spcPts val="4200"/>
              </a:lnSpc>
              <a:buNone/>
            </a:pPr>
            <a:r>
              <a:rPr lang="en-US" sz="2000" b="1" dirty="0">
                <a:solidFill>
                  <a:srgbClr val="1F1B18"/>
                </a:solidFill>
                <a:latin typeface="Georgia" pitchFamily="34" charset="0"/>
                <a:ea typeface="Georgia" pitchFamily="34" charset="-122"/>
                <a:cs typeface="Georgia" pitchFamily="34" charset="-120"/>
              </a:rPr>
              <a:t>1</a:t>
            </a:r>
            <a:endParaRPr lang="en-US" sz="2000" dirty="0"/>
          </a:p>
        </p:txBody>
      </p:sp>
      <p:sp>
        <p:nvSpPr>
          <p:cNvPr id="143" name="Shape 141"/>
          <p:cNvSpPr/>
          <p:nvPr/>
        </p:nvSpPr>
        <p:spPr>
          <a:xfrm>
            <a:off x="9080500" y="2590006"/>
            <a:ext cx="2349500" cy="603250"/>
          </a:xfrm>
          <a:custGeom>
            <a:avLst/>
            <a:gdLst/>
            <a:ahLst/>
            <a:cxnLst/>
            <a:rect l="l" t="t" r="r" b="b"/>
            <a:pathLst>
              <a:path w="2349500" h="603250">
                <a:moveTo>
                  <a:pt x="2317750" y="0"/>
                </a:moveTo>
                <a:lnTo>
                  <a:pt x="2349500" y="0"/>
                </a:lnTo>
                <a:lnTo>
                  <a:pt x="2349500" y="463550"/>
                </a:lnTo>
                <a:arcTo hR="139700" wR="139700" stAng="0" swAng="5400000"/>
                <a:lnTo>
                  <a:pt x="139700" y="603250"/>
                </a:lnTo>
                <a:arcTo hR="139700" wR="139700" stAng="5400000" swAng="5400000"/>
                <a:lnTo>
                  <a:pt x="0" y="0"/>
                </a:lnTo>
                <a:lnTo>
                  <a:pt x="31750" y="0"/>
                </a:lnTo>
                <a:lnTo>
                  <a:pt x="31750" y="463550"/>
                </a:lnTo>
                <a:arcTo hR="107950" wR="107950" stAng="10800000" swAng="-5400000"/>
                <a:lnTo>
                  <a:pt x="2209800" y="571500"/>
                </a:lnTo>
                <a:arcTo hR="107950" wR="107950" stAng="5400000" swAng="-5400000"/>
                <a:lnTo>
                  <a:pt x="2317750" y="0"/>
                </a:lnTo>
                <a:close/>
              </a:path>
            </a:pathLst>
          </a:custGeom>
          <a:solidFill>
            <a:srgbClr val="A3292A"/>
          </a:solidFill>
          <a:ln/>
        </p:spPr>
      </p:sp>
      <p:sp>
        <p:nvSpPr>
          <p:cNvPr id="144" name="Shape 142"/>
          <p:cNvSpPr/>
          <p:nvPr/>
        </p:nvSpPr>
        <p:spPr>
          <a:xfrm>
            <a:off x="9080500" y="4272756"/>
            <a:ext cx="2349500" cy="603250"/>
          </a:xfrm>
          <a:custGeom>
            <a:avLst/>
            <a:gdLst/>
            <a:ahLst/>
            <a:cxnLst/>
            <a:rect l="l" t="t" r="r" b="b"/>
            <a:pathLst>
              <a:path w="2349500" h="603250">
                <a:moveTo>
                  <a:pt x="31750" y="603250"/>
                </a:moveTo>
                <a:lnTo>
                  <a:pt x="0" y="603250"/>
                </a:lnTo>
                <a:lnTo>
                  <a:pt x="0" y="139700"/>
                </a:lnTo>
                <a:arcTo hR="139700" wR="139700" stAng="10800000" swAng="5400000"/>
                <a:lnTo>
                  <a:pt x="2209800" y="0"/>
                </a:lnTo>
                <a:arcTo hR="139700" wR="139700" stAng="16200000" swAng="5400000"/>
                <a:lnTo>
                  <a:pt x="2349500" y="603250"/>
                </a:lnTo>
                <a:lnTo>
                  <a:pt x="2317750" y="603250"/>
                </a:lnTo>
                <a:lnTo>
                  <a:pt x="2317750" y="139700"/>
                </a:lnTo>
                <a:arcTo hR="107950" wR="107950" stAng="0" swAng="-5400000"/>
                <a:lnTo>
                  <a:pt x="139700" y="31750"/>
                </a:lnTo>
                <a:arcTo hR="107950" wR="107950" stAng="16200000" swAng="-5400000"/>
                <a:lnTo>
                  <a:pt x="31750" y="603250"/>
                </a:lnTo>
                <a:close/>
              </a:path>
            </a:pathLst>
          </a:custGeom>
          <a:solidFill>
            <a:srgbClr val="A3292A"/>
          </a:solidFill>
          <a:ln/>
        </p:spPr>
      </p:sp>
      <p:sp>
        <p:nvSpPr>
          <p:cNvPr id="145" name="Shape 143"/>
          <p:cNvSpPr/>
          <p:nvPr/>
        </p:nvSpPr>
        <p:spPr>
          <a:xfrm>
            <a:off x="9112250" y="2650331"/>
            <a:ext cx="527050" cy="0"/>
          </a:xfrm>
          <a:prstGeom prst="line">
            <a:avLst/>
          </a:prstGeom>
          <a:noFill/>
          <a:ln w="31750">
            <a:solidFill>
              <a:srgbClr val="1F5FA8"/>
            </a:solidFill>
            <a:prstDash val="dash"/>
          </a:ln>
        </p:spPr>
      </p:sp>
      <p:sp>
        <p:nvSpPr>
          <p:cNvPr id="146" name="Shape 144"/>
          <p:cNvSpPr/>
          <p:nvPr/>
        </p:nvSpPr>
        <p:spPr>
          <a:xfrm>
            <a:off x="9623425" y="2634456"/>
            <a:ext cx="0" cy="1054100"/>
          </a:xfrm>
          <a:prstGeom prst="line">
            <a:avLst/>
          </a:prstGeom>
          <a:noFill/>
          <a:ln w="31750">
            <a:solidFill>
              <a:srgbClr val="1F5FA8"/>
            </a:solidFill>
            <a:prstDash val="dash"/>
          </a:ln>
        </p:spPr>
      </p:sp>
      <p:sp>
        <p:nvSpPr>
          <p:cNvPr id="147" name="Shape 145"/>
          <p:cNvSpPr/>
          <p:nvPr/>
        </p:nvSpPr>
        <p:spPr>
          <a:xfrm>
            <a:off x="9112250" y="3672681"/>
            <a:ext cx="527050" cy="0"/>
          </a:xfrm>
          <a:prstGeom prst="line">
            <a:avLst/>
          </a:prstGeom>
          <a:noFill/>
          <a:ln w="31750">
            <a:solidFill>
              <a:srgbClr val="1F5FA8"/>
            </a:solidFill>
            <a:prstDash val="dash"/>
          </a:ln>
        </p:spPr>
      </p:sp>
      <p:sp>
        <p:nvSpPr>
          <p:cNvPr id="148" name="Shape 146"/>
          <p:cNvSpPr/>
          <p:nvPr/>
        </p:nvSpPr>
        <p:spPr>
          <a:xfrm>
            <a:off x="10871200" y="2650331"/>
            <a:ext cx="527050" cy="0"/>
          </a:xfrm>
          <a:prstGeom prst="line">
            <a:avLst/>
          </a:prstGeom>
          <a:noFill/>
          <a:ln w="31750">
            <a:solidFill>
              <a:srgbClr val="1F5FA8"/>
            </a:solidFill>
            <a:prstDash val="dash"/>
          </a:ln>
        </p:spPr>
      </p:sp>
      <p:sp>
        <p:nvSpPr>
          <p:cNvPr id="149" name="Shape 147"/>
          <p:cNvSpPr/>
          <p:nvPr/>
        </p:nvSpPr>
        <p:spPr>
          <a:xfrm>
            <a:off x="10871200" y="3672681"/>
            <a:ext cx="527050" cy="0"/>
          </a:xfrm>
          <a:prstGeom prst="line">
            <a:avLst/>
          </a:prstGeom>
          <a:noFill/>
          <a:ln w="31750">
            <a:solidFill>
              <a:srgbClr val="1F5FA8"/>
            </a:solidFill>
            <a:prstDash val="dash"/>
          </a:ln>
        </p:spPr>
      </p:sp>
      <p:sp>
        <p:nvSpPr>
          <p:cNvPr id="150" name="Shape 148"/>
          <p:cNvSpPr/>
          <p:nvPr/>
        </p:nvSpPr>
        <p:spPr>
          <a:xfrm>
            <a:off x="10887075" y="2634456"/>
            <a:ext cx="0" cy="1054100"/>
          </a:xfrm>
          <a:prstGeom prst="line">
            <a:avLst/>
          </a:prstGeom>
          <a:noFill/>
          <a:ln w="31750">
            <a:solidFill>
              <a:srgbClr val="1F5FA8"/>
            </a:solidFill>
            <a:prstDash val="dash"/>
          </a:ln>
        </p:spPr>
      </p:sp>
      <p:sp>
        <p:nvSpPr>
          <p:cNvPr id="151" name="Text 149"/>
          <p:cNvSpPr/>
          <p:nvPr/>
        </p:nvSpPr>
        <p:spPr>
          <a:xfrm>
            <a:off x="8331200" y="4907756"/>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A3292A"/>
                </a:solidFill>
                <a:latin typeface="Georgia" pitchFamily="34" charset="0"/>
                <a:ea typeface="Georgia" pitchFamily="34" charset="-122"/>
                <a:cs typeface="Georgia" pitchFamily="34" charset="-120"/>
              </a:rPr>
              <a:t>B′</a:t>
            </a:r>
            <a:r>
              <a:rPr lang="en-US" sz="1300" dirty="0">
                <a:solidFill>
                  <a:srgbClr val="3B3631"/>
                </a:solidFill>
                <a:latin typeface="Georgia" pitchFamily="34" charset="0"/>
                <a:ea typeface="Georgia" pitchFamily="34" charset="-122"/>
                <a:cs typeface="Georgia" pitchFamily="34" charset="-120"/>
              </a:rPr>
              <a:t>: rows AB = 00, 10 (wrap)</a:t>
            </a:r>
            <a:endParaRPr lang="en-US" sz="1300" dirty="0"/>
          </a:p>
        </p:txBody>
      </p:sp>
      <p:sp>
        <p:nvSpPr>
          <p:cNvPr id="152" name="Text 150"/>
          <p:cNvSpPr/>
          <p:nvPr/>
        </p:nvSpPr>
        <p:spPr>
          <a:xfrm>
            <a:off x="8331200" y="5181402"/>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5FA8"/>
                </a:solidFill>
                <a:latin typeface="Georgia" pitchFamily="34" charset="0"/>
                <a:ea typeface="Georgia" pitchFamily="34" charset="-122"/>
                <a:cs typeface="Georgia" pitchFamily="34" charset="-120"/>
              </a:rPr>
              <a:t>A′D′</a:t>
            </a:r>
            <a:r>
              <a:rPr lang="en-US" sz="1300" dirty="0">
                <a:solidFill>
                  <a:srgbClr val="3B3631"/>
                </a:solidFill>
                <a:latin typeface="Georgia" pitchFamily="34" charset="0"/>
                <a:ea typeface="Georgia" pitchFamily="34" charset="-122"/>
                <a:cs typeface="Georgia" pitchFamily="34" charset="-120"/>
              </a:rPr>
              <a:t>: m0, m2, m4, m6 (wrap)</a:t>
            </a:r>
            <a:endParaRPr lang="en-US" sz="1300" dirty="0"/>
          </a:p>
        </p:txBody>
      </p:sp>
      <p:sp>
        <p:nvSpPr>
          <p:cNvPr id="153" name="Text 151"/>
          <p:cNvSpPr/>
          <p:nvPr/>
        </p:nvSpPr>
        <p:spPr>
          <a:xfrm>
            <a:off x="8331200" y="5455047"/>
            <a:ext cx="3139440"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1B18"/>
                </a:solidFill>
                <a:latin typeface="Georgia" pitchFamily="34" charset="0"/>
                <a:ea typeface="Georgia" pitchFamily="34" charset="-122"/>
                <a:cs typeface="Georgia" pitchFamily="34" charset="-120"/>
              </a:rPr>
              <a:t>F = B′ + A′D′</a:t>
            </a:r>
            <a:endParaRPr lang="en-US" sz="1300" dirty="0"/>
          </a:p>
        </p:txBody>
      </p:sp>
      <p:sp>
        <p:nvSpPr>
          <p:cNvPr id="154" name="Text 15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55" name="Text 15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292A"/>
                </a:solidFill>
                <a:latin typeface="Georgia" pitchFamily="34" charset="0"/>
                <a:ea typeface="Georgia" pitchFamily="34" charset="-122"/>
                <a:cs typeface="Georgia" pitchFamily="34" charset="-120"/>
              </a:rPr>
              <a:t>WRAP-UP</a:t>
            </a:r>
            <a:endParaRPr lang="en-US" sz="1200" dirty="0"/>
          </a:p>
        </p:txBody>
      </p:sp>
      <p:sp>
        <p:nvSpPr>
          <p:cNvPr id="3" name="Text 1"/>
          <p:cNvSpPr/>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1F1B18"/>
                </a:solidFill>
                <a:latin typeface="Georgia" pitchFamily="34" charset="0"/>
                <a:ea typeface="Georgia" pitchFamily="34" charset="-122"/>
                <a:cs typeface="Georgia" pitchFamily="34" charset="-120"/>
              </a:rPr>
              <a:t>What to take away</a:t>
            </a:r>
            <a:endParaRPr lang="en-US" sz="3200" dirty="0"/>
          </a:p>
        </p:txBody>
      </p:sp>
      <p:sp>
        <p:nvSpPr>
          <p:cNvPr id="4" name="Shape 2"/>
          <p:cNvSpPr/>
          <p:nvPr/>
        </p:nvSpPr>
        <p:spPr>
          <a:xfrm>
            <a:off x="812800" y="1874441"/>
            <a:ext cx="355600" cy="355600"/>
          </a:xfrm>
          <a:prstGeom prst="roundRect">
            <a:avLst>
              <a:gd name="adj" fmla="val 50000"/>
            </a:avLst>
          </a:prstGeom>
          <a:solidFill>
            <a:srgbClr val="A3292A"/>
          </a:solidFill>
          <a:ln/>
        </p:spPr>
      </p:sp>
      <p:sp>
        <p:nvSpPr>
          <p:cNvPr id="5" name="Text 3"/>
          <p:cNvSpPr/>
          <p:nvPr/>
        </p:nvSpPr>
        <p:spPr>
          <a:xfrm>
            <a:off x="787400" y="1874441"/>
            <a:ext cx="406400" cy="381000"/>
          </a:xfrm>
          <a:prstGeom prst="rect">
            <a:avLst/>
          </a:prstGeom>
          <a:noFill/>
          <a:ln/>
        </p:spPr>
        <p:txBody>
          <a:bodyPr wrap="square" lIns="0" tIns="0" rIns="0" bIns="0" rtlCol="0" anchor="t">
            <a:normAutofit/>
          </a:bodyPr>
          <a:lstStyle/>
          <a:p>
            <a:pPr algn="ctr" indent="0" marL="0">
              <a:lnSpc>
                <a:spcPts val="2800"/>
              </a:lnSpc>
              <a:buNone/>
            </a:pPr>
            <a:r>
              <a:rPr lang="en-US" sz="1400" b="1" dirty="0">
                <a:solidFill>
                  <a:srgbClr val="FAF7F2"/>
                </a:solidFill>
                <a:latin typeface="Georgia" pitchFamily="34" charset="0"/>
                <a:ea typeface="Georgia" pitchFamily="34" charset="-122"/>
                <a:cs typeface="Georgia" pitchFamily="34" charset="-120"/>
              </a:rPr>
              <a:t>1</a:t>
            </a:r>
            <a:endParaRPr lang="en-US" sz="1400" dirty="0"/>
          </a:p>
        </p:txBody>
      </p:sp>
      <p:sp>
        <p:nvSpPr>
          <p:cNvPr id="6" name="Text 4"/>
          <p:cNvSpPr/>
          <p:nvPr/>
        </p:nvSpPr>
        <p:spPr>
          <a:xfrm>
            <a:off x="1371600" y="1918891"/>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3631"/>
                </a:solidFill>
                <a:latin typeface="Georgia" pitchFamily="34" charset="0"/>
                <a:ea typeface="Georgia" pitchFamily="34" charset="-122"/>
                <a:cs typeface="Georgia" pitchFamily="34" charset="-120"/>
              </a:rPr>
              <a:t>Every simplification step is one theorem. Learn the shape of each one.</a:t>
            </a:r>
            <a:endParaRPr lang="en-US" sz="1500" dirty="0"/>
          </a:p>
        </p:txBody>
      </p:sp>
      <p:sp>
        <p:nvSpPr>
          <p:cNvPr id="7" name="Shape 5"/>
          <p:cNvSpPr/>
          <p:nvPr/>
        </p:nvSpPr>
        <p:spPr>
          <a:xfrm>
            <a:off x="812800" y="2407841"/>
            <a:ext cx="355600" cy="355600"/>
          </a:xfrm>
          <a:prstGeom prst="roundRect">
            <a:avLst>
              <a:gd name="adj" fmla="val 50000"/>
            </a:avLst>
          </a:prstGeom>
          <a:solidFill>
            <a:srgbClr val="A3292A"/>
          </a:solidFill>
          <a:ln/>
        </p:spPr>
      </p:sp>
      <p:sp>
        <p:nvSpPr>
          <p:cNvPr id="8" name="Text 6"/>
          <p:cNvSpPr/>
          <p:nvPr/>
        </p:nvSpPr>
        <p:spPr>
          <a:xfrm>
            <a:off x="787400" y="2407841"/>
            <a:ext cx="406400" cy="381000"/>
          </a:xfrm>
          <a:prstGeom prst="rect">
            <a:avLst/>
          </a:prstGeom>
          <a:noFill/>
          <a:ln/>
        </p:spPr>
        <p:txBody>
          <a:bodyPr wrap="square" lIns="0" tIns="0" rIns="0" bIns="0" rtlCol="0" anchor="t">
            <a:normAutofit/>
          </a:bodyPr>
          <a:lstStyle/>
          <a:p>
            <a:pPr algn="ctr" indent="0" marL="0">
              <a:lnSpc>
                <a:spcPts val="2800"/>
              </a:lnSpc>
              <a:buNone/>
            </a:pPr>
            <a:r>
              <a:rPr lang="en-US" sz="1400" b="1" dirty="0">
                <a:solidFill>
                  <a:srgbClr val="FAF7F2"/>
                </a:solidFill>
                <a:latin typeface="Georgia" pitchFamily="34" charset="0"/>
                <a:ea typeface="Georgia" pitchFamily="34" charset="-122"/>
                <a:cs typeface="Georgia" pitchFamily="34" charset="-120"/>
              </a:rPr>
              <a:t>2</a:t>
            </a:r>
            <a:endParaRPr lang="en-US" sz="1400" dirty="0"/>
          </a:p>
        </p:txBody>
      </p:sp>
      <p:sp>
        <p:nvSpPr>
          <p:cNvPr id="9" name="Text 7"/>
          <p:cNvSpPr/>
          <p:nvPr/>
        </p:nvSpPr>
        <p:spPr>
          <a:xfrm>
            <a:off x="1371600" y="2452291"/>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3631"/>
                </a:solidFill>
                <a:latin typeface="Georgia" pitchFamily="34" charset="0"/>
                <a:ea typeface="Georgia" pitchFamily="34" charset="-122"/>
                <a:cs typeface="Georgia" pitchFamily="34" charset="-120"/>
              </a:rPr>
              <a:t>Two neighbouring cells on a K-map merge by 14a: xy + xy′ = x.</a:t>
            </a:r>
            <a:endParaRPr lang="en-US" sz="1500" dirty="0"/>
          </a:p>
        </p:txBody>
      </p:sp>
      <p:sp>
        <p:nvSpPr>
          <p:cNvPr id="10" name="Shape 8"/>
          <p:cNvSpPr/>
          <p:nvPr/>
        </p:nvSpPr>
        <p:spPr>
          <a:xfrm>
            <a:off x="812800" y="2941241"/>
            <a:ext cx="355600" cy="355600"/>
          </a:xfrm>
          <a:prstGeom prst="roundRect">
            <a:avLst>
              <a:gd name="adj" fmla="val 50000"/>
            </a:avLst>
          </a:prstGeom>
          <a:solidFill>
            <a:srgbClr val="A3292A"/>
          </a:solidFill>
          <a:ln/>
        </p:spPr>
      </p:sp>
      <p:sp>
        <p:nvSpPr>
          <p:cNvPr id="11" name="Text 9"/>
          <p:cNvSpPr/>
          <p:nvPr/>
        </p:nvSpPr>
        <p:spPr>
          <a:xfrm>
            <a:off x="787400" y="2941241"/>
            <a:ext cx="406400" cy="381000"/>
          </a:xfrm>
          <a:prstGeom prst="rect">
            <a:avLst/>
          </a:prstGeom>
          <a:noFill/>
          <a:ln/>
        </p:spPr>
        <p:txBody>
          <a:bodyPr wrap="square" lIns="0" tIns="0" rIns="0" bIns="0" rtlCol="0" anchor="t">
            <a:normAutofit/>
          </a:bodyPr>
          <a:lstStyle/>
          <a:p>
            <a:pPr algn="ctr" indent="0" marL="0">
              <a:lnSpc>
                <a:spcPts val="2800"/>
              </a:lnSpc>
              <a:buNone/>
            </a:pPr>
            <a:r>
              <a:rPr lang="en-US" sz="1400" b="1" dirty="0">
                <a:solidFill>
                  <a:srgbClr val="FAF7F2"/>
                </a:solidFill>
                <a:latin typeface="Georgia" pitchFamily="34" charset="0"/>
                <a:ea typeface="Georgia" pitchFamily="34" charset="-122"/>
                <a:cs typeface="Georgia" pitchFamily="34" charset="-120"/>
              </a:rPr>
              <a:t>3</a:t>
            </a:r>
            <a:endParaRPr lang="en-US" sz="1400" dirty="0"/>
          </a:p>
        </p:txBody>
      </p:sp>
      <p:sp>
        <p:nvSpPr>
          <p:cNvPr id="12" name="Text 10"/>
          <p:cNvSpPr/>
          <p:nvPr/>
        </p:nvSpPr>
        <p:spPr>
          <a:xfrm>
            <a:off x="1371600" y="2985691"/>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3631"/>
                </a:solidFill>
                <a:latin typeface="Georgia" pitchFamily="34" charset="0"/>
                <a:ea typeface="Georgia" pitchFamily="34" charset="-122"/>
                <a:cs typeface="Georgia" pitchFamily="34" charset="-120"/>
              </a:rPr>
              <a:t>Columns and rows go 00, 01, 11, 10, and the map wraps around.</a:t>
            </a:r>
            <a:endParaRPr lang="en-US" sz="1500" dirty="0"/>
          </a:p>
        </p:txBody>
      </p:sp>
      <p:sp>
        <p:nvSpPr>
          <p:cNvPr id="13" name="Shape 11"/>
          <p:cNvSpPr/>
          <p:nvPr/>
        </p:nvSpPr>
        <p:spPr>
          <a:xfrm>
            <a:off x="812800" y="3474641"/>
            <a:ext cx="355600" cy="355600"/>
          </a:xfrm>
          <a:prstGeom prst="roundRect">
            <a:avLst>
              <a:gd name="adj" fmla="val 50000"/>
            </a:avLst>
          </a:prstGeom>
          <a:solidFill>
            <a:srgbClr val="A3292A"/>
          </a:solidFill>
          <a:ln/>
        </p:spPr>
      </p:sp>
      <p:sp>
        <p:nvSpPr>
          <p:cNvPr id="14" name="Text 12"/>
          <p:cNvSpPr/>
          <p:nvPr/>
        </p:nvSpPr>
        <p:spPr>
          <a:xfrm>
            <a:off x="787400" y="3474641"/>
            <a:ext cx="406400" cy="381000"/>
          </a:xfrm>
          <a:prstGeom prst="rect">
            <a:avLst/>
          </a:prstGeom>
          <a:noFill/>
          <a:ln/>
        </p:spPr>
        <p:txBody>
          <a:bodyPr wrap="square" lIns="0" tIns="0" rIns="0" bIns="0" rtlCol="0" anchor="t">
            <a:normAutofit/>
          </a:bodyPr>
          <a:lstStyle/>
          <a:p>
            <a:pPr algn="ctr" indent="0" marL="0">
              <a:lnSpc>
                <a:spcPts val="2800"/>
              </a:lnSpc>
              <a:buNone/>
            </a:pPr>
            <a:r>
              <a:rPr lang="en-US" sz="1400" b="1" dirty="0">
                <a:solidFill>
                  <a:srgbClr val="FAF7F2"/>
                </a:solidFill>
                <a:latin typeface="Georgia" pitchFamily="34" charset="0"/>
                <a:ea typeface="Georgia" pitchFamily="34" charset="-122"/>
                <a:cs typeface="Georgia" pitchFamily="34" charset="-120"/>
              </a:rPr>
              <a:t>4</a:t>
            </a:r>
            <a:endParaRPr lang="en-US" sz="1400" dirty="0"/>
          </a:p>
        </p:txBody>
      </p:sp>
      <p:sp>
        <p:nvSpPr>
          <p:cNvPr id="15" name="Text 13"/>
          <p:cNvSpPr/>
          <p:nvPr/>
        </p:nvSpPr>
        <p:spPr>
          <a:xfrm>
            <a:off x="1371600" y="3519091"/>
            <a:ext cx="103078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3631"/>
                </a:solidFill>
                <a:latin typeface="Georgia" pitchFamily="34" charset="0"/>
                <a:ea typeface="Georgia" pitchFamily="34" charset="-122"/>
                <a:cs typeface="Georgia" pitchFamily="34" charset="-120"/>
              </a:rPr>
              <a:t>Circle groups of 1, 2, 4, 8, as large as possible. Keep only the variables that do not change.</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665D"/>
                </a:solidFill>
                <a:latin typeface="Georgia" pitchFamily="34" charset="0"/>
                <a:ea typeface="Georgia" pitchFamily="34" charset="-122"/>
                <a:cs typeface="Georgia" pitchFamily="34" charset="-120"/>
              </a:rPr>
              <a:t>Recitation 4 · Simplification and K-maps</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F665D"/>
                </a:solidFill>
                <a:latin typeface="Georgia" pitchFamily="34" charset="0"/>
                <a:ea typeface="Georgia" pitchFamily="34" charset="-122"/>
                <a:cs typeface="Georgia" pitchFamily="34" charset="-120"/>
              </a:rPr>
              <a:t>32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Recitation 4: Simplification, K-maps</dc:title>
  <dc:subject>PptxGenJS Presentation</dc:subject>
  <dc:creator>PptxGenJS</dc:creator>
  <cp:lastModifiedBy>PptxGenJS</cp:lastModifiedBy>
  <cp:revision>1</cp:revision>
  <dcterms:created xsi:type="dcterms:W3CDTF">2026-09-26T03:06:12Z</dcterms:created>
  <dcterms:modified xsi:type="dcterms:W3CDTF">2026-09-26T03:06:12Z</dcterms:modified>
</cp:coreProperties>
</file>